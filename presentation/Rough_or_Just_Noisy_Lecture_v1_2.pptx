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2.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3.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4.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5.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slides/charts/chart6.xml" ContentType="application/vnd.openxmlformats-officedocument.drawingml.chart+xml"/>
  <Override PartName="/ppt/notesSlides/notesSlide29.xml" ContentType="application/vnd.openxmlformats-officedocument.presentationml.notesSlide+xml"/>
  <Override PartName="/ppt/slides/slide30.xml" ContentType="application/vnd.openxmlformats-officedocument.presentationml.slide+xml"/>
  <Override PartName="/ppt/slides/charts/chart7.xml" ContentType="application/vnd.openxmlformats-officedocument.drawingml.chart+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slides/charts/chart8.xml" ContentType="application/vnd.openxmlformats-officedocument.drawingml.chart+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slides/charts/chart9.xml" ContentType="application/vnd.openxmlformats-officedocument.drawingml.chart+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slides/charts/chart10.xml" ContentType="application/vnd.openxmlformats-officedocument.drawingml.chart+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74bcdfc88d54b7b" /><Relationship Type="http://schemas.openxmlformats.org/officeDocument/2006/relationships/extended-properties" Target="/docProps/app.xml" Id="R9607d18bab7545e1" /><Relationship Type="http://schemas.openxmlformats.org/officeDocument/2006/relationships/officeDocument" Target="/ppt/presentation.xml" Id="R36bbf023525d4e4e" /></Relationships>
</file>

<file path=ppt/presentation.xml><?xml version="1.0" encoding="utf-8"?>
<p:presentation xmlns:p="http://schemas.openxmlformats.org/presentationml/2006/main">
  <p:sldMasterIdLst>
    <p:sldMasterId xmlns:r="http://schemas.openxmlformats.org/officeDocument/2006/relationships" id="2147483648" r:id="Rc41a813cb286440e"/>
  </p:sldMasterIdLst>
  <p:notesMasterIdLst>
    <p:notesMasterId xmlns:r="http://schemas.openxmlformats.org/officeDocument/2006/relationships" r:id="R2d486177e2c74eb7"/>
  </p:notesMasterIdLst>
  <p:sldIdLst>
    <p:sldId xmlns:r="http://schemas.openxmlformats.org/officeDocument/2006/relationships" id="256" r:id="Ra782854228d44987"/>
    <p:sldId xmlns:r="http://schemas.openxmlformats.org/officeDocument/2006/relationships" id="257" r:id="Rc513e93a8ffe4d82"/>
    <p:sldId xmlns:r="http://schemas.openxmlformats.org/officeDocument/2006/relationships" id="258" r:id="R3579c52ac2c048a6"/>
    <p:sldId xmlns:r="http://schemas.openxmlformats.org/officeDocument/2006/relationships" id="259" r:id="R403362f0f9d04a6f"/>
    <p:sldId xmlns:r="http://schemas.openxmlformats.org/officeDocument/2006/relationships" id="260" r:id="Rd5286e1627a64fc7"/>
    <p:sldId xmlns:r="http://schemas.openxmlformats.org/officeDocument/2006/relationships" id="261" r:id="R072376c090634aaf"/>
    <p:sldId xmlns:r="http://schemas.openxmlformats.org/officeDocument/2006/relationships" id="262" r:id="R86f637fcb8404e90"/>
    <p:sldId xmlns:r="http://schemas.openxmlformats.org/officeDocument/2006/relationships" id="263" r:id="Ra83f67b922784a20"/>
    <p:sldId xmlns:r="http://schemas.openxmlformats.org/officeDocument/2006/relationships" id="264" r:id="Re35b254fedfc458c"/>
    <p:sldId xmlns:r="http://schemas.openxmlformats.org/officeDocument/2006/relationships" id="265" r:id="Reef881d48e3a4de2"/>
    <p:sldId xmlns:r="http://schemas.openxmlformats.org/officeDocument/2006/relationships" id="266" r:id="R2b4aa39b37374be2"/>
    <p:sldId xmlns:r="http://schemas.openxmlformats.org/officeDocument/2006/relationships" id="267" r:id="R210e1623bdf54dcf"/>
    <p:sldId xmlns:r="http://schemas.openxmlformats.org/officeDocument/2006/relationships" id="268" r:id="R3bc072544f484859"/>
    <p:sldId xmlns:r="http://schemas.openxmlformats.org/officeDocument/2006/relationships" id="269" r:id="R03ebcdadf31145c0"/>
    <p:sldId xmlns:r="http://schemas.openxmlformats.org/officeDocument/2006/relationships" id="270" r:id="R59ff1ee6811544bc"/>
    <p:sldId xmlns:r="http://schemas.openxmlformats.org/officeDocument/2006/relationships" id="271" r:id="R113c9905bb2046b8"/>
    <p:sldId xmlns:r="http://schemas.openxmlformats.org/officeDocument/2006/relationships" id="272" r:id="R9e460065128d4b4d"/>
    <p:sldId xmlns:r="http://schemas.openxmlformats.org/officeDocument/2006/relationships" id="273" r:id="R60c2ca6054154cfd"/>
    <p:sldId xmlns:r="http://schemas.openxmlformats.org/officeDocument/2006/relationships" id="274" r:id="R8cba37a6c0434eed"/>
    <p:sldId xmlns:r="http://schemas.openxmlformats.org/officeDocument/2006/relationships" id="275" r:id="Rf6fae04cb32a4b68"/>
    <p:sldId xmlns:r="http://schemas.openxmlformats.org/officeDocument/2006/relationships" id="276" r:id="Rf662d88d0b8d430d"/>
    <p:sldId xmlns:r="http://schemas.openxmlformats.org/officeDocument/2006/relationships" id="277" r:id="R0ed299fe03554bc4"/>
    <p:sldId xmlns:r="http://schemas.openxmlformats.org/officeDocument/2006/relationships" id="278" r:id="Rc1c334e47b054e8f"/>
    <p:sldId xmlns:r="http://schemas.openxmlformats.org/officeDocument/2006/relationships" id="279" r:id="Reeb43a71cf564d1c"/>
    <p:sldId xmlns:r="http://schemas.openxmlformats.org/officeDocument/2006/relationships" id="280" r:id="Rdedce0ed43b04d2b"/>
    <p:sldId xmlns:r="http://schemas.openxmlformats.org/officeDocument/2006/relationships" id="281" r:id="Rb73ac99165a143f9"/>
    <p:sldId xmlns:r="http://schemas.openxmlformats.org/officeDocument/2006/relationships" id="282" r:id="R28bc26b26a3e4021"/>
    <p:sldId xmlns:r="http://schemas.openxmlformats.org/officeDocument/2006/relationships" id="283" r:id="Rf673e9e15ae4494f"/>
    <p:sldId xmlns:r="http://schemas.openxmlformats.org/officeDocument/2006/relationships" id="284" r:id="R9041de87f4fb435a"/>
    <p:sldId xmlns:r="http://schemas.openxmlformats.org/officeDocument/2006/relationships" id="285" r:id="R4c38c55e90484a28"/>
    <p:sldId xmlns:r="http://schemas.openxmlformats.org/officeDocument/2006/relationships" id="286" r:id="R2ca0d9c83aff45e0"/>
    <p:sldId xmlns:r="http://schemas.openxmlformats.org/officeDocument/2006/relationships" id="287" r:id="R5127fcfb1d934756"/>
    <p:sldId xmlns:r="http://schemas.openxmlformats.org/officeDocument/2006/relationships" id="288" r:id="Ra7b5bbe193584758"/>
    <p:sldId xmlns:r="http://schemas.openxmlformats.org/officeDocument/2006/relationships" id="289" r:id="R2a7e2792111c4d82"/>
    <p:sldId xmlns:r="http://schemas.openxmlformats.org/officeDocument/2006/relationships" id="290" r:id="R2a6c1cc7457f45c9"/>
    <p:sldId xmlns:r="http://schemas.openxmlformats.org/officeDocument/2006/relationships" id="291" r:id="Rb6d0e799e1814ba7"/>
    <p:sldId xmlns:r="http://schemas.openxmlformats.org/officeDocument/2006/relationships" id="292" r:id="Ra4639f6a373f4f7d"/>
    <p:sldId xmlns:r="http://schemas.openxmlformats.org/officeDocument/2006/relationships" id="293" r:id="R0d0ad880d116441b"/>
    <p:sldId xmlns:r="http://schemas.openxmlformats.org/officeDocument/2006/relationships" id="294" r:id="Rc4615ce2c22d4cac"/>
    <p:sldId xmlns:r="http://schemas.openxmlformats.org/officeDocument/2006/relationships" id="295" r:id="Rf67395435a6d4b07"/>
    <p:sldId xmlns:r="http://schemas.openxmlformats.org/officeDocument/2006/relationships" id="296" r:id="Ra3ba5f6941514576"/>
    <p:sldId xmlns:r="http://schemas.openxmlformats.org/officeDocument/2006/relationships" id="297" r:id="R7b904aadc9504b66"/>
    <p:sldId xmlns:r="http://schemas.openxmlformats.org/officeDocument/2006/relationships" id="298" r:id="Ra8dc682d562b4772"/>
    <p:sldId xmlns:r="http://schemas.openxmlformats.org/officeDocument/2006/relationships" id="299" r:id="R584c109b4c2842ba"/>
    <p:sldId xmlns:r="http://schemas.openxmlformats.org/officeDocument/2006/relationships" id="300" r:id="Rd1ff49ae902b43bd"/>
    <p:sldId xmlns:r="http://schemas.openxmlformats.org/officeDocument/2006/relationships" id="301" r:id="R631428b227fa4d1a"/>
    <p:sldId xmlns:r="http://schemas.openxmlformats.org/officeDocument/2006/relationships" id="302" r:id="R0ad8c9573f454069"/>
    <p:sldId xmlns:r="http://schemas.openxmlformats.org/officeDocument/2006/relationships" id="303" r:id="Ra746bab97fde41e8"/>
    <p:sldId xmlns:r="http://schemas.openxmlformats.org/officeDocument/2006/relationships" id="304" r:id="R59691dc3780d46f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f36affd66a04b16" /><Relationship Type="http://schemas.openxmlformats.org/officeDocument/2006/relationships/slideMaster" Target="/ppt/slideMasters/slideMaster1.xml" Id="Rc41a813cb286440e" /><Relationship Type="http://schemas.openxmlformats.org/officeDocument/2006/relationships/notesMaster" Target="/ppt/notesMasters/notesMaster1.xml" Id="R2d486177e2c74eb7" /><Relationship Type="http://schemas.openxmlformats.org/officeDocument/2006/relationships/presProps" Target="/ppt/presProps.xml" Id="Rac245810ba224a0e" /><Relationship Type="http://schemas.openxmlformats.org/officeDocument/2006/relationships/tableStyles" Target="/ppt/tableStyles.xml" Id="R69e20db4c22b49e3" /><Relationship Type="http://schemas.openxmlformats.org/officeDocument/2006/relationships/slide" Target="/ppt/slides/slide1.xml" Id="Ra782854228d44987" /><Relationship Type="http://schemas.openxmlformats.org/officeDocument/2006/relationships/slide" Target="/ppt/slides/slide2.xml" Id="Rc513e93a8ffe4d82" /><Relationship Type="http://schemas.openxmlformats.org/officeDocument/2006/relationships/slide" Target="/ppt/slides/slide3.xml" Id="R3579c52ac2c048a6" /><Relationship Type="http://schemas.openxmlformats.org/officeDocument/2006/relationships/slide" Target="/ppt/slides/slide4.xml" Id="R403362f0f9d04a6f" /><Relationship Type="http://schemas.openxmlformats.org/officeDocument/2006/relationships/slide" Target="/ppt/slides/slide5.xml" Id="Rd5286e1627a64fc7" /><Relationship Type="http://schemas.openxmlformats.org/officeDocument/2006/relationships/slide" Target="/ppt/slides/slide6.xml" Id="R072376c090634aaf" /><Relationship Type="http://schemas.openxmlformats.org/officeDocument/2006/relationships/slide" Target="/ppt/slides/slide7.xml" Id="R86f637fcb8404e90" /><Relationship Type="http://schemas.openxmlformats.org/officeDocument/2006/relationships/slide" Target="/ppt/slides/slide8.xml" Id="Ra83f67b922784a20" /><Relationship Type="http://schemas.openxmlformats.org/officeDocument/2006/relationships/slide" Target="/ppt/slides/slide9.xml" Id="Re35b254fedfc458c" /><Relationship Type="http://schemas.openxmlformats.org/officeDocument/2006/relationships/slide" Target="/ppt/slides/slide10.xml" Id="Reef881d48e3a4de2" /><Relationship Type="http://schemas.openxmlformats.org/officeDocument/2006/relationships/slide" Target="/ppt/slides/slide11.xml" Id="R2b4aa39b37374be2" /><Relationship Type="http://schemas.openxmlformats.org/officeDocument/2006/relationships/slide" Target="/ppt/slides/slide12.xml" Id="R210e1623bdf54dcf" /><Relationship Type="http://schemas.openxmlformats.org/officeDocument/2006/relationships/slide" Target="/ppt/slides/slide13.xml" Id="R3bc072544f484859" /><Relationship Type="http://schemas.openxmlformats.org/officeDocument/2006/relationships/slide" Target="/ppt/slides/slide14.xml" Id="R03ebcdadf31145c0" /><Relationship Type="http://schemas.openxmlformats.org/officeDocument/2006/relationships/slide" Target="/ppt/slides/slide15.xml" Id="R59ff1ee6811544bc" /><Relationship Type="http://schemas.openxmlformats.org/officeDocument/2006/relationships/slide" Target="/ppt/slides/slide16.xml" Id="R113c9905bb2046b8" /><Relationship Type="http://schemas.openxmlformats.org/officeDocument/2006/relationships/slide" Target="/ppt/slides/slide17.xml" Id="R9e460065128d4b4d" /><Relationship Type="http://schemas.openxmlformats.org/officeDocument/2006/relationships/slide" Target="/ppt/slides/slide18.xml" Id="R60c2ca6054154cfd" /><Relationship Type="http://schemas.openxmlformats.org/officeDocument/2006/relationships/slide" Target="/ppt/slides/slide19.xml" Id="R8cba37a6c0434eed" /><Relationship Type="http://schemas.openxmlformats.org/officeDocument/2006/relationships/slide" Target="/ppt/slides/slide20.xml" Id="Rf6fae04cb32a4b68" /><Relationship Type="http://schemas.openxmlformats.org/officeDocument/2006/relationships/slide" Target="/ppt/slides/slide21.xml" Id="Rf662d88d0b8d430d" /><Relationship Type="http://schemas.openxmlformats.org/officeDocument/2006/relationships/slide" Target="/ppt/slides/slide22.xml" Id="R0ed299fe03554bc4" /><Relationship Type="http://schemas.openxmlformats.org/officeDocument/2006/relationships/slide" Target="/ppt/slides/slide23.xml" Id="Rc1c334e47b054e8f" /><Relationship Type="http://schemas.openxmlformats.org/officeDocument/2006/relationships/slide" Target="/ppt/slides/slide24.xml" Id="Reeb43a71cf564d1c" /><Relationship Type="http://schemas.openxmlformats.org/officeDocument/2006/relationships/slide" Target="/ppt/slides/slide25.xml" Id="Rdedce0ed43b04d2b" /><Relationship Type="http://schemas.openxmlformats.org/officeDocument/2006/relationships/slide" Target="/ppt/slides/slide26.xml" Id="Rb73ac99165a143f9" /><Relationship Type="http://schemas.openxmlformats.org/officeDocument/2006/relationships/slide" Target="/ppt/slides/slide27.xml" Id="R28bc26b26a3e4021" /><Relationship Type="http://schemas.openxmlformats.org/officeDocument/2006/relationships/slide" Target="/ppt/slides/slide28.xml" Id="Rf673e9e15ae4494f" /><Relationship Type="http://schemas.openxmlformats.org/officeDocument/2006/relationships/slide" Target="/ppt/slides/slide29.xml" Id="R9041de87f4fb435a" /><Relationship Type="http://schemas.openxmlformats.org/officeDocument/2006/relationships/slide" Target="/ppt/slides/slide30.xml" Id="R4c38c55e90484a28" /><Relationship Type="http://schemas.openxmlformats.org/officeDocument/2006/relationships/slide" Target="/ppt/slides/slide31.xml" Id="R2ca0d9c83aff45e0" /><Relationship Type="http://schemas.openxmlformats.org/officeDocument/2006/relationships/slide" Target="/ppt/slides/slide32.xml" Id="R5127fcfb1d934756" /><Relationship Type="http://schemas.openxmlformats.org/officeDocument/2006/relationships/slide" Target="/ppt/slides/slide33.xml" Id="Ra7b5bbe193584758" /><Relationship Type="http://schemas.openxmlformats.org/officeDocument/2006/relationships/slide" Target="/ppt/slides/slide34.xml" Id="R2a7e2792111c4d82" /><Relationship Type="http://schemas.openxmlformats.org/officeDocument/2006/relationships/slide" Target="/ppt/slides/slide35.xml" Id="R2a6c1cc7457f45c9" /><Relationship Type="http://schemas.openxmlformats.org/officeDocument/2006/relationships/slide" Target="/ppt/slides/slide36.xml" Id="Rb6d0e799e1814ba7" /><Relationship Type="http://schemas.openxmlformats.org/officeDocument/2006/relationships/slide" Target="/ppt/slides/slide37.xml" Id="Ra4639f6a373f4f7d" /><Relationship Type="http://schemas.openxmlformats.org/officeDocument/2006/relationships/slide" Target="/ppt/slides/slide38.xml" Id="R0d0ad880d116441b" /><Relationship Type="http://schemas.openxmlformats.org/officeDocument/2006/relationships/slide" Target="/ppt/slides/slide39.xml" Id="Rc4615ce2c22d4cac" /><Relationship Type="http://schemas.openxmlformats.org/officeDocument/2006/relationships/slide" Target="/ppt/slides/slide40.xml" Id="Rf67395435a6d4b07" /><Relationship Type="http://schemas.openxmlformats.org/officeDocument/2006/relationships/slide" Target="/ppt/slides/slide41.xml" Id="Ra3ba5f6941514576" /><Relationship Type="http://schemas.openxmlformats.org/officeDocument/2006/relationships/slide" Target="/ppt/slides/slide42.xml" Id="R7b904aadc9504b66" /><Relationship Type="http://schemas.openxmlformats.org/officeDocument/2006/relationships/slide" Target="/ppt/slides/slide43.xml" Id="Ra8dc682d562b4772" /><Relationship Type="http://schemas.openxmlformats.org/officeDocument/2006/relationships/slide" Target="/ppt/slides/slide44.xml" Id="R584c109b4c2842ba" /><Relationship Type="http://schemas.openxmlformats.org/officeDocument/2006/relationships/slide" Target="/ppt/slides/slide45.xml" Id="Rd1ff49ae902b43bd" /><Relationship Type="http://schemas.openxmlformats.org/officeDocument/2006/relationships/slide" Target="/ppt/slides/slide46.xml" Id="R631428b227fa4d1a" /><Relationship Type="http://schemas.openxmlformats.org/officeDocument/2006/relationships/slide" Target="/ppt/slides/slide47.xml" Id="R0ad8c9573f454069" /><Relationship Type="http://schemas.openxmlformats.org/officeDocument/2006/relationships/slide" Target="/ppt/slides/slide48.xml" Id="Ra746bab97fde41e8" /><Relationship Type="http://schemas.openxmlformats.org/officeDocument/2006/relationships/slide" Target="/ppt/slides/slide49.xml" Id="R59691dc3780d46f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4cbd6ea6371472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6d02868f83c4f04" /><Relationship Type="http://schemas.openxmlformats.org/officeDocument/2006/relationships/notesMaster" Target="/ppt/notesMasters/notesMaster1.xml" Id="Ra7c2afb6e9d041d7" /></Relationships>
</file>

<file path=ppt/notesSlides/_rels/notesSlide2.xml.rels>&#65279;<?xml version="1.0" encoding="utf-8"?><Relationships xmlns="http://schemas.openxmlformats.org/package/2006/relationships"><Relationship Type="http://schemas.openxmlformats.org/officeDocument/2006/relationships/slide" Target="/ppt/slides/slide2.xml" Id="Rf2f4554334914144" /><Relationship Type="http://schemas.openxmlformats.org/officeDocument/2006/relationships/notesMaster" Target="/ppt/notesMasters/notesMaster1.xml" Id="R1f65f085658c4a64" /></Relationships>
</file>

<file path=ppt/notesSlides/_rels/notesSlide3.xml.rels>&#65279;<?xml version="1.0" encoding="utf-8"?><Relationships xmlns="http://schemas.openxmlformats.org/package/2006/relationships"><Relationship Type="http://schemas.openxmlformats.org/officeDocument/2006/relationships/slide" Target="/ppt/slides/slide3.xml" Id="R1c9b66f56c404d10" /><Relationship Type="http://schemas.openxmlformats.org/officeDocument/2006/relationships/notesMaster" Target="/ppt/notesMasters/notesMaster1.xml" Id="R959d253cdf884edd" /></Relationships>
</file>

<file path=ppt/notesSlides/_rels/notesSlide4.xml.rels>&#65279;<?xml version="1.0" encoding="utf-8"?><Relationships xmlns="http://schemas.openxmlformats.org/package/2006/relationships"><Relationship Type="http://schemas.openxmlformats.org/officeDocument/2006/relationships/slide" Target="/ppt/slides/slide4.xml" Id="R4af55c726b8b4730" /><Relationship Type="http://schemas.openxmlformats.org/officeDocument/2006/relationships/notesMaster" Target="/ppt/notesMasters/notesMaster1.xml" Id="Re3b0f02464f54d4f" /></Relationships>
</file>

<file path=ppt/notesSlides/_rels/notesSlide5.xml.rels>&#65279;<?xml version="1.0" encoding="utf-8"?><Relationships xmlns="http://schemas.openxmlformats.org/package/2006/relationships"><Relationship Type="http://schemas.openxmlformats.org/officeDocument/2006/relationships/slide" Target="/ppt/slides/slide5.xml" Id="R06e05d3566aa4e5e" /><Relationship Type="http://schemas.openxmlformats.org/officeDocument/2006/relationships/notesMaster" Target="/ppt/notesMasters/notesMaster1.xml" Id="Reefeb14b6d864209" /></Relationships>
</file>

<file path=ppt/notesSlides/_rels/notesSlide6.xml.rels>&#65279;<?xml version="1.0" encoding="utf-8"?><Relationships xmlns="http://schemas.openxmlformats.org/package/2006/relationships"><Relationship Type="http://schemas.openxmlformats.org/officeDocument/2006/relationships/slide" Target="/ppt/slides/slide6.xml" Id="R35671e5cfa284e72" /><Relationship Type="http://schemas.openxmlformats.org/officeDocument/2006/relationships/notesMaster" Target="/ppt/notesMasters/notesMaster1.xml" Id="Rbe6c7856d1cb4219" /></Relationships>
</file>

<file path=ppt/notesSlides/_rels/notesSlide7.xml.rels>&#65279;<?xml version="1.0" encoding="utf-8"?><Relationships xmlns="http://schemas.openxmlformats.org/package/2006/relationships"><Relationship Type="http://schemas.openxmlformats.org/officeDocument/2006/relationships/slide" Target="/ppt/slides/slide7.xml" Id="Rcefac0ef0a9d404d" /><Relationship Type="http://schemas.openxmlformats.org/officeDocument/2006/relationships/notesMaster" Target="/ppt/notesMasters/notesMaster1.xml" Id="R51fc4e7afdf5476a" /></Relationships>
</file>

<file path=ppt/notesSlides/_rels/notesSlide8.xml.rels>&#65279;<?xml version="1.0" encoding="utf-8"?><Relationships xmlns="http://schemas.openxmlformats.org/package/2006/relationships"><Relationship Type="http://schemas.openxmlformats.org/officeDocument/2006/relationships/slide" Target="/ppt/slides/slide8.xml" Id="Rac5d6ce31fa54013" /><Relationship Type="http://schemas.openxmlformats.org/officeDocument/2006/relationships/notesMaster" Target="/ppt/notesMasters/notesMaster1.xml" Id="Rc30c6c4fa4b644ef" /></Relationships>
</file>

<file path=ppt/notesSlides/_rels/notesSlide9.xml.rels>&#65279;<?xml version="1.0" encoding="utf-8"?><Relationships xmlns="http://schemas.openxmlformats.org/package/2006/relationships"><Relationship Type="http://schemas.openxmlformats.org/officeDocument/2006/relationships/slide" Target="/ppt/slides/slide9.xml" Id="R702a75277f07442a" /><Relationship Type="http://schemas.openxmlformats.org/officeDocument/2006/relationships/notesMaster" Target="/ppt/notesMasters/notesMaster1.xml" Id="Rb424744a292b42e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04e06c1de894414" /><Relationship Type="http://schemas.openxmlformats.org/officeDocument/2006/relationships/notesMaster" Target="/ppt/notesMasters/notesMaster1.xml" Id="Rf4a92452287f433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fc31cc2ed164a35" /><Relationship Type="http://schemas.openxmlformats.org/officeDocument/2006/relationships/notesMaster" Target="/ppt/notesMasters/notesMaster1.xml" Id="R61227b5c65324d2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8b3230d440d462f" /><Relationship Type="http://schemas.openxmlformats.org/officeDocument/2006/relationships/notesMaster" Target="/ppt/notesMasters/notesMaster1.xml" Id="Rfa48dbe81b5845c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f77c3a77bb44512" /><Relationship Type="http://schemas.openxmlformats.org/officeDocument/2006/relationships/notesMaster" Target="/ppt/notesMasters/notesMaster1.xml" Id="Rc4745372c682492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805f44ddfd7482e" /><Relationship Type="http://schemas.openxmlformats.org/officeDocument/2006/relationships/notesMaster" Target="/ppt/notesMasters/notesMaster1.xml" Id="R0c84c34d51484bc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a47510596c34a57" /><Relationship Type="http://schemas.openxmlformats.org/officeDocument/2006/relationships/notesMaster" Target="/ppt/notesMasters/notesMaster1.xml" Id="Raad0cee9cc4a4a0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6370411bfd34723" /><Relationship Type="http://schemas.openxmlformats.org/officeDocument/2006/relationships/notesMaster" Target="/ppt/notesMasters/notesMaster1.xml" Id="Refb0dba190e047d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af36b3087f1431e" /><Relationship Type="http://schemas.openxmlformats.org/officeDocument/2006/relationships/notesMaster" Target="/ppt/notesMasters/notesMaster1.xml" Id="R7ec0e0c77750469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bd79bb39a8f45ff" /><Relationship Type="http://schemas.openxmlformats.org/officeDocument/2006/relationships/notesMaster" Target="/ppt/notesMasters/notesMaster1.xml" Id="R1dedc3f6539644d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10c8d5b4975404e" /><Relationship Type="http://schemas.openxmlformats.org/officeDocument/2006/relationships/notesMaster" Target="/ppt/notesMasters/notesMaster1.xml" Id="R4f94b8dd00894ed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742817454834fbf" /><Relationship Type="http://schemas.openxmlformats.org/officeDocument/2006/relationships/notesMaster" Target="/ppt/notesMasters/notesMaster1.xml" Id="R7d623bd9883a41b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6a7f7097dc54834" /><Relationship Type="http://schemas.openxmlformats.org/officeDocument/2006/relationships/notesMaster" Target="/ppt/notesMasters/notesMaster1.xml" Id="R351c60146304455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6cc36d94e564885" /><Relationship Type="http://schemas.openxmlformats.org/officeDocument/2006/relationships/notesMaster" Target="/ppt/notesMasters/notesMaster1.xml" Id="R9ebe16d1de10412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d16f9a325d24074" /><Relationship Type="http://schemas.openxmlformats.org/officeDocument/2006/relationships/notesMaster" Target="/ppt/notesMasters/notesMaster1.xml" Id="Rb0205eb867d5436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ee42a29ae8e4b8e" /><Relationship Type="http://schemas.openxmlformats.org/officeDocument/2006/relationships/notesMaster" Target="/ppt/notesMasters/notesMaster1.xml" Id="R47a883f600514ba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b6021caaf3e4451" /><Relationship Type="http://schemas.openxmlformats.org/officeDocument/2006/relationships/notesMaster" Target="/ppt/notesMasters/notesMaster1.xml" Id="R1ac2d209365b4b6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26c766fa686451a" /><Relationship Type="http://schemas.openxmlformats.org/officeDocument/2006/relationships/notesMaster" Target="/ppt/notesMasters/notesMaster1.xml" Id="Rd749707d256847f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7e1a8ac060f4da1" /><Relationship Type="http://schemas.openxmlformats.org/officeDocument/2006/relationships/notesMaster" Target="/ppt/notesMasters/notesMaster1.xml" Id="R55a45b9262f746b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f5c7ad6bb90459e" /><Relationship Type="http://schemas.openxmlformats.org/officeDocument/2006/relationships/notesMaster" Target="/ppt/notesMasters/notesMaster1.xml" Id="R529ebfce29da403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1ed3ce7c491414e" /><Relationship Type="http://schemas.openxmlformats.org/officeDocument/2006/relationships/notesMaster" Target="/ppt/notesMasters/notesMaster1.xml" Id="R3f1ca463805f440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2aceb1bd2c4418e" /><Relationship Type="http://schemas.openxmlformats.org/officeDocument/2006/relationships/notesMaster" Target="/ppt/notesMasters/notesMaster1.xml" Id="R652e8e28d9a941a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ce0c6da08474f34" /><Relationship Type="http://schemas.openxmlformats.org/officeDocument/2006/relationships/notesMaster" Target="/ppt/notesMasters/notesMaster1.xml" Id="R5a757cc06e63446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30b21f5cd2e415f" /><Relationship Type="http://schemas.openxmlformats.org/officeDocument/2006/relationships/notesMaster" Target="/ppt/notesMasters/notesMaster1.xml" Id="Ra32a311a4010427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2723f5832b34347" /><Relationship Type="http://schemas.openxmlformats.org/officeDocument/2006/relationships/notesMaster" Target="/ppt/notesMasters/notesMaster1.xml" Id="R8ac85e488aad441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e2b94049c3141bb" /><Relationship Type="http://schemas.openxmlformats.org/officeDocument/2006/relationships/notesMaster" Target="/ppt/notesMasters/notesMaster1.xml" Id="R2474de2fd2be42e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9c4e0b7ade2b4654" /><Relationship Type="http://schemas.openxmlformats.org/officeDocument/2006/relationships/notesMaster" Target="/ppt/notesMasters/notesMaster1.xml" Id="Rcaa1f679f5ef466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ed703688f76429b" /><Relationship Type="http://schemas.openxmlformats.org/officeDocument/2006/relationships/notesMaster" Target="/ppt/notesMasters/notesMaster1.xml" Id="Rcac738bf0e5b47e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9eb64af6e374ae5" /><Relationship Type="http://schemas.openxmlformats.org/officeDocument/2006/relationships/notesMaster" Target="/ppt/notesMasters/notesMaster1.xml" Id="R1176d26dcccc4a7c"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07e18d83afa44405" /><Relationship Type="http://schemas.openxmlformats.org/officeDocument/2006/relationships/notesMaster" Target="/ppt/notesMasters/notesMaster1.xml" Id="R4f7bdab9288d4e4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ce81e5e578e44231" /><Relationship Type="http://schemas.openxmlformats.org/officeDocument/2006/relationships/notesMaster" Target="/ppt/notesMasters/notesMaster1.xml" Id="Rb99b326d29014a40"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b58c61c355a4178" /><Relationship Type="http://schemas.openxmlformats.org/officeDocument/2006/relationships/notesMaster" Target="/ppt/notesMasters/notesMaster1.xml" Id="R34584bfaa34d41fc"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543f5179bb0143ac" /><Relationship Type="http://schemas.openxmlformats.org/officeDocument/2006/relationships/notesMaster" Target="/ppt/notesMasters/notesMaster1.xml" Id="R4892e7a0eac54d04"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ac213319aed342c0" /><Relationship Type="http://schemas.openxmlformats.org/officeDocument/2006/relationships/notesMaster" Target="/ppt/notesMasters/notesMaster1.xml" Id="R7b6bf2cdc56844d8"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e68f2e53835d41cd" /><Relationship Type="http://schemas.openxmlformats.org/officeDocument/2006/relationships/notesMaster" Target="/ppt/notesMasters/notesMaster1.xml" Id="Ra0aeaa30e6a4443c"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8a847e61a79a4b4a" /><Relationship Type="http://schemas.openxmlformats.org/officeDocument/2006/relationships/notesMaster" Target="/ppt/notesMasters/notesMaster1.xml" Id="R54f717e6928347c1"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7ec39a01aee4d42" /><Relationship Type="http://schemas.openxmlformats.org/officeDocument/2006/relationships/notesMaster" Target="/ppt/notesMasters/notesMaster1.xml" Id="R6ce45334ca8c4f46"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4475d4a9b83d40fe" /><Relationship Type="http://schemas.openxmlformats.org/officeDocument/2006/relationships/notesMaster" Target="/ppt/notesMasters/notesMaster1.xml" Id="Rf3baea45a06940c8"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b516215d3060457a" /><Relationship Type="http://schemas.openxmlformats.org/officeDocument/2006/relationships/notesMaster" Target="/ppt/notesMasters/notesMaster1.xml" Id="R7bac948f230f4d7b"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f5baecb0815e43fb" /><Relationship Type="http://schemas.openxmlformats.org/officeDocument/2006/relationships/notesMaster" Target="/ppt/notesMasters/notesMaster1.xml" Id="R4a3f8b81ecf946d9"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96e97dbfc29b40ef" /><Relationship Type="http://schemas.openxmlformats.org/officeDocument/2006/relationships/notesMaster" Target="/ppt/notesMasters/notesMaster1.xml" Id="R7431c00606704bd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lecture explains the integrated A08/A10/A11/A13 historical case study without assuming finance or university mathematics. Martin directed the project; Codex implemented and drafted it. Independent human review remains 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 studies a measurement and decision-input chain. It does not evaluate trading returns. The lecture separates the known simulation example from the historical source comparison. Source: working paper by Martin Valachy, Sections 2–8 and Appendix 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Simple return is (new price / old price) minus one. Log return is ln(new price / old price). For a rise from 100 to 101 the log return is approximately .995%, not exactly 1%. The toy RV example on the next slide assumes its three returns directly, rather than deriving them from those two prices. Source: paper Section 3.1 and Appendix D.1.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input is a hypothetical log return. RV is a variance measure and therefore has squared-return units. The squared return for +2% is four times the squared return for +1%. Real sessions have many more intervals. The paper derives the moment normalization under a stated ideal model. Source: Section 3.1 and Appendix D.1.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square root is the positive number whose square gives the variance. The example is a mathematical illustration. A daily session measure differs from a full overnight-inclusive investment risk measure. The study uses a fixed annualization convention only for the later risk rule. Source: paper Section 3.1 and Appendix D.1.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Gaussian fourth moment is three times the square of the variance. That identity explains the factor one third. Multiplying by M makes the expectation approximate integrated quarticity on a unit-length session clock. The actual early-close count matters. A missing interval cannot be made complete simply by changing M. Source: Appendix D.1.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intervals are 15,30,60,300,900,1800 seconds. The pipeline uses the last eligible price at each grid point. An independent exchange calendar supplies session endpoints and early closes. Source: paper Section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illustration of sampling, not evidence that five minutes is generally worse. More frequent sampling can also admit more observation noise. The study reports every fixed grid rather than selecting the most attractive result. The chart contains no proprietary observations. Source: paper Section 3.1; mathematical context in Appendix D.3. Chart workbook values are rounded to 14 significant digits; the checked paper claim map retains the full source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distinction motivates the known-truth simulation and the controlled source experiment. In a simulation we specify the generating process. In the market comparison neither source is verified integrated variance. Source: Introduction, Section 4 and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Rough-volatility research concerns local regularity, while the present estimator uses a fixed finite band of daily lags. The paper does not identify the latent market exponent H. References include Gatheral et al., Cont and Das, and Fukasawa et al. Source: Sections 1 and 3.2, Appendix D.4.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these two-lag examples, H-tilde is half the log of the ratio V(2)/V(1), divided by log2. The values are .5 and approximately .1493. Under an exact power-law model this matches the exponent. Noise, finite scales and different observation objects can change it. The empirical statistic remains descriptive. Source: Section 3.2 and Appendix D.4.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A08 uses128 paths per model,504 days,780 fine steps per session and fixed measurement grids. Models include OU and two generalized Cauchy covariance cases. OU fluctuates continuously around its long-run mean and is locally diffusive. Independent price and noise streams are specified. Source: Section 4 and A08 run side_project_study_20261021T214152Z; table check side_project_table_check_20261021T215134Z.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means are .467026,.539210,.237906. The local OU exponent is one half. A finite-band statistic on a daily sample or proxy need not equal that limit. The simulation establishes an interpretive counterexample and supports no claim that the market follows OU. Source: Section 4, Figure2, Appendix D.4. Independent table and refinement checks are mapped in Appendix A. Chart workbook values are rounded to 14 significant digits; the checked paper claim map retains the full source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Y=X+e with independent iid centered error variance q, the expected squared increment is V_X(k)+2q. Correlation or endogeneity changes the identity. Price-level noise is a different model: differencing noisy prices adds a term to RV that grows with the number of intervals. The study does not automatically subtract a q-hat diagnostic from empirical variograms. Source: Appendix D.2–D.4.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additional funds are QQQ,IWM,EFA,TLT. The total is482 paired symbol-days. The common mounted source overlap determines the sample window. The new A13 extension will separately investigate broader ETF coverage and has no result yet. A10 analysis source_replication_analysis_20261022T014736Z; independent source_result_check_20261022T015029Z.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actual mounted derivatives may differ from their official specifications. Stronger floor-time and correction checks cover the two discovery dates only. CategoryB means different things on CTA and UTP tapes. The study avoids assigning it one universal economic meaning. Sources: Sections2.1–2.2, NYSE2014 specification, A09/A10 check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opening approximation uses the first eligible trade if none occurs exactly at the open and flags the case. Later missing grid points are not backward filled. Incomplete moments are withheld with counts retained. The strict filter differs from broader highfrequency defaults and venue-selection order. These limitations are part of the interpretation. Source: Section3.1 and AppendixD.1/D.5.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 restoration changes information available to the filter; it is not an adopted production deletion rule. The entire function of the pipeline matters. The paper derives a crossed log-contrast identity with an interaction term rather than assuming additive causal attribution. Source: Sections2.2,5.2 and AppendixD.5. A10 analysis source_replication_analysis_20261022T014736Z; independent source_result_check_20261022T015029Z.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code uses absolute log ratios &gt;log1.1 and &gt;log2. The strict greater-than boundary matters. Negative differences are not clipped and mismatches are not tuned away. The source values in this toy table are unitless illustrations. Source: Section3.2 and configs/source_replication.json.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Discovery dates are2014-01-02/2014-07-03. Incidence excludes them; H/EWMA include them. The post-result standardization retains46 large-gap origins without removing dates or compressing time. Validation2017-2019 and final2020+ are closed. The original1,250-day forecast contest remains deferred. Source: Sections2.1,5.3,7.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RV/RQ denominators are verified equal for these rows. The complete paper also reports date-block intervals. Incidence is not necessarily monotone across grids because endpoints and large increments change. No source is certified true integrated variance. Source: Table1 and source_replication_incidence.csv. A10 analysis source_replication_analysis_20261022T014736Z; independent source_result_check_20261022T015029Z.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 counts are41,42,5,9. Holding code fixed does not make component effects additive. Labels affect retained observations, venue choice and timestamp medians. The paper does not recommend discarding all category-B trades. Source: Table2 and Section5.2. A10 analysis source_replication_analysis_20261022T014736Z; independent source_result_check_20261022T015029Z. Chart workbook values are rounded to 14 significant digits; the checked paper claim map retains the full source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Values .15418907,.12391033,.15159987. A constant RV unit multiplier adds a constant to logRV and cannot change these increments or slopes. The paper retains lag bands1–5/1–10/1–22 and reports no latent-H interval. Source: Sections3.2,5.1, AppendixC/D.4. A10 analysis source_replication_analysis_20261022T014736Z; independent source_result_check_20261022T015029Z. Chart workbook values are rounded to 14 significant digits; the checked paper claim map retains the full source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state is s_t=.94s_(t-1)+.06RV_t. It is a causal input, rather than a fitted forecast contest. Consistent initialization matters for the direct-convolution check. Source: Section3.3, AppendixD.6. A10 analysis source_replication_analysis_20261022T014736Z; independent source_result_check_20261022T015029Z.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weights sum to one. This arithmetic concerns variance, not standard deviation. The original state initialization coefficient differs from later shock coefficients. The paper derives the exact expansion and checks it against a separate direct computation. Source: AppendixD.6.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 later observation j, the state contribution at t&gt;=j is(1-lambda)lambda^(t-j)delta_j. Normalizing at arrival removes(1-lambda)delta_j. Initialization uses lambda^t instead. The upper-bound influence shares in A11 are not nonlinear loss attributions. Source: AppendixD.6. Chart workbook values are rounded to 14 significant digits; the checked paper claim map retains the full source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variance state is annualized with252 and square-rooted. Uncapped position u=target/sqrt(252s). Actual portfolio risk could include overnight,cash,costs and execution. Those are outside the experiment. Source: Section3.3 and AppendixD.7.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maximum gap is23.913646pp. B-restored mean gap is.01239973pp. Post-result discovery-date standardization retains46 large-gap origins. These sensitivities do not become untouched validation. Source: Section5.3 and Figure4. A10 analysis source_replication_analysis_20261022T014736Z; independent source_result_check_20261022T015029Z.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cap map min(c,u) is nonexpansive. If both inputs exceed c, the capped gap is exactly zero. If one exceeds c, the gap shrinks; if neither does, the gap is unchanged. The state saturation threshold is derived in AppendixD.7. Chart workbook values are rounded to 14 significant digits; the checked paper claim map retains the full source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Before1.055485426pp,after.032195806pp; both capped95.58823529% of origins. The percentage attenuation is one minus capped mean gap divided by uncapped mean gap. Source: Section6,Figure5. A11 analysis source_policy_robustness_20261022T032458Z; independent source_policy_check_20261022T032503Z. Post-result sensitivity. Chart workbook values are rounded to 14 significant digits; the checked paper claim map retains the full source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event uses ratio outside[1/1.1,1.1]. It is not simply an arithmetic10% difference in both directions. The exact identity is uL/uM=sqrt(sM/sL). Descriptive95th percentile transformed ratios are in the paper. These do not predict future discrepancy probabilities. Source: Section6,AppendixD.7. A11 analysis source_policy_robustness_20261022T032458Z; independent source_policy_check_20261022T032503Z. Post-result sensitivity.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Settingslambda .90/.94/.97,target .05/.10/.15,cap .5/1/2. Counts18/27 and2/27. They share data/formulas and are not independent experiments. A11 was frozen before the sensitivity run, after A10 results were known. Source: Section6 and AppendixB. A11 analysis source_policy_robustness_20261022T032458Z; independent source_policy_check_20261022T032503Z. Post-result sensitivity. Chart workbook values are rounded to 14 significant digits; the checked paper claim map retains the full source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A13 is a fixed exploratory follow-up, not a previously untouched time period. All four selected ETFs and all six grids are retained. January is excluded from primary incidence but retained in full-calendar slopes and EWMA histories. Source: Section6.1,AppendixF. A13 analysis etf_breadth_analysis_20261022T144854Z; independent etf_breadth_independent_check_20261022T145028Z. Fixed exploratory follow-up; same historical source regime.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primary legacy/modern incidence counts. Eligible376perfund; TLT1mvalid366. Every fixed construction/grid is in AppendixF, including zeros. Missingness is not agreement. Original SPY incidence uses396dates, so primary denominators differ. Source: Section6.1 and AppendixF. A13 analysis etf_breadth_analysis_20261022T144854Z; independent etf_breadth_independent_check_20261022T145028Z. Fixed exploratory follow-up; same historical source regime.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Full398sessionhistory; lambda.94,target.10,cap1,annualization252,warmup126. QQQ50,IWM9,EFA0,TLT0,SPY0. Counts do not measure losses, independent shocks, or future probabilities. Source: Section6.1,Table3 and A10 original policy. A10 analysis source_replication_analysis_20261022T014736Z; independent source_result_check_20261022T015029Z. A13 analysis etf_breadth_analysis_20261022T144854Z; independent etf_breadth_independent_check_20261022T145028Z. Fixed exploratory follow-up; same historical source regime. Chart workbook values are rounded to 14 significant digits; the checked paper claim map retains the full source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usable histories have272origins. Missing TLT1m values prevent the specified complete-calendar EWMA; do not compress time or fill missing observations. Fixed126sessionwarmup and initializedstate. These are daily policy inputs rather than returns. Source: Section6.1,Table3. A10 analysis source_replication_analysis_20261022T014736Z; independent source_result_check_20261022T015029Z. A13 analysis etf_breadth_analysis_20261022T144854Z; independent etf_breadth_independent_check_20261022T145028Z. Fixed exploratory follow-up; same historical source regime.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Attenuation is1 minus capped mean gap/uncapped mean gap, using unrounded values. This extends the original SPYfive-minute masking example to another fund/grid. Reference is not truevariance. Source: Section6.1 and Figure8. A13 analysis etf_breadth_analysis_20261022T144854Z; independent etf_breadth_independent_check_20261022T145028Z. Fixed exploratory follow-up; same historical source regime. Chart workbook values are rounded to 14 significant digits; the checked paper claim map retains the full source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QQQ1mlegacy46/376;Brestore46/376;modernconditionslegacytime4/376. No isolated economic cause or universal treatment of B-coded trades follows. All five crossed constructions are retained. Source: Section2.2 and6.1,AppendixF,NYSE2014condition specification. A13 analysis etf_breadth_analysis_20261022T144854Z; independent etf_breadth_independent_check_20261022T145028Z. Fixed exploratory follow-up; same historical source regime.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Incidence denominator366/376,fullhistoryincomplete. No interpolation, carry-forward of dailyRV or calendarcompression. Five-minuteTLThistoryiscomplete. Htablesincludeendpointcountsandcommonendpointcontrasts. Source: Section3.2,6.1,AppendixF. A13 analysis etf_breadth_analysis_20261022T144854Z; independent etf_breadth_independent_check_20261022T145028Z. Fixed exploratory follow-up; same historical source regime.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Stationary bootstrap: random starts and geometric block lengths,primarymean22,sensitivity11/44,3999draws. Numerator/denominator and eligible indicators use identical indices. The ETF panel is not pooled as independent observations. Slope panels have no latent-H intervals. Source: Section3.4 and AppendixD.8, Politis and Romano1994.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A10independent900scalars;A11independent10584scalars/96overlaps;A13independent6445scalars. Paper maps272originaland642breadthfacts;655selectedmathchecks. Agreement does not certify truevariance,vendorsemantics,priority or everypossiblebug. Source: Section8,AppendixA,VERIFICATION.md. A13 analysis etf_breadth_analysis_20261022T144854Z; independent etf_breadth_independent_check_20261022T145028Z. Fixed exploratory follow-up; same historical source regime.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latent-H identification, universally best grid, trading profit, new estimator or academic priority claim. The original1250dayforecastcontest remains deferred. A13precededadditionalacquisitionbutfollowedSPYresults. Source: Section7. A13 analysis etf_breadth_analysis_20261022T144854Z; independent etf_breadth_independent_check_20261022T145028Z. Fixed exploratory follow-up; same historical source regime.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literature and source versions appear in the bibliography. Martin directed the research; Codex implemented and drafted it. Human comprehension/code review is not asserted complete. Source: Sections1,7–9 and AI disclosure.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Integrated A08/A10/A11/A13 conclusion. Useful historical case study, without a new-estimator, trading-performance or untouched-regime claim. No options surface is needed for this question. Source: Section9.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variance path must be deterministic or independent of price shocks for the finite-grid conditional Gaussian calculation given. This is stronger than general leverage models. The paper derives Var(RV|a)=2sum a_i² and the relative qhat diagnostic, whose constant-Gaussian expectation is2/(M+2), not2/M. Source: AppendixD.1–D.2, Barndorff-Nielsen and Shephard2002.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V(k) denotes the expected squared increment across lagk. OUcovariancevexp(-kappa|tau|) gives V=2v(1-exp(-kappa tau)); the local half-log slope is kappa tau/[2(exp(kappa tau)-1)] and tends to one half near zero. Finite-bandOLS differs from a local derivative. Price-level noise has a different impact, E(noisyRV)=IV+2Momega². These are illustrative identities, not estimated market assumptions. Source: AppendixD.3–D.4.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initializedEWMAexactconvolution,persistencehalf-life,trianglebound and capnonexpansion are derived stepbystep in AppendixD.6–D.7. The initialcoefficient differs fromlaterinnovations. Absoluteinfluencepotentialshares are not nonlinearportfoliolossattribution. No economicbacktest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 source is paper/main.tex with theory.tex,references.tex,generatedtables/facts and vectorfigures. The lecture’s numerical charts use the checked claim map. Code execution without the licensed empirical observations can reproduce synthetic demonstrations, not the historical empirical findings. Human review remains 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 Gatheral/Jaisson/Rosenbaum;Cont/Das;Fukasawa/Takabatake/Westphal;Holden/Jacobsen;VOLARE authors;NYSE2014specification;highfrequencymaintainers;Politis/Romano;Bennedsen/Lunde/Pakkanen;Barndorff-Nielsen/Shephard. Exact bibliographicdetails are in paper/references.tex. The existing GitHubrepository is private; visibility is separate from scientificstatus.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06c297b069542f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7a6436cf4684eb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55c23742f3c45e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8c67823d126448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b3fb33d0c8446a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fe972c3a6a748e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27236E-193F-4E37-A116-8E256EE6EE4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2600B09-8EF6-4FD8-9E32-66975C8C74B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9FA8905-D2A3-49F6-A43F-5C4770F83F6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D82010B-BE6B-4632-9406-4C25B751E98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7F1F41C-DC0D-414D-AE92-FA464AA185D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116DE50-2882-4C95-9343-13E1AA867F6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8DB443C-EB2D-4A9E-80E1-62F0C73A30C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BFD5E11-EF1B-4083-8067-9C4B2B5F8CD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48AF3D5-E3E8-4FF5-816C-3C31358D1B8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A5020E6-44E2-4488-86D4-84B00AE9A04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1908055616045d3" /><Relationship Type="http://schemas.openxmlformats.org/officeDocument/2006/relationships/slideLayout" Target="/ppt/slideLayouts/slideLayout1.xml" Id="Re29743582160460f" /><Relationship Type="http://schemas.openxmlformats.org/officeDocument/2006/relationships/slideLayout" Target="/ppt/slideLayouts/slideLayout2.xml" Id="Rcdbcc00a0ffe40aa" /><Relationship Type="http://schemas.openxmlformats.org/officeDocument/2006/relationships/slideLayout" Target="/ppt/slideLayouts/slideLayout3.xml" Id="Rdafad51065864411" /><Relationship Type="http://schemas.openxmlformats.org/officeDocument/2006/relationships/slideLayout" Target="/ppt/slideLayouts/slideLayout4.xml" Id="R7bbd71253d494894" /><Relationship Type="http://schemas.openxmlformats.org/officeDocument/2006/relationships/slideLayout" Target="/ppt/slideLayouts/slideLayout5.xml" Id="R55f00376a64243cf" /><Relationship Type="http://schemas.openxmlformats.org/officeDocument/2006/relationships/slideLayout" Target="/ppt/slideLayouts/slideLayout6.xml" Id="Rad92c76a93594cd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29743582160460f"/>
    <p:sldLayoutId xmlns:r="http://schemas.openxmlformats.org/officeDocument/2006/relationships" id="2147483650" r:id="Rcdbcc00a0ffe40aa"/>
    <p:sldLayoutId xmlns:r="http://schemas.openxmlformats.org/officeDocument/2006/relationships" id="2147483651" r:id="Rdafad51065864411"/>
    <p:sldLayoutId xmlns:r="http://schemas.openxmlformats.org/officeDocument/2006/relationships" id="2147483652" r:id="R7bbd71253d494894"/>
    <p:sldLayoutId xmlns:r="http://schemas.openxmlformats.org/officeDocument/2006/relationships" id="2147483653" r:id="R55f00376a64243cf"/>
    <p:sldLayoutId xmlns:r="http://schemas.openxmlformats.org/officeDocument/2006/relationships" id="2147483654" r:id="Rad92c76a93594cd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5181221cb4e492b" /><Relationship Type="http://schemas.openxmlformats.org/officeDocument/2006/relationships/notesSlide" Target="/ppt/notesSlides/notesSlide1.xml" Id="Rc2f4c84bd4a543f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ebaaa2724174b0e" /><Relationship Type="http://schemas.openxmlformats.org/officeDocument/2006/relationships/notesSlide" Target="/ppt/notesSlides/notesSlide2.xml" Id="R9d5418b31e6e4e1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9482403fddc4462" /><Relationship Type="http://schemas.openxmlformats.org/officeDocument/2006/relationships/notesSlide" Target="/ppt/notesSlides/notesSlide3.xml" Id="R31ab8ddbab11453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2b3888e78814c4b" /><Relationship Type="http://schemas.openxmlformats.org/officeDocument/2006/relationships/notesSlide" Target="/ppt/notesSlides/notesSlide4.xml" Id="Rdcee07f8e4834cb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fc403cb6a5448ba" /><Relationship Type="http://schemas.openxmlformats.org/officeDocument/2006/relationships/notesSlide" Target="/ppt/notesSlides/notesSlide5.xml" Id="Rfcc4af2ea6144f6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5cfc18e7a904676" /><Relationship Type="http://schemas.openxmlformats.org/officeDocument/2006/relationships/notesSlide" Target="/ppt/notesSlides/notesSlide6.xml" Id="Rab59ebea9f62439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79b83756d084b4d" /><Relationship Type="http://schemas.openxmlformats.org/officeDocument/2006/relationships/notesSlide" Target="/ppt/notesSlides/notesSlide7.xml" Id="Rf02f3415a3764a7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fff1c78ce754e19" /><Relationship Type="http://schemas.openxmlformats.org/officeDocument/2006/relationships/chart" Target="/ppt/slides/charts/chart1.xml" Id="Rde9a9d1734da43e9" /><Relationship Type="http://schemas.openxmlformats.org/officeDocument/2006/relationships/notesSlide" Target="/ppt/notesSlides/notesSlide8.xml" Id="R4a241e42898541d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425dede7b524d60" /><Relationship Type="http://schemas.openxmlformats.org/officeDocument/2006/relationships/notesSlide" Target="/ppt/notesSlides/notesSlide9.xml" Id="Rc5d5387a839b4a5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f7fe0744e67480d" /><Relationship Type="http://schemas.openxmlformats.org/officeDocument/2006/relationships/notesSlide" Target="/ppt/notesSlides/notesSlide10.xml" Id="R4b0d51486674485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021a816e6cf4650" /><Relationship Type="http://schemas.openxmlformats.org/officeDocument/2006/relationships/notesSlide" Target="/ppt/notesSlides/notesSlide11.xml" Id="R8dc3264cbc1e4c4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8c66b2b5065401d" /><Relationship Type="http://schemas.openxmlformats.org/officeDocument/2006/relationships/notesSlide" Target="/ppt/notesSlides/notesSlide12.xml" Id="R5150313aaccc471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b81631c612846a9" /><Relationship Type="http://schemas.openxmlformats.org/officeDocument/2006/relationships/chart" Target="/ppt/slides/charts/chart2.xml" Id="R3e7dc611a7e24d76" /><Relationship Type="http://schemas.openxmlformats.org/officeDocument/2006/relationships/notesSlide" Target="/ppt/notesSlides/notesSlide13.xml" Id="R122aeaaf0f02420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2c3db208f054af1" /><Relationship Type="http://schemas.openxmlformats.org/officeDocument/2006/relationships/notesSlide" Target="/ppt/notesSlides/notesSlide14.xml" Id="R4a84a8815bd9485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e9942352c1d4a24" /><Relationship Type="http://schemas.openxmlformats.org/officeDocument/2006/relationships/notesSlide" Target="/ppt/notesSlides/notesSlide15.xml" Id="R2ea3db00a1194d1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5df63d0ba4a4ce0" /><Relationship Type="http://schemas.openxmlformats.org/officeDocument/2006/relationships/notesSlide" Target="/ppt/notesSlides/notesSlide16.xml" Id="Rbfba4798e7c548a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acc5b1496a14773" /><Relationship Type="http://schemas.openxmlformats.org/officeDocument/2006/relationships/notesSlide" Target="/ppt/notesSlides/notesSlide17.xml" Id="R2065564a3d56462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bb4eb4cb2834d38" /><Relationship Type="http://schemas.openxmlformats.org/officeDocument/2006/relationships/notesSlide" Target="/ppt/notesSlides/notesSlide18.xml" Id="Ra210e5e4bea044b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745cd4529bd4383" /><Relationship Type="http://schemas.openxmlformats.org/officeDocument/2006/relationships/notesSlide" Target="/ppt/notesSlides/notesSlide19.xml" Id="R2ba50d233e2e427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b14c6a76c8e4ac4" /><Relationship Type="http://schemas.openxmlformats.org/officeDocument/2006/relationships/notesSlide" Target="/ppt/notesSlides/notesSlide20.xml" Id="Re717f62eac464af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aabb261de8f4050" /><Relationship Type="http://schemas.openxmlformats.org/officeDocument/2006/relationships/notesSlide" Target="/ppt/notesSlides/notesSlide21.xml" Id="R857c5a4ec2a64e8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7a9d1d0e612e4440" /><Relationship Type="http://schemas.openxmlformats.org/officeDocument/2006/relationships/chart" Target="/ppt/slides/charts/chart3.xml" Id="Rdf621f5c16ec45fc" /><Relationship Type="http://schemas.openxmlformats.org/officeDocument/2006/relationships/notesSlide" Target="/ppt/notesSlides/notesSlide22.xml" Id="R811c6db1fc5040f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55bfe02c87348db" /><Relationship Type="http://schemas.openxmlformats.org/officeDocument/2006/relationships/chart" Target="/ppt/slides/charts/chart4.xml" Id="Rd0a876a43db34aa5" /><Relationship Type="http://schemas.openxmlformats.org/officeDocument/2006/relationships/notesSlide" Target="/ppt/notesSlides/notesSlide23.xml" Id="R35575ca01367404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0e254c79617140c0" /><Relationship Type="http://schemas.openxmlformats.org/officeDocument/2006/relationships/notesSlide" Target="/ppt/notesSlides/notesSlide24.xml" Id="Re30227abb80f400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514ea472db35489b" /><Relationship Type="http://schemas.openxmlformats.org/officeDocument/2006/relationships/notesSlide" Target="/ppt/notesSlides/notesSlide25.xml" Id="R85f80d26a267404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1dbb2e18166e4127" /><Relationship Type="http://schemas.openxmlformats.org/officeDocument/2006/relationships/chart" Target="/ppt/slides/charts/chart5.xml" Id="R932faf2401564f1a" /><Relationship Type="http://schemas.openxmlformats.org/officeDocument/2006/relationships/notesSlide" Target="/ppt/notesSlides/notesSlide26.xml" Id="R001a78edcfaf402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0fc786d6acb24fe6" /><Relationship Type="http://schemas.openxmlformats.org/officeDocument/2006/relationships/notesSlide" Target="/ppt/notesSlides/notesSlide27.xml" Id="Ra4df85f03781410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d58f218e2b274899" /><Relationship Type="http://schemas.openxmlformats.org/officeDocument/2006/relationships/notesSlide" Target="/ppt/notesSlides/notesSlide28.xml" Id="R8ec122befd644e7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a942f1d481d34e3c" /><Relationship Type="http://schemas.openxmlformats.org/officeDocument/2006/relationships/chart" Target="/ppt/slides/charts/chart6.xml" Id="R795bc395e4cd422d" /><Relationship Type="http://schemas.openxmlformats.org/officeDocument/2006/relationships/notesSlide" Target="/ppt/notesSlides/notesSlide29.xml" Id="Rf2e68757ca944fd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94a70ff764bd4d16" /><Relationship Type="http://schemas.openxmlformats.org/officeDocument/2006/relationships/chart" Target="/ppt/slides/charts/chart7.xml" Id="Rea8d73be86c24353" /><Relationship Type="http://schemas.openxmlformats.org/officeDocument/2006/relationships/notesSlide" Target="/ppt/notesSlides/notesSlide30.xml" Id="R8c28a01374dd49a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4e91ad51d2d34cf2" /><Relationship Type="http://schemas.openxmlformats.org/officeDocument/2006/relationships/notesSlide" Target="/ppt/notesSlides/notesSlide31.xml" Id="Re0848cbb1a50451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586f738497cd4626" /><Relationship Type="http://schemas.openxmlformats.org/officeDocument/2006/relationships/chart" Target="/ppt/slides/charts/chart8.xml" Id="R14567da0ea9944d8" /><Relationship Type="http://schemas.openxmlformats.org/officeDocument/2006/relationships/notesSlide" Target="/ppt/notesSlides/notesSlide32.xml" Id="R134b472884674ab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07b4318b4b814a39" /><Relationship Type="http://schemas.openxmlformats.org/officeDocument/2006/relationships/notesSlide" Target="/ppt/notesSlides/notesSlide33.xml" Id="R8e214517c4fe45e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572869c1992945a2" /><Relationship Type="http://schemas.openxmlformats.org/officeDocument/2006/relationships/notesSlide" Target="/ppt/notesSlides/notesSlide34.xml" Id="R9aea949abaaf4dc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bb26e7515aa14439" /><Relationship Type="http://schemas.openxmlformats.org/officeDocument/2006/relationships/chart" Target="/ppt/slides/charts/chart9.xml" Id="Rdfc1492b222a4fd0" /><Relationship Type="http://schemas.openxmlformats.org/officeDocument/2006/relationships/notesSlide" Target="/ppt/notesSlides/notesSlide35.xml" Id="R228c23d1e08744da"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346cca67dda446c2" /><Relationship Type="http://schemas.openxmlformats.org/officeDocument/2006/relationships/notesSlide" Target="/ppt/notesSlides/notesSlide36.xml" Id="R2d040a089ff9495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e45831eb783f4ff7" /><Relationship Type="http://schemas.openxmlformats.org/officeDocument/2006/relationships/chart" Target="/ppt/slides/charts/chart10.xml" Id="R037d9967d5a74479" /><Relationship Type="http://schemas.openxmlformats.org/officeDocument/2006/relationships/notesSlide" Target="/ppt/notesSlides/notesSlide37.xml" Id="Rcd17b35127924580"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8233f4c510a3463c" /><Relationship Type="http://schemas.openxmlformats.org/officeDocument/2006/relationships/notesSlide" Target="/ppt/notesSlides/notesSlide38.xml" Id="R7ce6fa9bcd7e41a3"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36b1d177d0eb43bb" /><Relationship Type="http://schemas.openxmlformats.org/officeDocument/2006/relationships/notesSlide" Target="/ppt/notesSlides/notesSlide39.xml" Id="Rfe0d06e0abaa4a95"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212961dd614e47b9" /><Relationship Type="http://schemas.openxmlformats.org/officeDocument/2006/relationships/notesSlide" Target="/ppt/notesSlides/notesSlide40.xml" Id="R92be9a6b1aef4c4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babaf4b8014d4d19" /><Relationship Type="http://schemas.openxmlformats.org/officeDocument/2006/relationships/notesSlide" Target="/ppt/notesSlides/notesSlide41.xml" Id="R4d3179d329a64230"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528a0956aa8a4162" /><Relationship Type="http://schemas.openxmlformats.org/officeDocument/2006/relationships/notesSlide" Target="/ppt/notesSlides/notesSlide42.xml" Id="R42ccd8cc1e194e5d"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37f1cc0223264bf5" /><Relationship Type="http://schemas.openxmlformats.org/officeDocument/2006/relationships/notesSlide" Target="/ppt/notesSlides/notesSlide43.xml" Id="R08c882d32c264f59"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0375a7c5292f4212" /><Relationship Type="http://schemas.openxmlformats.org/officeDocument/2006/relationships/notesSlide" Target="/ppt/notesSlides/notesSlide44.xml" Id="Red2ccc3a2e81434f"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b1f99b13eac54c8f" /><Relationship Type="http://schemas.openxmlformats.org/officeDocument/2006/relationships/notesSlide" Target="/ppt/notesSlides/notesSlide45.xml" Id="Rcaf091ec2c244451"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16b19480c8d24fb9" /><Relationship Type="http://schemas.openxmlformats.org/officeDocument/2006/relationships/notesSlide" Target="/ppt/notesSlides/notesSlide46.xml" Id="R39ae46e197ca4d3d"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8edb57b04a084566" /><Relationship Type="http://schemas.openxmlformats.org/officeDocument/2006/relationships/notesSlide" Target="/ppt/notesSlides/notesSlide47.xml" Id="R98e6af8f0a7a46b9"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6de758705319494d" /><Relationship Type="http://schemas.openxmlformats.org/officeDocument/2006/relationships/notesSlide" Target="/ppt/notesSlides/notesSlide48.xml" Id="R77d430d6254042c0"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2bb4755b2fc84f99" /><Relationship Type="http://schemas.openxmlformats.org/officeDocument/2006/relationships/notesSlide" Target="/ppt/notesSlides/notesSlide49.xml" Id="Rc051e75d8ec647e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Invented price</c:v>
          </c:tx>
          <c:spPr>
            <a:solidFill xmlns:a="http://schemas.openxmlformats.org/drawingml/2006/main">
              <a:srgbClr val="1A638D"/>
            </a:solidFill>
            <a:ln xmlns:a="http://schemas.openxmlformats.org/drawingml/2006/main" w="28575">
              <a:solidFill>
                <a:srgbClr val="1A638D"/>
              </a:solidFill>
            </a:ln>
          </c:spPr>
          <c:marker>
            <c:symbol val="circle"/>
            <c:size val="6"/>
            <c:spPr>
              <a:solidFill xmlns:a="http://schemas.openxmlformats.org/drawingml/2006/main">
                <a:srgbClr val="1A638D"/>
              </a:solidFill>
            </c:spPr>
          </c:marker>
          <c:cat>
            <c:strRef>
              <c:f>'Chart Data'!$A$2:$A$7</c:f>
              <c:strCache>
                <c:ptCount val="6"/>
                <c:pt idx="0">
                  <c:v>09:30</c:v>
                </c:pt>
                <c:pt idx="1">
                  <c:v>09:31</c:v>
                </c:pt>
                <c:pt idx="2">
                  <c:v>09:32</c:v>
                </c:pt>
                <c:pt idx="3">
                  <c:v>09:33</c:v>
                </c:pt>
                <c:pt idx="4">
                  <c:v>09:34</c:v>
                </c:pt>
                <c:pt idx="5">
                  <c:v>09:35</c:v>
                </c:pt>
              </c:strCache>
            </c:strRef>
          </c:cat>
          <c:val>
            <c:numRef>
              <c:f>'Chart Data'!$B$2:$B$7</c:f>
              <c:numCache>
                <c:formatCode>0</c:formatCode>
                <c:ptCount val="6"/>
                <c:pt idx="0">
                  <c:v>100</c:v>
                </c:pt>
                <c:pt idx="1">
                  <c:v>103</c:v>
                </c:pt>
                <c:pt idx="2">
                  <c:v>100</c:v>
                </c:pt>
                <c:pt idx="3">
                  <c:v>100</c:v>
                </c:pt>
                <c:pt idx="4">
                  <c:v>100</c:v>
                </c:pt>
                <c:pt idx="5">
                  <c:v>100</c:v>
                </c:pt>
              </c:numCache>
            </c:numRef>
          </c:val>
          <c:smooth val="0"/>
        </c:ser>
        <c:dLbls>
          <c:numFmt formatCode="0" sourceLinked="0"/>
          <c:txPr>
            <a:bodyPr xmlns:a="http://schemas.openxmlformats.org/drawingml/2006/main" anchorCtr="1"/>
            <a:lstStyle xmlns:a="http://schemas.openxmlformats.org/drawingml/2006/main"/>
            <a:p xmlns:a="http://schemas.openxmlformats.org/drawingml/2006/main">
              <a:pPr>
                <a:defRPr sz="1650" b="1">
                  <a:solidFill>
                    <a:srgbClr val="173C55"/>
                  </a:solidFill>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8294A0"/>
            </a:solidFill>
          </a:ln>
        </c:spPr>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crossAx val="48672768"/>
      </c:catAx>
      <c:valAx>
        <c:axId val="48672768"/>
        <c:scaling>
          <c:orientation val="minMax"/>
          <c:max val="104"/>
          <c:min val="99"/>
        </c:scaling>
        <c:delete val="0"/>
        <c:axPos val="l"/>
        <c:majorGridlines>
          <c:spPr>
            <a:ln xmlns:a="http://schemas.openxmlformats.org/drawingml/2006/main" w="9525">
              <a:solidFill>
                <a:srgbClr val="D8E1E8"/>
              </a:solidFill>
            </a:ln>
          </c:spPr>
        </c:majorGridlines>
        <c:title>
          <c:tx>
            <c:rich>
              <a:bodyPr xmlns:a="http://schemas.openxmlformats.org/drawingml/2006/main"/>
              <a:lstStyle xmlns:a="http://schemas.openxmlformats.org/drawingml/2006/main"/>
              <a:p xmlns:a="http://schemas.openxmlformats.org/drawingml/2006/main">
                <a:r>
                  <a:rPr sz="1650">
                    <a:solidFill>
                      <a:srgbClr val="1B2933"/>
                    </a:solidFill>
                    <a:latin typeface="Arial"/>
                    <a:ea typeface="Arial"/>
                    <a:cs typeface="Arial"/>
                  </a:rPr>
                  <a:t>Invented price</a:t>
                </a:r>
              </a:p>
            </c:rich>
          </c:tx>
          <c:overlay val="0"/>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crossAx val="48650112"/>
        <c:crossBetween val="between"/>
        <c:majorUnit val="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H-tilde</c:v>
          </c:tx>
          <c:spPr>
            <a:solidFill xmlns:a="http://schemas.openxmlformats.org/drawingml/2006/main">
              <a:srgbClr val="1A638D"/>
            </a:solidFill>
            <a:ln xmlns:a="http://schemas.openxmlformats.org/drawingml/2006/main" w="28575">
              <a:solidFill>
                <a:srgbClr val="1A638D"/>
              </a:solidFill>
            </a:ln>
          </c:spPr>
          <c:invertIfNegative val="0"/>
          <c:cat>
            <c:strRef>
              <c:f>'Chart Data'!$A$2:$A$4</c:f>
              <c:strCache>
                <c:ptCount val="3"/>
                <c:pt idx="0">
                  <c:v>Hidden risk
sample</c:v>
                </c:pt>
                <c:pt idx="1">
                  <c:v>Risk over
the day</c:v>
                </c:pt>
                <c:pt idx="2">
                  <c:v>Price
estimate</c:v>
                </c:pt>
              </c:strCache>
            </c:strRef>
          </c:cat>
          <c:val>
            <c:numRef>
              <c:f>'Chart Data'!$B$2:$B$4</c:f>
              <c:numCache>
                <c:formatCode>0.00</c:formatCode>
                <c:ptCount val="3"/>
                <c:pt idx="0">
                  <c:v>0.46702596272545</c:v>
                </c:pt>
                <c:pt idx="1">
                  <c:v>0.53921032593305</c:v>
                </c:pt>
                <c:pt idx="2">
                  <c:v>0.23790609812858</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b="1">
                  <a:solidFill>
                    <a:srgbClr val="173C55"/>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8294A0"/>
            </a:solidFill>
          </a:ln>
        </c:spPr>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crossAx val="48672768"/>
      </c:catAx>
      <c:valAx>
        <c:axId val="48672768"/>
        <c:scaling>
          <c:orientation val="minMax"/>
          <c:max val="0.65"/>
          <c:min val="0"/>
        </c:scaling>
        <c:delete val="0"/>
        <c:axPos val="l"/>
        <c:majorGridlines>
          <c:spPr>
            <a:ln xmlns:a="http://schemas.openxmlformats.org/drawingml/2006/main" w="9525">
              <a:solidFill>
                <a:srgbClr val="D8E1E8"/>
              </a:solidFill>
            </a:ln>
          </c:spPr>
        </c:majorGridlines>
        <c:title>
          <c:tx>
            <c:rich>
              <a:bodyPr xmlns:a="http://schemas.openxmlformats.org/drawingml/2006/main"/>
              <a:lstStyle xmlns:a="http://schemas.openxmlformats.org/drawingml/2006/main"/>
              <a:p xmlns:a="http://schemas.openxmlformats.org/drawingml/2006/main">
                <a:r>
                  <a:rPr sz="1650">
                    <a:solidFill>
                      <a:srgbClr val="1B2933"/>
                    </a:solidFill>
                    <a:latin typeface="Arial"/>
                    <a:ea typeface="Arial"/>
                    <a:cs typeface="Arial"/>
                  </a:rPr>
                  <a:t>Average H-tilde, unitless</a:t>
                </a:r>
              </a:p>
            </c:rich>
          </c:tx>
          <c:overlay val="0"/>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Material RV dates</c:v>
          </c:tx>
          <c:spPr>
            <a:solidFill xmlns:a="http://schemas.openxmlformats.org/drawingml/2006/main">
              <a:srgbClr val="1A638D"/>
            </a:solidFill>
            <a:ln xmlns:a="http://schemas.openxmlformats.org/drawingml/2006/main" w="28575">
              <a:solidFill>
                <a:srgbClr val="1A638D"/>
              </a:solidFill>
            </a:ln>
          </c:spPr>
          <c:invertIfNegative val="0"/>
          <c:cat>
            <c:strRef>
              <c:f>'Chart Data'!$A$2:$A$5</c:f>
              <c:strCache>
                <c:ptCount val="4"/>
                <c:pt idx="0">
                  <c:v>Legacy</c:v>
                </c:pt>
                <c:pt idx="1">
                  <c:v>Modern time
only</c:v>
                </c:pt>
                <c:pt idx="2">
                  <c:v>Modern
conditions
only</c:v>
                </c:pt>
                <c:pt idx="3">
                  <c:v>B information
restored</c:v>
                </c:pt>
              </c:strCache>
            </c:strRef>
          </c:cat>
          <c:val>
            <c:numRef>
              <c:f>'Chart Data'!$B$2:$B$5</c:f>
              <c:numCache>
                <c:formatCode>0</c:formatCode>
                <c:ptCount val="4"/>
                <c:pt idx="0">
                  <c:v>41</c:v>
                </c:pt>
                <c:pt idx="1">
                  <c:v>42</c:v>
                </c:pt>
                <c:pt idx="2">
                  <c:v>5</c:v>
                </c:pt>
                <c:pt idx="3">
                  <c:v>9</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650" b="1">
                  <a:solidFill>
                    <a:srgbClr val="173C55"/>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8294A0"/>
            </a:solidFill>
          </a:ln>
        </c:spPr>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crossAx val="48672768"/>
      </c:catAx>
      <c:valAx>
        <c:axId val="48672768"/>
        <c:scaling>
          <c:orientation val="minMax"/>
          <c:max val="50"/>
          <c:min val="0"/>
        </c:scaling>
        <c:delete val="0"/>
        <c:axPos val="l"/>
        <c:majorGridlines>
          <c:spPr>
            <a:ln xmlns:a="http://schemas.openxmlformats.org/drawingml/2006/main" w="9525">
              <a:solidFill>
                <a:srgbClr val="D8E1E8"/>
              </a:solidFill>
            </a:ln>
          </c:spPr>
        </c:majorGridlines>
        <c:title>
          <c:tx>
            <c:rich>
              <a:bodyPr xmlns:a="http://schemas.openxmlformats.org/drawingml/2006/main"/>
              <a:lstStyle xmlns:a="http://schemas.openxmlformats.org/drawingml/2006/main"/>
              <a:p xmlns:a="http://schemas.openxmlformats.org/drawingml/2006/main">
                <a:r>
                  <a:rPr sz="1650">
                    <a:solidFill>
                      <a:srgbClr val="1B2933"/>
                    </a:solidFill>
                    <a:latin typeface="Arial"/>
                    <a:ea typeface="Arial"/>
                    <a:cs typeface="Arial"/>
                  </a:rPr>
                  <a:t>Dates above threshold</a:t>
                </a:r>
              </a:p>
            </c:rich>
          </c:tx>
          <c:overlay val="0"/>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H-tilde</c:v>
          </c:tx>
          <c:spPr>
            <a:solidFill xmlns:a="http://schemas.openxmlformats.org/drawingml/2006/main">
              <a:srgbClr val="1A638D"/>
            </a:solidFill>
            <a:ln xmlns:a="http://schemas.openxmlformats.org/drawingml/2006/main" w="28575">
              <a:solidFill>
                <a:srgbClr val="1A638D"/>
              </a:solidFill>
            </a:ln>
          </c:spPr>
          <c:invertIfNegative val="0"/>
          <c:cat>
            <c:strRef>
              <c:f>'Chart Data'!$A$2:$A$4</c:f>
              <c:strCache>
                <c:ptCount val="3"/>
                <c:pt idx="0">
                  <c:v>Modern</c:v>
                </c:pt>
                <c:pt idx="1">
                  <c:v>Legacy</c:v>
                </c:pt>
                <c:pt idx="2">
                  <c:v>B information
restored</c:v>
                </c:pt>
              </c:strCache>
            </c:strRef>
          </c:cat>
          <c:val>
            <c:numRef>
              <c:f>'Chart Data'!$B$2:$B$4</c:f>
              <c:numCache>
                <c:formatCode>0.000</c:formatCode>
                <c:ptCount val="3"/>
                <c:pt idx="0">
                  <c:v>0.15418907261339</c:v>
                </c:pt>
                <c:pt idx="1">
                  <c:v>0.12391032974393</c:v>
                </c:pt>
                <c:pt idx="2">
                  <c:v>0.15159986751736</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650" b="1">
                  <a:solidFill>
                    <a:srgbClr val="173C55"/>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8294A0"/>
            </a:solidFill>
          </a:ln>
        </c:spPr>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crossAx val="48672768"/>
      </c:catAx>
      <c:valAx>
        <c:axId val="48672768"/>
        <c:scaling>
          <c:orientation val="minMax"/>
          <c:max val="0.2"/>
          <c:min val="0"/>
        </c:scaling>
        <c:delete val="0"/>
        <c:axPos val="l"/>
        <c:majorGridlines>
          <c:spPr>
            <a:ln xmlns:a="http://schemas.openxmlformats.org/drawingml/2006/main" w="9525">
              <a:solidFill>
                <a:srgbClr val="D8E1E8"/>
              </a:solidFill>
            </a:ln>
          </c:spPr>
        </c:majorGridlines>
        <c:title>
          <c:tx>
            <c:rich>
              <a:bodyPr xmlns:a="http://schemas.openxmlformats.org/drawingml/2006/main"/>
              <a:lstStyle xmlns:a="http://schemas.openxmlformats.org/drawingml/2006/main"/>
              <a:p xmlns:a="http://schemas.openxmlformats.org/drawingml/2006/main">
                <a:r>
                  <a:rPr sz="1650">
                    <a:solidFill>
                      <a:srgbClr val="1B2933"/>
                    </a:solidFill>
                    <a:latin typeface="Arial"/>
                    <a:ea typeface="Arial"/>
                    <a:cs typeface="Arial"/>
                  </a:rPr>
                  <a:t>H-tilde, unitless</a:t>
                </a:r>
              </a:p>
            </c:rich>
          </c:tx>
          <c:overlay val="0"/>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lineChart>
        <c:grouping val="standard"/>
        <c:varyColors val="0"/>
        <c:ser>
          <c:idx val="0"/>
          <c:order val="0"/>
          <c:tx>
            <c:v>Relative remaining influence</c:v>
          </c:tx>
          <c:spPr>
            <a:solidFill xmlns:a="http://schemas.openxmlformats.org/drawingml/2006/main">
              <a:srgbClr val="1A638D"/>
            </a:solidFill>
            <a:ln xmlns:a="http://schemas.openxmlformats.org/drawingml/2006/main" w="28575">
              <a:solidFill>
                <a:srgbClr val="1A638D"/>
              </a:solidFill>
            </a:ln>
          </c:spPr>
          <c:marker>
            <c:symbol val="circle"/>
            <c:size val="6"/>
            <c:spPr>
              <a:solidFill xmlns:a="http://schemas.openxmlformats.org/drawingml/2006/main">
                <a:srgbClr val="1A638D"/>
              </a:solidFill>
            </c:spPr>
          </c:marker>
          <c:cat>
            <c:strRef>
              <c:f>'Chart Data'!$A$2:$A$6</c:f>
              <c:strCache>
                <c:ptCount val="5"/>
                <c:pt idx="0">
                  <c:v>Arrival</c:v>
                </c:pt>
                <c:pt idx="1">
                  <c:v>10 later</c:v>
                </c:pt>
                <c:pt idx="2">
                  <c:v>20 later</c:v>
                </c:pt>
                <c:pt idx="3">
                  <c:v>30 later</c:v>
                </c:pt>
                <c:pt idx="4">
                  <c:v>40 later</c:v>
                </c:pt>
              </c:strCache>
            </c:strRef>
          </c:cat>
          <c:val>
            <c:numRef>
              <c:f>'Chart Data'!$B$2:$B$6</c:f>
              <c:numCache>
                <c:formatCode>0.0</c:formatCode>
                <c:ptCount val="5"/>
                <c:pt idx="0">
                  <c:v>1</c:v>
                </c:pt>
                <c:pt idx="1">
                  <c:v>0.5386151140949</c:v>
                </c:pt>
                <c:pt idx="2">
                  <c:v>0.29010624113146</c:v>
                </c:pt>
                <c:pt idx="3">
                  <c:v>0.15625560616666</c:v>
                </c:pt>
                <c:pt idx="4">
                  <c:v>0.084161631143426</c:v>
                </c:pt>
              </c:numCache>
            </c:numRef>
          </c:val>
          <c:smooth val="0"/>
        </c:ser>
        <c:dLbls>
          <c:numFmt formatCode="0.0" sourceLinked="0"/>
          <c:txPr>
            <a:bodyPr xmlns:a="http://schemas.openxmlformats.org/drawingml/2006/main" anchorCtr="1"/>
            <a:lstStyle xmlns:a="http://schemas.openxmlformats.org/drawingml/2006/main"/>
            <a:p xmlns:a="http://schemas.openxmlformats.org/drawingml/2006/main">
              <a:pPr>
                <a:defRPr sz="1650" b="1">
                  <a:solidFill>
                    <a:srgbClr val="173C55"/>
                  </a:solidFill>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8294A0"/>
            </a:solidFill>
          </a:ln>
        </c:spPr>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8E1E8"/>
              </a:solidFill>
            </a:ln>
          </c:spPr>
        </c:majorGridlines>
        <c:title>
          <c:tx>
            <c:rich>
              <a:bodyPr xmlns:a="http://schemas.openxmlformats.org/drawingml/2006/main"/>
              <a:lstStyle xmlns:a="http://schemas.openxmlformats.org/drawingml/2006/main"/>
              <a:p xmlns:a="http://schemas.openxmlformats.org/drawingml/2006/main">
                <a:r>
                  <a:rPr sz="1650">
                    <a:solidFill>
                      <a:srgbClr val="1B2933"/>
                    </a:solidFill>
                    <a:latin typeface="Arial"/>
                    <a:ea typeface="Arial"/>
                    <a:cs typeface="Arial"/>
                  </a:rPr>
                  <a:t>Influence relative to arrival</a:t>
                </a:r>
              </a:p>
            </c:rich>
          </c:tx>
          <c:overlay val="0"/>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Before cap</c:v>
          </c:tx>
          <c:spPr>
            <a:solidFill xmlns:a="http://schemas.openxmlformats.org/drawingml/2006/main">
              <a:srgbClr val="1A638D"/>
            </a:solidFill>
            <a:ln xmlns:a="http://schemas.openxmlformats.org/drawingml/2006/main" w="28575">
              <a:solidFill>
                <a:srgbClr val="1A638D"/>
              </a:solidFill>
            </a:ln>
          </c:spPr>
          <c:invertIfNegative val="0"/>
          <c:cat>
            <c:strRef>
              <c:f>'Chart Data'!$A$2:$A$3</c:f>
              <c:strCache>
                <c:ptCount val="2"/>
                <c:pt idx="0">
                  <c:v>Source A</c:v>
                </c:pt>
                <c:pt idx="1">
                  <c:v>Source B</c:v>
                </c:pt>
              </c:strCache>
            </c:strRef>
          </c:cat>
          <c:val>
            <c:numRef>
              <c:f>'Chart Data'!$B$2:$B$3</c:f>
              <c:numCache>
                <c:formatCode>0</c:formatCode>
                <c:ptCount val="2"/>
                <c:pt idx="0">
                  <c:v>120</c:v>
                </c:pt>
                <c:pt idx="1">
                  <c:v>150</c:v>
                </c:pt>
              </c:numCache>
            </c:numRef>
          </c:val>
        </c:ser>
        <c:ser>
          <c:idx val="1"/>
          <c:order val="1"/>
          <c:tx>
            <c:v>After 100% cap</c:v>
          </c:tx>
          <c:spPr>
            <a:solidFill xmlns:a="http://schemas.openxmlformats.org/drawingml/2006/main">
              <a:srgbClr val="BE5D36"/>
            </a:solidFill>
            <a:ln xmlns:a="http://schemas.openxmlformats.org/drawingml/2006/main" w="28575">
              <a:solidFill>
                <a:srgbClr val="BE5D36"/>
              </a:solidFill>
            </a:ln>
          </c:spPr>
          <c:invertIfNegative val="0"/>
          <c:cat>
            <c:strRef>
              <c:f>'Chart Data'!$C$2:$C$3</c:f>
              <c:strCache>
                <c:ptCount val="2"/>
                <c:pt idx="0">
                  <c:v>Source A</c:v>
                </c:pt>
                <c:pt idx="1">
                  <c:v>Source B</c:v>
                </c:pt>
              </c:strCache>
            </c:strRef>
          </c:cat>
          <c:val>
            <c:numRef>
              <c:f>'Chart Data'!$D$2:$D$3</c:f>
              <c:numCache>
                <c:formatCode>0</c:formatCode>
                <c:ptCount val="2"/>
                <c:pt idx="0">
                  <c:v>100</c:v>
                </c:pt>
                <c:pt idx="1">
                  <c:v>100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650" b="1">
                  <a:solidFill>
                    <a:srgbClr val="173C55"/>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8294A0"/>
            </a:solidFill>
          </a:ln>
        </c:spPr>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crossAx val="48672768"/>
      </c:catAx>
      <c:valAx>
        <c:axId val="48672768"/>
        <c:scaling>
          <c:orientation val="minMax"/>
          <c:max val="175"/>
          <c:min val="0"/>
        </c:scaling>
        <c:delete val="0"/>
        <c:axPos val="l"/>
        <c:majorGridlines>
          <c:spPr>
            <a:ln xmlns:a="http://schemas.openxmlformats.org/drawingml/2006/main" w="9525">
              <a:solidFill>
                <a:srgbClr val="D8E1E8"/>
              </a:solidFill>
            </a:ln>
          </c:spPr>
        </c:majorGridlines>
        <c:title>
          <c:tx>
            <c:rich>
              <a:bodyPr xmlns:a="http://schemas.openxmlformats.org/drawingml/2006/main"/>
              <a:lstStyle xmlns:a="http://schemas.openxmlformats.org/drawingml/2006/main"/>
              <a:p xmlns:a="http://schemas.openxmlformats.org/drawingml/2006/main">
                <a:r>
                  <a:rPr sz="1650">
                    <a:solidFill>
                      <a:srgbClr val="1B2933"/>
                    </a:solidFill>
                    <a:latin typeface="Arial"/>
                    <a:ea typeface="Arial"/>
                    <a:cs typeface="Arial"/>
                  </a:rPr>
                  <a:t>Position, % of capital</a:t>
                </a:r>
              </a:p>
            </c:rich>
          </c:tx>
          <c:overlay val="0"/>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absolute position gap</c:v>
          </c:tx>
          <c:spPr>
            <a:solidFill xmlns:a="http://schemas.openxmlformats.org/drawingml/2006/main">
              <a:srgbClr val="1A638D"/>
            </a:solidFill>
            <a:ln xmlns:a="http://schemas.openxmlformats.org/drawingml/2006/main" w="28575">
              <a:solidFill>
                <a:srgbClr val="1A638D"/>
              </a:solidFill>
            </a:ln>
          </c:spPr>
          <c:invertIfNegative val="0"/>
          <c:cat>
            <c:strRef>
              <c:f>'Chart Data'!$A$2:$A$3</c:f>
              <c:strCache>
                <c:ptCount val="2"/>
                <c:pt idx="0">
                  <c:v>Before cap</c:v>
                </c:pt>
                <c:pt idx="1">
                  <c:v>After cap</c:v>
                </c:pt>
              </c:strCache>
            </c:strRef>
          </c:cat>
          <c:val>
            <c:numRef>
              <c:f>'Chart Data'!$B$2:$B$3</c:f>
              <c:numCache>
                <c:formatCode>0.000</c:formatCode>
                <c:ptCount val="2"/>
                <c:pt idx="0">
                  <c:v>1.0554854262127</c:v>
                </c:pt>
                <c:pt idx="1">
                  <c:v>0.03219580578608</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650" b="1">
                  <a:solidFill>
                    <a:srgbClr val="173C55"/>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8294A0"/>
            </a:solidFill>
          </a:ln>
        </c:spPr>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crossAx val="48672768"/>
      </c:catAx>
      <c:valAx>
        <c:axId val="48672768"/>
        <c:scaling>
          <c:orientation val="minMax"/>
          <c:max val="1.2"/>
          <c:min val="0"/>
        </c:scaling>
        <c:delete val="0"/>
        <c:axPos val="l"/>
        <c:majorGridlines>
          <c:spPr>
            <a:ln xmlns:a="http://schemas.openxmlformats.org/drawingml/2006/main" w="9525">
              <a:solidFill>
                <a:srgbClr val="D8E1E8"/>
              </a:solidFill>
            </a:ln>
          </c:spPr>
        </c:majorGridlines>
        <c:title>
          <c:tx>
            <c:rich>
              <a:bodyPr xmlns:a="http://schemas.openxmlformats.org/drawingml/2006/main"/>
              <a:lstStyle xmlns:a="http://schemas.openxmlformats.org/drawingml/2006/main"/>
              <a:p xmlns:a="http://schemas.openxmlformats.org/drawingml/2006/main">
                <a:r>
                  <a:rPr sz="1650">
                    <a:solidFill>
                      <a:srgbClr val="1B2933"/>
                    </a:solidFill>
                    <a:latin typeface="Arial"/>
                    <a:ea typeface="Arial"/>
                    <a:cs typeface="Arial"/>
                  </a:rPr>
                  <a:t>Gap, percentage points</a:t>
                </a:r>
              </a:p>
            </c:rich>
          </c:tx>
          <c:overlay val="0"/>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Policies meeting this condition</c:v>
          </c:tx>
          <c:spPr>
            <a:solidFill xmlns:a="http://schemas.openxmlformats.org/drawingml/2006/main">
              <a:srgbClr val="1A638D"/>
            </a:solidFill>
            <a:ln xmlns:a="http://schemas.openxmlformats.org/drawingml/2006/main" w="28575">
              <a:solidFill>
                <a:srgbClr val="1A638D"/>
              </a:solidFill>
            </a:ln>
          </c:spPr>
          <c:invertIfNegative val="0"/>
          <c:cat>
            <c:strRef>
              <c:f>'Chart Data'!$A$2:$A$3</c:f>
              <c:strCache>
                <c:ptCount val="2"/>
                <c:pt idx="0">
                  <c:v>1-minute RV input</c:v>
                </c:pt>
                <c:pt idx="1">
                  <c:v>5-minute RV input</c:v>
                </c:pt>
              </c:strCache>
            </c:strRef>
          </c:cat>
          <c:val>
            <c:numRef>
              <c:f>'Chart Data'!$B$2:$B$3</c:f>
              <c:numCache>
                <c:formatCode>0</c:formatCode>
                <c:ptCount val="2"/>
                <c:pt idx="0">
                  <c:v>18</c:v>
                </c:pt>
                <c:pt idx="1">
                  <c:v>2</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650" b="1">
                  <a:solidFill>
                    <a:srgbClr val="173C55"/>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8294A0"/>
            </a:solidFill>
          </a:ln>
        </c:spPr>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crossAx val="48672768"/>
      </c:catAx>
      <c:valAx>
        <c:axId val="48672768"/>
        <c:scaling>
          <c:orientation val="minMax"/>
          <c:max val="27"/>
          <c:min val="0"/>
        </c:scaling>
        <c:delete val="0"/>
        <c:axPos val="l"/>
        <c:majorGridlines>
          <c:spPr>
            <a:ln xmlns:a="http://schemas.openxmlformats.org/drawingml/2006/main" w="9525">
              <a:solidFill>
                <a:srgbClr val="D8E1E8"/>
              </a:solidFill>
            </a:ln>
          </c:spPr>
        </c:majorGridlines>
        <c:title>
          <c:tx>
            <c:rich>
              <a:bodyPr xmlns:a="http://schemas.openxmlformats.org/drawingml/2006/main"/>
              <a:lstStyle xmlns:a="http://schemas.openxmlformats.org/drawingml/2006/main"/>
              <a:p xmlns:a="http://schemas.openxmlformats.org/drawingml/2006/main">
                <a:r>
                  <a:rPr sz="1650">
                    <a:solidFill>
                      <a:srgbClr val="1B2933"/>
                    </a:solidFill>
                    <a:latin typeface="Arial"/>
                    <a:ea typeface="Arial"/>
                    <a:cs typeface="Arial"/>
                  </a:rPr>
                  <a:t>Number of policies, out of 27</a:t>
                </a:r>
              </a:p>
            </c:rich>
          </c:tx>
          <c:overlay val="0"/>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Origins with gap ≥5pp</c:v>
          </c:tx>
          <c:spPr>
            <a:solidFill xmlns:a="http://schemas.openxmlformats.org/drawingml/2006/main">
              <a:srgbClr val="1A638D"/>
            </a:solidFill>
            <a:ln xmlns:a="http://schemas.openxmlformats.org/drawingml/2006/main" w="28575">
              <a:solidFill>
                <a:srgbClr val="1A638D"/>
              </a:solidFill>
            </a:ln>
          </c:spPr>
          <c:invertIfNegative val="0"/>
          <c:cat>
            <c:strRef>
              <c:f>'Chart Data'!$A$2:$A$6</c:f>
              <c:strCache>
                <c:ptCount val="5"/>
                <c:pt idx="0">
                  <c:v>SPY</c:v>
                </c:pt>
                <c:pt idx="1">
                  <c:v>QQQ</c:v>
                </c:pt>
                <c:pt idx="2">
                  <c:v>IWM</c:v>
                </c:pt>
                <c:pt idx="3">
                  <c:v>EFA</c:v>
                </c:pt>
                <c:pt idx="4">
                  <c:v>TLT</c:v>
                </c:pt>
              </c:strCache>
            </c:strRef>
          </c:cat>
          <c:val>
            <c:numRef>
              <c:f>'Chart Data'!$B$2:$B$6</c:f>
              <c:numCache>
                <c:formatCode>0</c:formatCode>
                <c:ptCount val="5"/>
                <c:pt idx="0">
                  <c:v>0</c:v>
                </c:pt>
                <c:pt idx="1">
                  <c:v>50</c:v>
                </c:pt>
                <c:pt idx="2">
                  <c:v>9</c:v>
                </c:pt>
                <c:pt idx="3">
                  <c:v>0</c:v>
                </c:pt>
                <c:pt idx="4">
                  <c:v>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650" b="1">
                  <a:solidFill>
                    <a:srgbClr val="173C55"/>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8294A0"/>
            </a:solidFill>
          </a:ln>
        </c:spPr>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crossAx val="48672768"/>
      </c:catAx>
      <c:valAx>
        <c:axId val="48672768"/>
        <c:scaling>
          <c:orientation val="minMax"/>
          <c:max val="60"/>
          <c:min val="0"/>
        </c:scaling>
        <c:delete val="0"/>
        <c:axPos val="l"/>
        <c:majorGridlines>
          <c:spPr>
            <a:ln xmlns:a="http://schemas.openxmlformats.org/drawingml/2006/main" w="9525">
              <a:solidFill>
                <a:srgbClr val="D8E1E8"/>
              </a:solidFill>
            </a:ln>
          </c:spPr>
        </c:majorGridlines>
        <c:title>
          <c:tx>
            <c:rich>
              <a:bodyPr xmlns:a="http://schemas.openxmlformats.org/drawingml/2006/main"/>
              <a:lstStyle xmlns:a="http://schemas.openxmlformats.org/drawingml/2006/main"/>
              <a:p xmlns:a="http://schemas.openxmlformats.org/drawingml/2006/main">
                <a:r>
                  <a:rPr sz="1650">
                    <a:solidFill>
                      <a:srgbClr val="1B2933"/>
                    </a:solidFill>
                    <a:latin typeface="Arial"/>
                    <a:ea typeface="Arial"/>
                    <a:cs typeface="Arial"/>
                  </a:rPr>
                  <a:t>Origins, out of 272</a:t>
                </a:r>
              </a:p>
            </c:rich>
          </c:tx>
          <c:overlay val="0"/>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absolute position gap</c:v>
          </c:tx>
          <c:spPr>
            <a:solidFill xmlns:a="http://schemas.openxmlformats.org/drawingml/2006/main">
              <a:srgbClr val="1A638D"/>
            </a:solidFill>
            <a:ln xmlns:a="http://schemas.openxmlformats.org/drawingml/2006/main" w="28575">
              <a:solidFill>
                <a:srgbClr val="1A638D"/>
              </a:solidFill>
            </a:ln>
          </c:spPr>
          <c:invertIfNegative val="0"/>
          <c:cat>
            <c:strRef>
              <c:f>'Chart Data'!$A$2:$A$3</c:f>
              <c:strCache>
                <c:ptCount val="2"/>
                <c:pt idx="0">
                  <c:v>Before cap</c:v>
                </c:pt>
                <c:pt idx="1">
                  <c:v>After cap</c:v>
                </c:pt>
              </c:strCache>
            </c:strRef>
          </c:cat>
          <c:val>
            <c:numRef>
              <c:f>'Chart Data'!$B$2:$B$3</c:f>
              <c:numCache>
                <c:formatCode>0.000</c:formatCode>
                <c:ptCount val="2"/>
                <c:pt idx="0">
                  <c:v>3.288490247839</c:v>
                </c:pt>
                <c:pt idx="1">
                  <c:v>0.01085413751079</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650" b="1">
                  <a:solidFill>
                    <a:srgbClr val="173C55"/>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8294A0"/>
            </a:solidFill>
          </a:ln>
        </c:spPr>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crossAx val="48672768"/>
      </c:catAx>
      <c:valAx>
        <c:axId val="48672768"/>
        <c:scaling>
          <c:orientation val="minMax"/>
          <c:max val="4"/>
          <c:min val="0"/>
        </c:scaling>
        <c:delete val="0"/>
        <c:axPos val="l"/>
        <c:majorGridlines>
          <c:spPr>
            <a:ln xmlns:a="http://schemas.openxmlformats.org/drawingml/2006/main" w="9525">
              <a:solidFill>
                <a:srgbClr val="D8E1E8"/>
              </a:solidFill>
            </a:ln>
          </c:spPr>
        </c:majorGridlines>
        <c:title>
          <c:tx>
            <c:rich>
              <a:bodyPr xmlns:a="http://schemas.openxmlformats.org/drawingml/2006/main"/>
              <a:lstStyle xmlns:a="http://schemas.openxmlformats.org/drawingml/2006/main"/>
              <a:p xmlns:a="http://schemas.openxmlformats.org/drawingml/2006/main">
                <a:r>
                  <a:rPr sz="1650">
                    <a:solidFill>
                      <a:srgbClr val="1B2933"/>
                    </a:solidFill>
                    <a:latin typeface="Arial"/>
                    <a:ea typeface="Arial"/>
                    <a:cs typeface="Arial"/>
                  </a:rPr>
                  <a:t>Gap, percentage points</a:t>
                </a:r>
              </a:p>
            </c:rich>
          </c:tx>
          <c:overlay val="0"/>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12DD960-98B4-444C-A181-96C047F2EFD7}"/>
              </a:ext>
            </a:extLst>
          </p:cNvPr>
          <p:cNvSpPr>
            <a:spLocks xmlns:a="http://schemas.openxmlformats.org/drawingml/2006/main" noGrp="1"/>
          </p:cNvSpPr>
          <p:nvPr/>
        </p:nvSpPr>
        <p:spPr>
          <a:xfrm xmlns:a="http://schemas.openxmlformats.org/drawingml/2006/main">
            <a:off x="666750" y="10477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800" b="1">
                <a:solidFill>
                  <a:srgbClr val="124F78"/>
                </a:solidFill>
                <a:latin typeface="Aptos"/>
                <a:ea typeface="Aptos"/>
                <a:cs typeface="Aptos"/>
              </a:defRPr>
            </a:defPPr>
            <a:lvl1pPr>
              <a:defRPr sz="4800" b="1">
                <a:solidFill>
                  <a:srgbClr val="124F78"/>
                </a:solidFill>
                <a:latin typeface="Aptos"/>
                <a:ea typeface="Aptos"/>
                <a:cs typeface="Aptos"/>
              </a:defRPr>
            </a:lvl1pPr>
            <a:lvl2pPr>
              <a:defRPr sz="4800" b="1">
                <a:solidFill>
                  <a:srgbClr val="124F78"/>
                </a:solidFill>
                <a:latin typeface="Aptos"/>
                <a:ea typeface="Aptos"/>
                <a:cs typeface="Aptos"/>
              </a:defRPr>
            </a:lvl2pPr>
            <a:lvl3pPr>
              <a:defRPr sz="4800" b="1">
                <a:solidFill>
                  <a:srgbClr val="124F78"/>
                </a:solidFill>
                <a:latin typeface="Aptos"/>
                <a:ea typeface="Aptos"/>
                <a:cs typeface="Aptos"/>
              </a:defRPr>
            </a:lvl3pPr>
            <a:lvl4pPr>
              <a:defRPr sz="4800" b="1">
                <a:solidFill>
                  <a:srgbClr val="124F78"/>
                </a:solidFill>
                <a:latin typeface="Aptos"/>
                <a:ea typeface="Aptos"/>
                <a:cs typeface="Aptos"/>
              </a:defRPr>
            </a:lvl4pPr>
            <a:lvl5pPr>
              <a:defRPr sz="4800" b="1">
                <a:solidFill>
                  <a:srgbClr val="124F78"/>
                </a:solidFill>
                <a:latin typeface="Aptos"/>
                <a:ea typeface="Aptos"/>
                <a:cs typeface="Aptos"/>
              </a:defRPr>
            </a:lvl5pPr>
            <a:lvl6pPr>
              <a:defRPr sz="4800" b="1">
                <a:solidFill>
                  <a:srgbClr val="124F78"/>
                </a:solidFill>
                <a:latin typeface="Aptos"/>
                <a:ea typeface="Aptos"/>
                <a:cs typeface="Aptos"/>
              </a:defRPr>
            </a:lvl6pPr>
            <a:lvl7pPr>
              <a:defRPr sz="4800" b="1">
                <a:solidFill>
                  <a:srgbClr val="124F78"/>
                </a:solidFill>
                <a:latin typeface="Aptos"/>
                <a:ea typeface="Aptos"/>
                <a:cs typeface="Aptos"/>
              </a:defRPr>
            </a:lvl7pPr>
            <a:lvl8pPr>
              <a:defRPr sz="4800" b="1">
                <a:solidFill>
                  <a:srgbClr val="124F78"/>
                </a:solidFill>
                <a:latin typeface="Aptos"/>
                <a:ea typeface="Aptos"/>
                <a:cs typeface="Aptos"/>
              </a:defRPr>
            </a:lvl8pPr>
            <a:lvl9pPr>
              <a:defRPr sz="4800" b="1">
                <a:solidFill>
                  <a:srgbClr val="124F78"/>
                </a:solidFill>
                <a:latin typeface="Aptos"/>
                <a:ea typeface="Aptos"/>
                <a:cs typeface="Aptos"/>
              </a:defRPr>
            </a:lvl9pPr>
          </a:lstStyle>
          <a:p xmlns:a="http://schemas.openxmlformats.org/drawingml/2006/main">
            <a:pPr>
              <a:defRPr sz="4800" b="1">
                <a:solidFill>
                  <a:srgbClr val="124F78"/>
                </a:solidFill>
                <a:latin typeface="Aptos"/>
                <a:ea typeface="Aptos"/>
                <a:cs typeface="Aptos"/>
              </a:defRPr>
            </a:pPr>
            <a:r>
              <a:rPr sz="4800" b="1">
                <a:solidFill>
                  <a:srgbClr val="124F78"/>
                </a:solidFill>
                <a:latin typeface="Aptos"/>
                <a:ea typeface="Aptos"/>
                <a:cs typeface="Aptos"/>
              </a:rPr>
              <a:t>Rough or Just Noisy?</a:t>
            </a:r>
          </a:p>
        </p:txBody>
      </p:sp>
      <p:sp>
        <p:nvSpPr>
          <p:cNvPr id="3" name="">
            <a:extLst xmlns:a="http://schemas.openxmlformats.org/drawingml/2006/main">
              <a:ext uri="{FF2B5EF4-FFF2-40B4-BE49-F238E27FC236}">
                <a16:creationId xmlns:a16="http://schemas.microsoft.com/office/drawing/2014/main" id="{83F9777B-706D-4EFB-BF91-835318F0D299}"/>
              </a:ext>
            </a:extLst>
          </p:cNvPr>
          <p:cNvSpPr>
            <a:spLocks xmlns:a="http://schemas.openxmlformats.org/drawingml/2006/main" noGrp="1"/>
          </p:cNvSpPr>
          <p:nvPr/>
        </p:nvSpPr>
        <p:spPr>
          <a:xfrm xmlns:a="http://schemas.openxmlformats.org/drawingml/2006/main">
            <a:off x="666750" y="2571750"/>
            <a:ext cx="106680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0">
                <a:solidFill>
                  <a:srgbClr val="1B2933"/>
                </a:solidFill>
                <a:latin typeface="Aptos"/>
                <a:ea typeface="Aptos"/>
                <a:cs typeface="Aptos"/>
              </a:defRPr>
            </a:defPPr>
            <a:lvl1pPr>
              <a:defRPr sz="2625" b="0">
                <a:solidFill>
                  <a:srgbClr val="1B2933"/>
                </a:solidFill>
                <a:latin typeface="Aptos"/>
                <a:ea typeface="Aptos"/>
                <a:cs typeface="Aptos"/>
              </a:defRPr>
            </a:lvl1pPr>
            <a:lvl2pPr>
              <a:defRPr sz="2625" b="0">
                <a:solidFill>
                  <a:srgbClr val="1B2933"/>
                </a:solidFill>
                <a:latin typeface="Aptos"/>
                <a:ea typeface="Aptos"/>
                <a:cs typeface="Aptos"/>
              </a:defRPr>
            </a:lvl2pPr>
            <a:lvl3pPr>
              <a:defRPr sz="2625" b="0">
                <a:solidFill>
                  <a:srgbClr val="1B2933"/>
                </a:solidFill>
                <a:latin typeface="Aptos"/>
                <a:ea typeface="Aptos"/>
                <a:cs typeface="Aptos"/>
              </a:defRPr>
            </a:lvl3pPr>
            <a:lvl4pPr>
              <a:defRPr sz="2625" b="0">
                <a:solidFill>
                  <a:srgbClr val="1B2933"/>
                </a:solidFill>
                <a:latin typeface="Aptos"/>
                <a:ea typeface="Aptos"/>
                <a:cs typeface="Aptos"/>
              </a:defRPr>
            </a:lvl4pPr>
            <a:lvl5pPr>
              <a:defRPr sz="2625" b="0">
                <a:solidFill>
                  <a:srgbClr val="1B2933"/>
                </a:solidFill>
                <a:latin typeface="Aptos"/>
                <a:ea typeface="Aptos"/>
                <a:cs typeface="Aptos"/>
              </a:defRPr>
            </a:lvl5pPr>
            <a:lvl6pPr>
              <a:defRPr sz="2625" b="0">
                <a:solidFill>
                  <a:srgbClr val="1B2933"/>
                </a:solidFill>
                <a:latin typeface="Aptos"/>
                <a:ea typeface="Aptos"/>
                <a:cs typeface="Aptos"/>
              </a:defRPr>
            </a:lvl6pPr>
            <a:lvl7pPr>
              <a:defRPr sz="2625" b="0">
                <a:solidFill>
                  <a:srgbClr val="1B2933"/>
                </a:solidFill>
                <a:latin typeface="Aptos"/>
                <a:ea typeface="Aptos"/>
                <a:cs typeface="Aptos"/>
              </a:defRPr>
            </a:lvl7pPr>
            <a:lvl8pPr>
              <a:defRPr sz="2625" b="0">
                <a:solidFill>
                  <a:srgbClr val="1B2933"/>
                </a:solidFill>
                <a:latin typeface="Aptos"/>
                <a:ea typeface="Aptos"/>
                <a:cs typeface="Aptos"/>
              </a:defRPr>
            </a:lvl8pPr>
            <a:lvl9pPr>
              <a:defRPr sz="2625" b="0">
                <a:solidFill>
                  <a:srgbClr val="1B2933"/>
                </a:solidFill>
                <a:latin typeface="Aptos"/>
                <a:ea typeface="Aptos"/>
                <a:cs typeface="Aptos"/>
              </a:defRPr>
            </a:lvl9pPr>
          </a:lstStyle>
          <a:p xmlns:a="http://schemas.openxmlformats.org/drawingml/2006/main">
            <a:pPr>
              <a:defRPr sz="2625" b="0">
                <a:solidFill>
                  <a:srgbClr val="1B2933"/>
                </a:solidFill>
                <a:latin typeface="Aptos"/>
                <a:ea typeface="Aptos"/>
                <a:cs typeface="Aptos"/>
              </a:defRPr>
            </a:pPr>
            <a:r>
              <a:rPr sz="2625" b="0">
                <a:solidFill>
                  <a:srgbClr val="1B2933"/>
                </a:solidFill>
                <a:latin typeface="Aptos"/>
                <a:ea typeface="Aptos"/>
                <a:cs typeface="Aptos"/>
              </a:rPr>
              <a:t>A lecture on measuring financial volatility</a:t>
            </a:r>
          </a:p>
          <a:p xmlns:a="http://schemas.openxmlformats.org/drawingml/2006/main">
            <a:pPr>
              <a:defRPr sz="2625" b="0">
                <a:solidFill>
                  <a:srgbClr val="1B2933"/>
                </a:solidFill>
                <a:latin typeface="Aptos"/>
                <a:ea typeface="Aptos"/>
                <a:cs typeface="Aptos"/>
              </a:defRPr>
            </a:pPr>
            <a:r>
              <a:rPr sz="2625" b="0">
                <a:solidFill>
                  <a:srgbClr val="1B2933"/>
                </a:solidFill>
                <a:latin typeface="Aptos"/>
                <a:ea typeface="Aptos"/>
                <a:cs typeface="Aptos"/>
              </a:rPr>
              <a:t>and checking how measurements affect an investment rule</a:t>
            </a:r>
          </a:p>
        </p:txBody>
      </p:sp>
      <p:sp>
        <p:nvSpPr>
          <p:cNvPr id="4" name="">
            <a:extLst xmlns:a="http://schemas.openxmlformats.org/drawingml/2006/main">
              <a:ext uri="{FF2B5EF4-FFF2-40B4-BE49-F238E27FC236}">
                <a16:creationId xmlns:a16="http://schemas.microsoft.com/office/drawing/2014/main" id="{FFF2AAA1-9550-4ECA-A061-9B8E15883488}"/>
              </a:ext>
            </a:extLst>
          </p:cNvPr>
          <p:cNvSpPr>
            <a:spLocks xmlns:a="http://schemas.openxmlformats.org/drawingml/2006/main" noGrp="1"/>
          </p:cNvSpPr>
          <p:nvPr/>
        </p:nvSpPr>
        <p:spPr>
          <a:xfrm xmlns:a="http://schemas.openxmlformats.org/drawingml/2006/main">
            <a:off x="666750" y="53340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B2933"/>
                </a:solidFill>
                <a:latin typeface="Aptos"/>
                <a:ea typeface="Aptos"/>
                <a:cs typeface="Aptos"/>
              </a:defRPr>
            </a:defPPr>
            <a:lvl1pPr>
              <a:defRPr sz="1800" b="0">
                <a:solidFill>
                  <a:srgbClr val="1B2933"/>
                </a:solidFill>
                <a:latin typeface="Aptos"/>
                <a:ea typeface="Aptos"/>
                <a:cs typeface="Aptos"/>
              </a:defRPr>
            </a:lvl1pPr>
            <a:lvl2pPr>
              <a:defRPr sz="1800" b="0">
                <a:solidFill>
                  <a:srgbClr val="1B2933"/>
                </a:solidFill>
                <a:latin typeface="Aptos"/>
                <a:ea typeface="Aptos"/>
                <a:cs typeface="Aptos"/>
              </a:defRPr>
            </a:lvl2pPr>
            <a:lvl3pPr>
              <a:defRPr sz="1800" b="0">
                <a:solidFill>
                  <a:srgbClr val="1B2933"/>
                </a:solidFill>
                <a:latin typeface="Aptos"/>
                <a:ea typeface="Aptos"/>
                <a:cs typeface="Aptos"/>
              </a:defRPr>
            </a:lvl3pPr>
            <a:lvl4pPr>
              <a:defRPr sz="1800" b="0">
                <a:solidFill>
                  <a:srgbClr val="1B2933"/>
                </a:solidFill>
                <a:latin typeface="Aptos"/>
                <a:ea typeface="Aptos"/>
                <a:cs typeface="Aptos"/>
              </a:defRPr>
            </a:lvl4pPr>
            <a:lvl5pPr>
              <a:defRPr sz="1800" b="0">
                <a:solidFill>
                  <a:srgbClr val="1B2933"/>
                </a:solidFill>
                <a:latin typeface="Aptos"/>
                <a:ea typeface="Aptos"/>
                <a:cs typeface="Aptos"/>
              </a:defRPr>
            </a:lvl5pPr>
            <a:lvl6pPr>
              <a:defRPr sz="1800" b="0">
                <a:solidFill>
                  <a:srgbClr val="1B2933"/>
                </a:solidFill>
                <a:latin typeface="Aptos"/>
                <a:ea typeface="Aptos"/>
                <a:cs typeface="Aptos"/>
              </a:defRPr>
            </a:lvl6pPr>
            <a:lvl7pPr>
              <a:defRPr sz="1800" b="0">
                <a:solidFill>
                  <a:srgbClr val="1B2933"/>
                </a:solidFill>
                <a:latin typeface="Aptos"/>
                <a:ea typeface="Aptos"/>
                <a:cs typeface="Aptos"/>
              </a:defRPr>
            </a:lvl7pPr>
            <a:lvl8pPr>
              <a:defRPr sz="1800" b="0">
                <a:solidFill>
                  <a:srgbClr val="1B2933"/>
                </a:solidFill>
                <a:latin typeface="Aptos"/>
                <a:ea typeface="Aptos"/>
                <a:cs typeface="Aptos"/>
              </a:defRPr>
            </a:lvl8pPr>
            <a:lvl9pPr>
              <a:defRPr sz="1800" b="0">
                <a:solidFill>
                  <a:srgbClr val="1B2933"/>
                </a:solidFill>
                <a:latin typeface="Aptos"/>
                <a:ea typeface="Aptos"/>
                <a:cs typeface="Aptos"/>
              </a:defRPr>
            </a:lvl9pPr>
          </a:lstStyle>
          <a:p xmlns:a="http://schemas.openxmlformats.org/drawingml/2006/main">
            <a:pPr>
              <a:defRPr sz="1800" b="0">
                <a:solidFill>
                  <a:srgbClr val="1B2933"/>
                </a:solidFill>
                <a:latin typeface="Aptos"/>
                <a:ea typeface="Aptos"/>
                <a:cs typeface="Aptos"/>
              </a:defRPr>
            </a:pPr>
            <a:r>
              <a:rPr sz="1800" b="0">
                <a:solidFill>
                  <a:srgbClr val="1B2933"/>
                </a:solidFill>
                <a:latin typeface="Aptos"/>
                <a:ea typeface="Aptos"/>
                <a:cs typeface="Aptos"/>
              </a:rPr>
              <a:t>Martin Valachy</a:t>
            </a:r>
          </a:p>
          <a:p xmlns:a="http://schemas.openxmlformats.org/drawingml/2006/main">
            <a:pPr>
              <a:defRPr sz="1800" b="0">
                <a:solidFill>
                  <a:srgbClr val="1B2933"/>
                </a:solidFill>
                <a:latin typeface="Aptos"/>
                <a:ea typeface="Aptos"/>
                <a:cs typeface="Aptos"/>
              </a:defRPr>
            </a:pPr>
            <a:r>
              <a:rPr sz="1800" b="0">
                <a:solidFill>
                  <a:srgbClr val="1B2933"/>
                </a:solidFill>
                <a:latin typeface="Aptos"/>
                <a:ea typeface="Aptos"/>
                <a:cs typeface="Aptos"/>
              </a:rPr>
              <a:t>The current working-paper study, explained step by step</a:t>
            </a:r>
          </a:p>
        </p:txBody>
      </p:sp>
    </p:spTree>
    <p:extLst>
      <p:ext uri="{BB962C8B-B14F-4D97-AF65-F5344CB8AC3E}">
        <p14:creationId xmlns:p14="http://schemas.microsoft.com/office/powerpoint/2010/main" val="163069525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C6D6562-6696-41CD-B712-EAAD0D68996B}"/>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1. Concepts and worked examples</a:t>
            </a:r>
          </a:p>
        </p:txBody>
      </p:sp>
      <p:sp>
        <p:nvSpPr>
          <p:cNvPr id="3" name="">
            <a:extLst xmlns:a="http://schemas.openxmlformats.org/drawingml/2006/main">
              <a:ext uri="{FF2B5EF4-FFF2-40B4-BE49-F238E27FC236}">
                <a16:creationId xmlns:a16="http://schemas.microsoft.com/office/drawing/2014/main" id="{54112D41-5297-4410-9B5A-985833EB9EFE}"/>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2. The question and the route through the lecture</a:t>
            </a:r>
          </a:p>
        </p:txBody>
      </p:sp>
      <p:sp>
        <p:nvSpPr>
          <p:cNvPr id="4" name="">
            <a:extLst xmlns:a="http://schemas.openxmlformats.org/drawingml/2006/main">
              <a:ext uri="{FF2B5EF4-FFF2-40B4-BE49-F238E27FC236}">
                <a16:creationId xmlns:a16="http://schemas.microsoft.com/office/drawing/2014/main" id="{16D6ADD6-37D8-4136-811D-519C0527BD51}"/>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Question: can different recordings of the same trades change a risk estimate and the amount a rule proposes investing?</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First we define the measurements. Then we explain the controlled comparison. Finally we interpret the findings and the checks.</a:t>
            </a:r>
          </a:p>
        </p:txBody>
      </p:sp>
      <p:sp>
        <p:nvSpPr>
          <p:cNvPr id="5" name="">
            <a:extLst xmlns:a="http://schemas.openxmlformats.org/drawingml/2006/main">
              <a:ext uri="{FF2B5EF4-FFF2-40B4-BE49-F238E27FC236}">
                <a16:creationId xmlns:a16="http://schemas.microsoft.com/office/drawing/2014/main" id="{A9CF1B2B-D343-4B31-8013-359F431A7624}"/>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r>
              <a:t/>
            </a:r>
          </a:p>
        </p:txBody>
      </p:sp>
    </p:spTree>
    <p:extLst>
      <p:ext uri="{BB962C8B-B14F-4D97-AF65-F5344CB8AC3E}">
        <p14:creationId xmlns:p14="http://schemas.microsoft.com/office/powerpoint/2010/main" val="111106829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FEB7579-1C06-4AF9-920D-41FC6D4FD60B}"/>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1. Concepts and worked examples</a:t>
            </a:r>
          </a:p>
        </p:txBody>
      </p:sp>
      <p:sp>
        <p:nvSpPr>
          <p:cNvPr id="3" name="">
            <a:extLst xmlns:a="http://schemas.openxmlformats.org/drawingml/2006/main">
              <a:ext uri="{FF2B5EF4-FFF2-40B4-BE49-F238E27FC236}">
                <a16:creationId xmlns:a16="http://schemas.microsoft.com/office/drawing/2014/main" id="{468A62F7-F51B-4CC7-9B86-B86601E7432A}"/>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3. Price changes, returns and percentages</a:t>
            </a:r>
          </a:p>
        </p:txBody>
      </p:sp>
      <p:sp>
        <p:nvSpPr>
          <p:cNvPr id="4" name="">
            <a:extLst xmlns:a="http://schemas.openxmlformats.org/drawingml/2006/main">
              <a:ext uri="{FF2B5EF4-FFF2-40B4-BE49-F238E27FC236}">
                <a16:creationId xmlns:a16="http://schemas.microsoft.com/office/drawing/2014/main" id="{FBBFD785-436A-4935-9A03-0ED09F45B81D}"/>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A return expresses a price change relative to its starting price.</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A price rising from 100 to 101 gives a simple return of 1%, which is 0.01 in decimal form. A fall gives a negative return.</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The paper uses log returns, a closely related transformation for relative price changes. The optional appendix gives its formula. We keep percentage and decimal units explicit.</a:t>
            </a:r>
          </a:p>
        </p:txBody>
      </p:sp>
      <p:sp>
        <p:nvSpPr>
          <p:cNvPr id="5" name="">
            <a:extLst xmlns:a="http://schemas.openxmlformats.org/drawingml/2006/main">
              <a:ext uri="{FF2B5EF4-FFF2-40B4-BE49-F238E27FC236}">
                <a16:creationId xmlns:a16="http://schemas.microsoft.com/office/drawing/2014/main" id="{4A16B930-4EFB-482D-8D72-ED7FDB25632B}"/>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A return describes a price change. It does not yet measure volatility.</a:t>
            </a:r>
          </a:p>
        </p:txBody>
      </p:sp>
    </p:spTree>
    <p:extLst>
      <p:ext uri="{BB962C8B-B14F-4D97-AF65-F5344CB8AC3E}">
        <p14:creationId xmlns:p14="http://schemas.microsoft.com/office/powerpoint/2010/main" val="22795401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58D5C1E-F6E2-4D67-9018-C1F59605B5D0}"/>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1. Concepts and worked examples</a:t>
            </a:r>
          </a:p>
        </p:txBody>
      </p:sp>
      <p:sp>
        <p:nvSpPr>
          <p:cNvPr id="3" name="">
            <a:extLst xmlns:a="http://schemas.openxmlformats.org/drawingml/2006/main">
              <a:ext uri="{FF2B5EF4-FFF2-40B4-BE49-F238E27FC236}">
                <a16:creationId xmlns:a16="http://schemas.microsoft.com/office/drawing/2014/main" id="{520B0372-9A25-4ECC-8953-73F2E270A2EE}"/>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4. Realized variance: a worked example</a:t>
            </a:r>
          </a:p>
        </p:txBody>
      </p:sp>
      <p:sp>
        <p:nvSpPr>
          <p:cNvPr id="4" name="">
            <a:extLst xmlns:a="http://schemas.openxmlformats.org/drawingml/2006/main">
              <a:ext uri="{FF2B5EF4-FFF2-40B4-BE49-F238E27FC236}">
                <a16:creationId xmlns:a16="http://schemas.microsoft.com/office/drawing/2014/main" id="{DBDBB486-A7BD-43B1-ABF1-4AC64E9599DE}"/>
              </a:ext>
            </a:extLst>
          </p:cNvPr>
          <p:cNvSpPr>
            <a:spLocks xmlns:a="http://schemas.openxmlformats.org/drawingml/2006/main" noGrp="1"/>
          </p:cNvSpPr>
          <p:nvPr/>
        </p:nvSpPr>
        <p:spPr>
          <a:xfrm xmlns:a="http://schemas.openxmlformats.org/drawingml/2006/main">
            <a:off x="590550" y="1809750"/>
            <a:ext cx="109537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B2933"/>
                </a:solidFill>
                <a:latin typeface="Aptos"/>
                <a:ea typeface="Aptos"/>
                <a:cs typeface="Aptos"/>
              </a:defRPr>
            </a:defPPr>
            <a:lvl1pPr>
              <a:defRPr sz="2025" b="0">
                <a:solidFill>
                  <a:srgbClr val="1B2933"/>
                </a:solidFill>
                <a:latin typeface="Aptos"/>
                <a:ea typeface="Aptos"/>
                <a:cs typeface="Aptos"/>
              </a:defRPr>
            </a:lvl1pPr>
            <a:lvl2pPr>
              <a:defRPr sz="2025" b="0">
                <a:solidFill>
                  <a:srgbClr val="1B2933"/>
                </a:solidFill>
                <a:latin typeface="Aptos"/>
                <a:ea typeface="Aptos"/>
                <a:cs typeface="Aptos"/>
              </a:defRPr>
            </a:lvl2pPr>
            <a:lvl3pPr>
              <a:defRPr sz="2025" b="0">
                <a:solidFill>
                  <a:srgbClr val="1B2933"/>
                </a:solidFill>
                <a:latin typeface="Aptos"/>
                <a:ea typeface="Aptos"/>
                <a:cs typeface="Aptos"/>
              </a:defRPr>
            </a:lvl3pPr>
            <a:lvl4pPr>
              <a:defRPr sz="2025" b="0">
                <a:solidFill>
                  <a:srgbClr val="1B2933"/>
                </a:solidFill>
                <a:latin typeface="Aptos"/>
                <a:ea typeface="Aptos"/>
                <a:cs typeface="Aptos"/>
              </a:defRPr>
            </a:lvl4pPr>
            <a:lvl5pPr>
              <a:defRPr sz="2025" b="0">
                <a:solidFill>
                  <a:srgbClr val="1B2933"/>
                </a:solidFill>
                <a:latin typeface="Aptos"/>
                <a:ea typeface="Aptos"/>
                <a:cs typeface="Aptos"/>
              </a:defRPr>
            </a:lvl5pPr>
            <a:lvl6pPr>
              <a:defRPr sz="2025" b="0">
                <a:solidFill>
                  <a:srgbClr val="1B2933"/>
                </a:solidFill>
                <a:latin typeface="Aptos"/>
                <a:ea typeface="Aptos"/>
                <a:cs typeface="Aptos"/>
              </a:defRPr>
            </a:lvl6pPr>
            <a:lvl7pPr>
              <a:defRPr sz="2025" b="0">
                <a:solidFill>
                  <a:srgbClr val="1B2933"/>
                </a:solidFill>
                <a:latin typeface="Aptos"/>
                <a:ea typeface="Aptos"/>
                <a:cs typeface="Aptos"/>
              </a:defRPr>
            </a:lvl7pPr>
            <a:lvl8pPr>
              <a:defRPr sz="2025" b="0">
                <a:solidFill>
                  <a:srgbClr val="1B2933"/>
                </a:solidFill>
                <a:latin typeface="Aptos"/>
                <a:ea typeface="Aptos"/>
                <a:cs typeface="Aptos"/>
              </a:defRPr>
            </a:lvl8pPr>
            <a:lvl9pPr>
              <a:defRPr sz="2025" b="0">
                <a:solidFill>
                  <a:srgbClr val="1B2933"/>
                </a:solidFill>
                <a:latin typeface="Aptos"/>
                <a:ea typeface="Aptos"/>
                <a:cs typeface="Aptos"/>
              </a:defRPr>
            </a:lvl9pPr>
          </a:lstStyle>
          <a:p xmlns:a="http://schemas.openxmlformats.org/drawingml/2006/main">
            <a:pPr>
              <a:defRPr sz="2025" b="0">
                <a:solidFill>
                  <a:srgbClr val="1B2933"/>
                </a:solidFill>
                <a:latin typeface="Aptos"/>
                <a:ea typeface="Aptos"/>
                <a:cs typeface="Aptos"/>
              </a:defRPr>
            </a:pPr>
            <a:r>
              <a:rPr sz="2025" b="0">
                <a:solidFill>
                  <a:srgbClr val="1B2933"/>
                </a:solidFill>
                <a:latin typeface="Aptos"/>
                <a:ea typeface="Aptos"/>
                <a:cs typeface="Aptos"/>
              </a:rPr>
              <a:t>Realized variance (RV) adds squared returns during a session. Squaring makes both upward and downward moves contribute positively.</a:t>
            </a:r>
          </a:p>
          <a:p xmlns:a="http://schemas.openxmlformats.org/drawingml/2006/main">
            <a:r>
              <a:t/>
            </a:r>
          </a:p>
          <a:p xmlns:a="http://schemas.openxmlformats.org/drawingml/2006/main">
            <a:pPr>
              <a:defRPr sz="2025" b="0">
                <a:solidFill>
                  <a:srgbClr val="1B2933"/>
                </a:solidFill>
                <a:latin typeface="Aptos"/>
                <a:ea typeface="Aptos"/>
                <a:cs typeface="Aptos"/>
              </a:defRPr>
            </a:pPr>
            <a:r>
              <a:rPr sz="2025" b="0">
                <a:solidFill>
                  <a:srgbClr val="1B2933"/>
                </a:solidFill>
                <a:latin typeface="Aptos"/>
                <a:ea typeface="Aptos"/>
                <a:cs typeface="Aptos"/>
              </a:rPr>
              <a:t>For this invented day, RV = 0.0001 + 0.0001 + 0.0004 = 0.0006.</a:t>
            </a:r>
          </a:p>
        </p:txBody>
      </p:sp>
      <p:graphicFrame>
        <p:nvGraphicFramePr>
          <p:cNvPr id="5" name="">
            <a:extLst xmlns:a="http://schemas.openxmlformats.org/drawingml/2006/main">
              <a:ext uri="{FF2B5EF4-FFF2-40B4-BE49-F238E27FC236}">
                <a16:creationId xmlns:a16="http://schemas.microsoft.com/office/drawing/2014/main" id="{06488ADE-24AA-47BE-958D-61E49A09D391}"/>
              </a:ext>
            </a:extLst>
          </p:cNvPr>
          <p:cNvGraphicFramePr/>
          <p:nvPr/>
        </p:nvGraphicFramePr>
        <p:xfrm>
          <a:off xmlns:a="http://schemas.openxmlformats.org/drawingml/2006/main" x="590550" y="3371850"/>
          <a:ext xmlns:a="http://schemas.openxmlformats.org/drawingml/2006/main" cx="10953750" cy="2171700"/>
        </p:xfrm>
        <a:graphic xmlns:a="http://schemas.openxmlformats.org/drawingml/2006/main">
          <a:graphicData uri="http://schemas.openxmlformats.org/drawingml/2006/table">
            <a:tbl>
              <a:tblPr/>
              <a:tblGrid>
                <a:gridCol w="3651250"/>
                <a:gridCol w="3651250"/>
                <a:gridCol w="3651250"/>
              </a:tblGrid>
              <a:tr h="542925">
                <a:tc>
                  <a:txBody>
                    <a:bodyPr/>
                    <a:lstStyle/>
                    <a:p>
                      <a:r>
                        <a:rPr sz="1800" b="1">
                          <a:solidFill>
                            <a:srgbClr val="1B2933"/>
                          </a:solidFill>
                          <a:latin typeface="Aptos"/>
                          <a:ea typeface="Aptos"/>
                          <a:cs typeface="Aptos"/>
                        </a:rPr>
                        <a:t>Assumed log return</a:t>
                      </a:r>
                    </a:p>
                  </a:txBody>
                  <a:tcPr marL="91440" marR="91440" marT="45720" marB="45720">
                    <a:solidFill>
                      <a:srgbClr val="E4EDF4"/>
                    </a:solidFill>
                  </a:tcPr>
                </a:tc>
                <a:tc>
                  <a:txBody>
                    <a:bodyPr/>
                    <a:lstStyle/>
                    <a:p>
                      <a:r>
                        <a:rPr sz="1800" b="1">
                          <a:solidFill>
                            <a:srgbClr val="1B2933"/>
                          </a:solidFill>
                          <a:latin typeface="Aptos"/>
                          <a:ea typeface="Aptos"/>
                          <a:cs typeface="Aptos"/>
                        </a:rPr>
                        <a:t>Decimal return</a:t>
                      </a:r>
                    </a:p>
                  </a:txBody>
                  <a:tcPr marL="91440" marR="91440" marT="45720" marB="45720">
                    <a:solidFill>
                      <a:srgbClr val="E4EDF4"/>
                    </a:solidFill>
                  </a:tcPr>
                </a:tc>
                <a:tc>
                  <a:txBody>
                    <a:bodyPr/>
                    <a:lstStyle/>
                    <a:p>
                      <a:r>
                        <a:rPr sz="1800" b="1">
                          <a:solidFill>
                            <a:srgbClr val="1B2933"/>
                          </a:solidFill>
                          <a:latin typeface="Aptos"/>
                          <a:ea typeface="Aptos"/>
                          <a:cs typeface="Aptos"/>
                        </a:rPr>
                        <a:t>Squared contribution</a:t>
                      </a:r>
                    </a:p>
                  </a:txBody>
                  <a:tcPr marL="91440" marR="91440" marT="45720" marB="45720">
                    <a:solidFill>
                      <a:srgbClr val="E4EDF4"/>
                    </a:solidFill>
                  </a:tcPr>
                </a:tc>
              </a:tr>
              <a:tr h="542925">
                <a:tc>
                  <a:txBody>
                    <a:bodyPr/>
                    <a:lstStyle/>
                    <a:p>
                      <a:r>
                        <a:rPr sz="1800" b="0">
                          <a:solidFill>
                            <a:srgbClr val="1B2933"/>
                          </a:solidFill>
                          <a:latin typeface="Aptos"/>
                          <a:ea typeface="Aptos"/>
                          <a:cs typeface="Aptos"/>
                        </a:rPr>
                        <a:t>+1%</a:t>
                      </a:r>
                    </a:p>
                  </a:txBody>
                  <a:tcPr marL="91440" marR="91440" marT="45720" marB="45720">
                    <a:solidFill>
                      <a:srgbClr val="FFFFFF"/>
                    </a:solidFill>
                  </a:tcPr>
                </a:tc>
                <a:tc>
                  <a:txBody>
                    <a:bodyPr/>
                    <a:lstStyle/>
                    <a:p>
                      <a:r>
                        <a:rPr sz="1800" b="0">
                          <a:solidFill>
                            <a:srgbClr val="1B2933"/>
                          </a:solidFill>
                          <a:latin typeface="Aptos"/>
                          <a:ea typeface="Aptos"/>
                          <a:cs typeface="Aptos"/>
                        </a:rPr>
                        <a:t>0.01</a:t>
                      </a:r>
                    </a:p>
                  </a:txBody>
                  <a:tcPr marL="91440" marR="91440" marT="45720" marB="45720">
                    <a:solidFill>
                      <a:srgbClr val="FFFFFF"/>
                    </a:solidFill>
                  </a:tcPr>
                </a:tc>
                <a:tc>
                  <a:txBody>
                    <a:bodyPr/>
                    <a:lstStyle/>
                    <a:p>
                      <a:r>
                        <a:rPr sz="1800" b="0">
                          <a:solidFill>
                            <a:srgbClr val="1B2933"/>
                          </a:solidFill>
                          <a:latin typeface="Aptos"/>
                          <a:ea typeface="Aptos"/>
                          <a:cs typeface="Aptos"/>
                        </a:rPr>
                        <a:t>0.0001</a:t>
                      </a:r>
                    </a:p>
                  </a:txBody>
                  <a:tcPr marL="91440" marR="91440" marT="45720" marB="45720">
                    <a:solidFill>
                      <a:srgbClr val="FFFFFF"/>
                    </a:solidFill>
                  </a:tcPr>
                </a:tc>
              </a:tr>
              <a:tr h="542925">
                <a:tc>
                  <a:txBody>
                    <a:bodyPr/>
                    <a:lstStyle/>
                    <a:p>
                      <a:r>
                        <a:rPr sz="1800" b="0">
                          <a:solidFill>
                            <a:srgbClr val="1B2933"/>
                          </a:solidFill>
                          <a:latin typeface="Aptos"/>
                          <a:ea typeface="Aptos"/>
                          <a:cs typeface="Aptos"/>
                        </a:rPr>
                        <a:t>−1%</a:t>
                      </a:r>
                    </a:p>
                  </a:txBody>
                  <a:tcPr marL="91440" marR="91440" marT="45720" marB="45720">
                    <a:solidFill>
                      <a:srgbClr val="F3F6F8"/>
                    </a:solidFill>
                  </a:tcPr>
                </a:tc>
                <a:tc>
                  <a:txBody>
                    <a:bodyPr/>
                    <a:lstStyle/>
                    <a:p>
                      <a:r>
                        <a:rPr sz="1800" b="0">
                          <a:solidFill>
                            <a:srgbClr val="1B2933"/>
                          </a:solidFill>
                          <a:latin typeface="Aptos"/>
                          <a:ea typeface="Aptos"/>
                          <a:cs typeface="Aptos"/>
                        </a:rPr>
                        <a:t>−0.01</a:t>
                      </a:r>
                    </a:p>
                  </a:txBody>
                  <a:tcPr marL="91440" marR="91440" marT="45720" marB="45720">
                    <a:solidFill>
                      <a:srgbClr val="F3F6F8"/>
                    </a:solidFill>
                  </a:tcPr>
                </a:tc>
                <a:tc>
                  <a:txBody>
                    <a:bodyPr/>
                    <a:lstStyle/>
                    <a:p>
                      <a:r>
                        <a:rPr sz="1800" b="0">
                          <a:solidFill>
                            <a:srgbClr val="1B2933"/>
                          </a:solidFill>
                          <a:latin typeface="Aptos"/>
                          <a:ea typeface="Aptos"/>
                          <a:cs typeface="Aptos"/>
                        </a:rPr>
                        <a:t>0.0001</a:t>
                      </a:r>
                    </a:p>
                  </a:txBody>
                  <a:tcPr marL="91440" marR="91440" marT="45720" marB="45720">
                    <a:solidFill>
                      <a:srgbClr val="F3F6F8"/>
                    </a:solidFill>
                  </a:tcPr>
                </a:tc>
              </a:tr>
              <a:tr h="542925">
                <a:tc>
                  <a:txBody>
                    <a:bodyPr/>
                    <a:lstStyle/>
                    <a:p>
                      <a:r>
                        <a:rPr sz="1800" b="0">
                          <a:solidFill>
                            <a:srgbClr val="1B2933"/>
                          </a:solidFill>
                          <a:latin typeface="Aptos"/>
                          <a:ea typeface="Aptos"/>
                          <a:cs typeface="Aptos"/>
                        </a:rPr>
                        <a:t>+2%</a:t>
                      </a:r>
                    </a:p>
                  </a:txBody>
                  <a:tcPr marL="91440" marR="91440" marT="45720" marB="45720">
                    <a:solidFill>
                      <a:srgbClr val="FFFFFF"/>
                    </a:solidFill>
                  </a:tcPr>
                </a:tc>
                <a:tc>
                  <a:txBody>
                    <a:bodyPr/>
                    <a:lstStyle/>
                    <a:p>
                      <a:r>
                        <a:rPr sz="1800" b="0">
                          <a:solidFill>
                            <a:srgbClr val="1B2933"/>
                          </a:solidFill>
                          <a:latin typeface="Aptos"/>
                          <a:ea typeface="Aptos"/>
                          <a:cs typeface="Aptos"/>
                        </a:rPr>
                        <a:t>0.02</a:t>
                      </a:r>
                    </a:p>
                  </a:txBody>
                  <a:tcPr marL="91440" marR="91440" marT="45720" marB="45720">
                    <a:solidFill>
                      <a:srgbClr val="FFFFFF"/>
                    </a:solidFill>
                  </a:tcPr>
                </a:tc>
                <a:tc>
                  <a:txBody>
                    <a:bodyPr/>
                    <a:lstStyle/>
                    <a:p>
                      <a:r>
                        <a:rPr sz="1800" b="0">
                          <a:solidFill>
                            <a:srgbClr val="1B2933"/>
                          </a:solidFill>
                          <a:latin typeface="Aptos"/>
                          <a:ea typeface="Aptos"/>
                          <a:cs typeface="Aptos"/>
                        </a:rPr>
                        <a:t>0.0004</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B17E0E23-8C5E-41B4-B341-17CECCF230B8}"/>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A session is the exchange’s open-to-close period. This invented day has three intervals and contains no market observations.</a:t>
            </a:r>
          </a:p>
        </p:txBody>
      </p:sp>
    </p:spTree>
    <p:extLst>
      <p:ext uri="{BB962C8B-B14F-4D97-AF65-F5344CB8AC3E}">
        <p14:creationId xmlns:p14="http://schemas.microsoft.com/office/powerpoint/2010/main" val="49801795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A0A3591-B5FD-4871-9ED6-7E6B5BC34484}"/>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1. Concepts and worked examples</a:t>
            </a:r>
          </a:p>
        </p:txBody>
      </p:sp>
      <p:sp>
        <p:nvSpPr>
          <p:cNvPr id="3" name="">
            <a:extLst xmlns:a="http://schemas.openxmlformats.org/drawingml/2006/main">
              <a:ext uri="{FF2B5EF4-FFF2-40B4-BE49-F238E27FC236}">
                <a16:creationId xmlns:a16="http://schemas.microsoft.com/office/drawing/2014/main" id="{1F35B12F-0B8B-4EF0-A12A-A5C737A3EF3F}"/>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5. Variance and volatility use different scales</a:t>
            </a:r>
          </a:p>
        </p:txBody>
      </p:sp>
      <p:sp>
        <p:nvSpPr>
          <p:cNvPr id="4" name="">
            <a:extLst xmlns:a="http://schemas.openxmlformats.org/drawingml/2006/main">
              <a:ext uri="{FF2B5EF4-FFF2-40B4-BE49-F238E27FC236}">
                <a16:creationId xmlns:a16="http://schemas.microsoft.com/office/drawing/2014/main" id="{EBE5A975-5A20-4393-9065-283D0FD6F512}"/>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Variance uses squared-return units. Volatility uses the original return scale.</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Taking the square root converts the example’s variance into volatility:</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√0.0006 ≈ 0.0245 = 2.45%.</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This describes movement during the invented session. It is not the session’s return or a prediction of profit.</a:t>
            </a:r>
          </a:p>
        </p:txBody>
      </p:sp>
      <p:sp>
        <p:nvSpPr>
          <p:cNvPr id="5" name="">
            <a:extLst xmlns:a="http://schemas.openxmlformats.org/drawingml/2006/main">
              <a:ext uri="{FF2B5EF4-FFF2-40B4-BE49-F238E27FC236}">
                <a16:creationId xmlns:a16="http://schemas.microsoft.com/office/drawing/2014/main" id="{9E018742-AA61-489F-A2BE-438AC14CD771}"/>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The paper usually reports RV itself, so its numerical values are variances.</a:t>
            </a:r>
          </a:p>
        </p:txBody>
      </p:sp>
    </p:spTree>
    <p:extLst>
      <p:ext uri="{BB962C8B-B14F-4D97-AF65-F5344CB8AC3E}">
        <p14:creationId xmlns:p14="http://schemas.microsoft.com/office/powerpoint/2010/main" val="16591262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3EC88CB-9A1F-484C-9F75-73424C07BBFB}"/>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1. Concepts and worked examples</a:t>
            </a:r>
          </a:p>
        </p:txBody>
      </p:sp>
      <p:sp>
        <p:nvSpPr>
          <p:cNvPr id="3" name="">
            <a:extLst xmlns:a="http://schemas.openxmlformats.org/drawingml/2006/main">
              <a:ext uri="{FF2B5EF4-FFF2-40B4-BE49-F238E27FC236}">
                <a16:creationId xmlns:a16="http://schemas.microsoft.com/office/drawing/2014/main" id="{0701A4F2-9250-4FBF-891C-6F92A28A39C4}"/>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6. Quarticity gives extra weight to large moves</a:t>
            </a:r>
          </a:p>
        </p:txBody>
      </p:sp>
      <p:sp>
        <p:nvSpPr>
          <p:cNvPr id="4" name="">
            <a:extLst xmlns:a="http://schemas.openxmlformats.org/drawingml/2006/main">
              <a:ext uri="{FF2B5EF4-FFF2-40B4-BE49-F238E27FC236}">
                <a16:creationId xmlns:a16="http://schemas.microsoft.com/office/drawing/2014/main" id="{2AB843AD-731C-4A8B-AC7B-2FEBCFD04773}"/>
              </a:ext>
            </a:extLst>
          </p:cNvPr>
          <p:cNvSpPr>
            <a:spLocks xmlns:a="http://schemas.openxmlformats.org/drawingml/2006/main" noGrp="1"/>
          </p:cNvSpPr>
          <p:nvPr/>
        </p:nvSpPr>
        <p:spPr>
          <a:xfrm xmlns:a="http://schemas.openxmlformats.org/drawingml/2006/main">
            <a:off x="590550" y="1809750"/>
            <a:ext cx="1095375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B2933"/>
                </a:solidFill>
                <a:latin typeface="Aptos"/>
                <a:ea typeface="Aptos"/>
                <a:cs typeface="Aptos"/>
              </a:defRPr>
            </a:defPPr>
            <a:lvl1pPr>
              <a:defRPr sz="2025" b="0">
                <a:solidFill>
                  <a:srgbClr val="1B2933"/>
                </a:solidFill>
                <a:latin typeface="Aptos"/>
                <a:ea typeface="Aptos"/>
                <a:cs typeface="Aptos"/>
              </a:defRPr>
            </a:lvl1pPr>
            <a:lvl2pPr>
              <a:defRPr sz="2025" b="0">
                <a:solidFill>
                  <a:srgbClr val="1B2933"/>
                </a:solidFill>
                <a:latin typeface="Aptos"/>
                <a:ea typeface="Aptos"/>
                <a:cs typeface="Aptos"/>
              </a:defRPr>
            </a:lvl2pPr>
            <a:lvl3pPr>
              <a:defRPr sz="2025" b="0">
                <a:solidFill>
                  <a:srgbClr val="1B2933"/>
                </a:solidFill>
                <a:latin typeface="Aptos"/>
                <a:ea typeface="Aptos"/>
                <a:cs typeface="Aptos"/>
              </a:defRPr>
            </a:lvl3pPr>
            <a:lvl4pPr>
              <a:defRPr sz="2025" b="0">
                <a:solidFill>
                  <a:srgbClr val="1B2933"/>
                </a:solidFill>
                <a:latin typeface="Aptos"/>
                <a:ea typeface="Aptos"/>
                <a:cs typeface="Aptos"/>
              </a:defRPr>
            </a:lvl4pPr>
            <a:lvl5pPr>
              <a:defRPr sz="2025" b="0">
                <a:solidFill>
                  <a:srgbClr val="1B2933"/>
                </a:solidFill>
                <a:latin typeface="Aptos"/>
                <a:ea typeface="Aptos"/>
                <a:cs typeface="Aptos"/>
              </a:defRPr>
            </a:lvl5pPr>
            <a:lvl6pPr>
              <a:defRPr sz="2025" b="0">
                <a:solidFill>
                  <a:srgbClr val="1B2933"/>
                </a:solidFill>
                <a:latin typeface="Aptos"/>
                <a:ea typeface="Aptos"/>
                <a:cs typeface="Aptos"/>
              </a:defRPr>
            </a:lvl6pPr>
            <a:lvl7pPr>
              <a:defRPr sz="2025" b="0">
                <a:solidFill>
                  <a:srgbClr val="1B2933"/>
                </a:solidFill>
                <a:latin typeface="Aptos"/>
                <a:ea typeface="Aptos"/>
                <a:cs typeface="Aptos"/>
              </a:defRPr>
            </a:lvl7pPr>
            <a:lvl8pPr>
              <a:defRPr sz="2025" b="0">
                <a:solidFill>
                  <a:srgbClr val="1B2933"/>
                </a:solidFill>
                <a:latin typeface="Aptos"/>
                <a:ea typeface="Aptos"/>
                <a:cs typeface="Aptos"/>
              </a:defRPr>
            </a:lvl8pPr>
            <a:lvl9pPr>
              <a:defRPr sz="2025" b="0">
                <a:solidFill>
                  <a:srgbClr val="1B2933"/>
                </a:solidFill>
                <a:latin typeface="Aptos"/>
                <a:ea typeface="Aptos"/>
                <a:cs typeface="Aptos"/>
              </a:defRPr>
            </a:lvl9pPr>
          </a:lstStyle>
          <a:p xmlns:a="http://schemas.openxmlformats.org/drawingml/2006/main">
            <a:pPr>
              <a:defRPr sz="2025" b="0">
                <a:solidFill>
                  <a:srgbClr val="1B2933"/>
                </a:solidFill>
                <a:latin typeface="Aptos"/>
                <a:ea typeface="Aptos"/>
                <a:cs typeface="Aptos"/>
              </a:defRPr>
            </a:pPr>
            <a:r>
              <a:rPr sz="2025" b="0">
                <a:solidFill>
                  <a:srgbClr val="1B2933"/>
                </a:solidFill>
                <a:latin typeface="Aptos"/>
                <a:ea typeface="Aptos"/>
                <a:cs typeface="Aptos"/>
              </a:rPr>
              <a:t>Realized quarticity (RQ) uses fourth powers of returns. It is a second diagnostic, especially sensitive to large increments.</a:t>
            </a:r>
          </a:p>
          <a:p xmlns:a="http://schemas.openxmlformats.org/drawingml/2006/main">
            <a:r>
              <a:t/>
            </a:r>
          </a:p>
          <a:p xmlns:a="http://schemas.openxmlformats.org/drawingml/2006/main">
            <a:pPr>
              <a:defRPr sz="2025" b="0">
                <a:solidFill>
                  <a:srgbClr val="1B2933"/>
                </a:solidFill>
                <a:latin typeface="Aptos"/>
                <a:ea typeface="Aptos"/>
                <a:cs typeface="Aptos"/>
              </a:defRPr>
            </a:pPr>
            <a:r>
              <a:rPr sz="2025" b="0">
                <a:solidFill>
                  <a:srgbClr val="1B2933"/>
                </a:solidFill>
                <a:latin typeface="Aptos"/>
                <a:ea typeface="Aptos"/>
                <a:cs typeface="Aptos"/>
              </a:rPr>
              <a:t>RQ equals the sum of fourth-power returns multiplied by M/3. M is the actual number of sampled return intervals in that session.</a:t>
            </a:r>
          </a:p>
        </p:txBody>
      </p:sp>
      <p:graphicFrame>
        <p:nvGraphicFramePr>
          <p:cNvPr id="5" name="">
            <a:extLst xmlns:a="http://schemas.openxmlformats.org/drawingml/2006/main">
              <a:ext uri="{FF2B5EF4-FFF2-40B4-BE49-F238E27FC236}">
                <a16:creationId xmlns:a16="http://schemas.microsoft.com/office/drawing/2014/main" id="{BB216933-4380-4996-8370-4062D9058539}"/>
              </a:ext>
            </a:extLst>
          </p:cNvPr>
          <p:cNvGraphicFramePr/>
          <p:nvPr/>
        </p:nvGraphicFramePr>
        <p:xfrm>
          <a:off xmlns:a="http://schemas.openxmlformats.org/drawingml/2006/main" x="590550" y="3695700"/>
          <a:ext xmlns:a="http://schemas.openxmlformats.org/drawingml/2006/main" cx="10953750" cy="2171700"/>
        </p:xfrm>
        <a:graphic xmlns:a="http://schemas.openxmlformats.org/drawingml/2006/main">
          <a:graphicData uri="http://schemas.openxmlformats.org/drawingml/2006/table">
            <a:tbl>
              <a:tblPr/>
              <a:tblGrid>
                <a:gridCol w="3651250"/>
                <a:gridCol w="3651250"/>
                <a:gridCol w="3651250"/>
              </a:tblGrid>
              <a:tr h="542925">
                <a:tc>
                  <a:txBody>
                    <a:bodyPr/>
                    <a:lstStyle/>
                    <a:p>
                      <a:r>
                        <a:rPr sz="1800" b="1">
                          <a:solidFill>
                            <a:srgbClr val="1B2933"/>
                          </a:solidFill>
                          <a:latin typeface="Aptos"/>
                          <a:ea typeface="Aptos"/>
                          <a:cs typeface="Aptos"/>
                        </a:rPr>
                        <a:t>Relative move size</a:t>
                      </a:r>
                    </a:p>
                  </a:txBody>
                  <a:tcPr marL="91440" marR="91440" marT="45720" marB="45720">
                    <a:solidFill>
                      <a:srgbClr val="E4EDF4"/>
                    </a:solidFill>
                  </a:tcPr>
                </a:tc>
                <a:tc>
                  <a:txBody>
                    <a:bodyPr/>
                    <a:lstStyle/>
                    <a:p>
                      <a:r>
                        <a:rPr sz="1800" b="1">
                          <a:solidFill>
                            <a:srgbClr val="1B2933"/>
                          </a:solidFill>
                          <a:latin typeface="Aptos"/>
                          <a:ea typeface="Aptos"/>
                          <a:cs typeface="Aptos"/>
                        </a:rPr>
                        <a:t>Squared contribution</a:t>
                      </a:r>
                    </a:p>
                  </a:txBody>
                  <a:tcPr marL="91440" marR="91440" marT="45720" marB="45720">
                    <a:solidFill>
                      <a:srgbClr val="E4EDF4"/>
                    </a:solidFill>
                  </a:tcPr>
                </a:tc>
                <a:tc>
                  <a:txBody>
                    <a:bodyPr/>
                    <a:lstStyle/>
                    <a:p>
                      <a:r>
                        <a:rPr sz="1800" b="1">
                          <a:solidFill>
                            <a:srgbClr val="1B2933"/>
                          </a:solidFill>
                          <a:latin typeface="Aptos"/>
                          <a:ea typeface="Aptos"/>
                          <a:cs typeface="Aptos"/>
                        </a:rPr>
                        <a:t>Fourth-power contribution</a:t>
                      </a:r>
                    </a:p>
                  </a:txBody>
                  <a:tcPr marL="91440" marR="91440" marT="45720" marB="45720">
                    <a:solidFill>
                      <a:srgbClr val="E4EDF4"/>
                    </a:solidFill>
                  </a:tcPr>
                </a:tc>
              </a:tr>
              <a:tr h="542925">
                <a:tc>
                  <a:txBody>
                    <a:bodyPr/>
                    <a:lstStyle/>
                    <a:p>
                      <a:r>
                        <a:rPr sz="1800" b="0">
                          <a:solidFill>
                            <a:srgbClr val="1B2933"/>
                          </a:solidFill>
                          <a:latin typeface="Aptos"/>
                          <a:ea typeface="Aptos"/>
                          <a:cs typeface="Aptos"/>
                        </a:rPr>
                        <a:t>1</a:t>
                      </a:r>
                    </a:p>
                  </a:txBody>
                  <a:tcPr marL="91440" marR="91440" marT="45720" marB="45720">
                    <a:solidFill>
                      <a:srgbClr val="FFFFFF"/>
                    </a:solidFill>
                  </a:tcPr>
                </a:tc>
                <a:tc>
                  <a:txBody>
                    <a:bodyPr/>
                    <a:lstStyle/>
                    <a:p>
                      <a:r>
                        <a:rPr sz="1800" b="0">
                          <a:solidFill>
                            <a:srgbClr val="1B2933"/>
                          </a:solidFill>
                          <a:latin typeface="Aptos"/>
                          <a:ea typeface="Aptos"/>
                          <a:cs typeface="Aptos"/>
                        </a:rPr>
                        <a:t>1</a:t>
                      </a:r>
                    </a:p>
                  </a:txBody>
                  <a:tcPr marL="91440" marR="91440" marT="45720" marB="45720">
                    <a:solidFill>
                      <a:srgbClr val="FFFFFF"/>
                    </a:solidFill>
                  </a:tcPr>
                </a:tc>
                <a:tc>
                  <a:txBody>
                    <a:bodyPr/>
                    <a:lstStyle/>
                    <a:p>
                      <a:r>
                        <a:rPr sz="1800" b="0">
                          <a:solidFill>
                            <a:srgbClr val="1B2933"/>
                          </a:solidFill>
                          <a:latin typeface="Aptos"/>
                          <a:ea typeface="Aptos"/>
                          <a:cs typeface="Aptos"/>
                        </a:rPr>
                        <a:t>1</a:t>
                      </a:r>
                    </a:p>
                  </a:txBody>
                  <a:tcPr marL="91440" marR="91440" marT="45720" marB="45720">
                    <a:solidFill>
                      <a:srgbClr val="FFFFFF"/>
                    </a:solidFill>
                  </a:tcPr>
                </a:tc>
              </a:tr>
              <a:tr h="542925">
                <a:tc>
                  <a:txBody>
                    <a:bodyPr/>
                    <a:lstStyle/>
                    <a:p>
                      <a:r>
                        <a:rPr sz="1800" b="0">
                          <a:solidFill>
                            <a:srgbClr val="1B2933"/>
                          </a:solidFill>
                          <a:latin typeface="Aptos"/>
                          <a:ea typeface="Aptos"/>
                          <a:cs typeface="Aptos"/>
                        </a:rPr>
                        <a:t>2</a:t>
                      </a:r>
                    </a:p>
                  </a:txBody>
                  <a:tcPr marL="91440" marR="91440" marT="45720" marB="45720">
                    <a:solidFill>
                      <a:srgbClr val="F3F6F8"/>
                    </a:solidFill>
                  </a:tcPr>
                </a:tc>
                <a:tc>
                  <a:txBody>
                    <a:bodyPr/>
                    <a:lstStyle/>
                    <a:p>
                      <a:r>
                        <a:rPr sz="1800" b="0">
                          <a:solidFill>
                            <a:srgbClr val="1B2933"/>
                          </a:solidFill>
                          <a:latin typeface="Aptos"/>
                          <a:ea typeface="Aptos"/>
                          <a:cs typeface="Aptos"/>
                        </a:rPr>
                        <a:t>4</a:t>
                      </a:r>
                    </a:p>
                  </a:txBody>
                  <a:tcPr marL="91440" marR="91440" marT="45720" marB="45720">
                    <a:solidFill>
                      <a:srgbClr val="F3F6F8"/>
                    </a:solidFill>
                  </a:tcPr>
                </a:tc>
                <a:tc>
                  <a:txBody>
                    <a:bodyPr/>
                    <a:lstStyle/>
                    <a:p>
                      <a:r>
                        <a:rPr sz="1800" b="0">
                          <a:solidFill>
                            <a:srgbClr val="1B2933"/>
                          </a:solidFill>
                          <a:latin typeface="Aptos"/>
                          <a:ea typeface="Aptos"/>
                          <a:cs typeface="Aptos"/>
                        </a:rPr>
                        <a:t>16</a:t>
                      </a:r>
                    </a:p>
                  </a:txBody>
                  <a:tcPr marL="91440" marR="91440" marT="45720" marB="45720">
                    <a:solidFill>
                      <a:srgbClr val="F3F6F8"/>
                    </a:solidFill>
                  </a:tcPr>
                </a:tc>
              </a:tr>
              <a:tr h="542925">
                <a:tc>
                  <a:txBody>
                    <a:bodyPr/>
                    <a:lstStyle/>
                    <a:p>
                      <a:r>
                        <a:rPr sz="1800" b="0">
                          <a:solidFill>
                            <a:srgbClr val="1B2933"/>
                          </a:solidFill>
                          <a:latin typeface="Aptos"/>
                          <a:ea typeface="Aptos"/>
                          <a:cs typeface="Aptos"/>
                        </a:rPr>
                        <a:t>4</a:t>
                      </a:r>
                    </a:p>
                  </a:txBody>
                  <a:tcPr marL="91440" marR="91440" marT="45720" marB="45720">
                    <a:solidFill>
                      <a:srgbClr val="FFFFFF"/>
                    </a:solidFill>
                  </a:tcPr>
                </a:tc>
                <a:tc>
                  <a:txBody>
                    <a:bodyPr/>
                    <a:lstStyle/>
                    <a:p>
                      <a:r>
                        <a:rPr sz="1800" b="0">
                          <a:solidFill>
                            <a:srgbClr val="1B2933"/>
                          </a:solidFill>
                          <a:latin typeface="Aptos"/>
                          <a:ea typeface="Aptos"/>
                          <a:cs typeface="Aptos"/>
                        </a:rPr>
                        <a:t>16</a:t>
                      </a:r>
                    </a:p>
                  </a:txBody>
                  <a:tcPr marL="91440" marR="91440" marT="45720" marB="45720">
                    <a:solidFill>
                      <a:srgbClr val="FFFFFF"/>
                    </a:solidFill>
                  </a:tcPr>
                </a:tc>
                <a:tc>
                  <a:txBody>
                    <a:bodyPr/>
                    <a:lstStyle/>
                    <a:p>
                      <a:r>
                        <a:rPr sz="1800" b="0">
                          <a:solidFill>
                            <a:srgbClr val="1B2933"/>
                          </a:solidFill>
                          <a:latin typeface="Aptos"/>
                          <a:ea typeface="Aptos"/>
                          <a:cs typeface="Aptos"/>
                        </a:rPr>
                        <a:t>256</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84ABCAAB-D8E8-497B-85DA-84B4B260C0D0}"/>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Invented unitless comparison. RQ is not a return or an investment gain.</a:t>
            </a:r>
          </a:p>
        </p:txBody>
      </p:sp>
    </p:spTree>
    <p:extLst>
      <p:ext uri="{BB962C8B-B14F-4D97-AF65-F5344CB8AC3E}">
        <p14:creationId xmlns:p14="http://schemas.microsoft.com/office/powerpoint/2010/main" val="6973571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5AD2F9D-4A20-41AD-B24B-E13F2E516608}"/>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1. Concepts and worked examples</a:t>
            </a:r>
          </a:p>
        </p:txBody>
      </p:sp>
      <p:sp>
        <p:nvSpPr>
          <p:cNvPr id="3" name="">
            <a:extLst xmlns:a="http://schemas.openxmlformats.org/drawingml/2006/main">
              <a:ext uri="{FF2B5EF4-FFF2-40B4-BE49-F238E27FC236}">
                <a16:creationId xmlns:a16="http://schemas.microsoft.com/office/drawing/2014/main" id="{A4DD3961-326E-4244-B0BF-B435EB82B5EF}"/>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7. Sampling interval: when we record the price</a:t>
            </a:r>
          </a:p>
        </p:txBody>
      </p:sp>
      <p:sp>
        <p:nvSpPr>
          <p:cNvPr id="4" name="">
            <a:extLst xmlns:a="http://schemas.openxmlformats.org/drawingml/2006/main">
              <a:ext uri="{FF2B5EF4-FFF2-40B4-BE49-F238E27FC236}">
                <a16:creationId xmlns:a16="http://schemas.microsoft.com/office/drawing/2014/main" id="{D99EEBF6-D148-44CE-BC3B-921C7CAB725A}"/>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A sampling interval is the time gap between prices used in the calculation.</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A 1-minute grid uses 09:30, 09:31, 09:32 and so on. A 5-minute grid uses 09:30, 09:35, 09:40 and so on.</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The study compares six fixed intervals, from 15 seconds to 30 minutes.</a:t>
            </a:r>
          </a:p>
        </p:txBody>
      </p:sp>
      <p:sp>
        <p:nvSpPr>
          <p:cNvPr id="5" name="">
            <a:extLst xmlns:a="http://schemas.openxmlformats.org/drawingml/2006/main">
              <a:ext uri="{FF2B5EF4-FFF2-40B4-BE49-F238E27FC236}">
                <a16:creationId xmlns:a16="http://schemas.microsoft.com/office/drawing/2014/main" id="{5AA88F78-52E1-4BBE-8842-AC779043F35B}"/>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“Grid” means this schedule of observation times.</a:t>
            </a:r>
          </a:p>
        </p:txBody>
      </p:sp>
    </p:spTree>
    <p:extLst>
      <p:ext uri="{BB962C8B-B14F-4D97-AF65-F5344CB8AC3E}">
        <p14:creationId xmlns:p14="http://schemas.microsoft.com/office/powerpoint/2010/main" val="189495474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CDD0064-3B1F-429D-9B8E-333141BE8536}"/>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1. Concepts and worked examples</a:t>
            </a:r>
          </a:p>
        </p:txBody>
      </p:sp>
      <p:sp>
        <p:nvSpPr>
          <p:cNvPr id="3" name="">
            <a:extLst xmlns:a="http://schemas.openxmlformats.org/drawingml/2006/main">
              <a:ext uri="{FF2B5EF4-FFF2-40B4-BE49-F238E27FC236}">
                <a16:creationId xmlns:a16="http://schemas.microsoft.com/office/drawing/2014/main" id="{985E5588-64A8-4136-97B1-D195E2CC3226}"/>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8. A coarser grid can miss a movement</a:t>
            </a:r>
          </a:p>
        </p:txBody>
      </p:sp>
      <p:sp>
        <p:nvSpPr>
          <p:cNvPr id="4" name="">
            <a:extLst xmlns:a="http://schemas.openxmlformats.org/drawingml/2006/main">
              <a:ext uri="{FF2B5EF4-FFF2-40B4-BE49-F238E27FC236}">
                <a16:creationId xmlns:a16="http://schemas.microsoft.com/office/drawing/2014/main" id="{B8FF498B-832A-4D78-A3A9-B840B08E7229}"/>
              </a:ext>
            </a:extLst>
          </p:cNvPr>
          <p:cNvSpPr>
            <a:spLocks xmlns:a="http://schemas.openxmlformats.org/drawingml/2006/main" noGrp="1"/>
          </p:cNvSpPr>
          <p:nvPr/>
        </p:nvSpPr>
        <p:spPr>
          <a:xfrm xmlns:a="http://schemas.openxmlformats.org/drawingml/2006/main">
            <a:off x="590550" y="1866900"/>
            <a:ext cx="4429125"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B2933"/>
                </a:solidFill>
                <a:latin typeface="Aptos"/>
                <a:ea typeface="Aptos"/>
                <a:cs typeface="Aptos"/>
              </a:defRPr>
            </a:defPPr>
            <a:lvl1pPr>
              <a:defRPr sz="1950" b="0">
                <a:solidFill>
                  <a:srgbClr val="1B2933"/>
                </a:solidFill>
                <a:latin typeface="Aptos"/>
                <a:ea typeface="Aptos"/>
                <a:cs typeface="Aptos"/>
              </a:defRPr>
            </a:lvl1pPr>
            <a:lvl2pPr>
              <a:defRPr sz="1950" b="0">
                <a:solidFill>
                  <a:srgbClr val="1B2933"/>
                </a:solidFill>
                <a:latin typeface="Aptos"/>
                <a:ea typeface="Aptos"/>
                <a:cs typeface="Aptos"/>
              </a:defRPr>
            </a:lvl2pPr>
            <a:lvl3pPr>
              <a:defRPr sz="1950" b="0">
                <a:solidFill>
                  <a:srgbClr val="1B2933"/>
                </a:solidFill>
                <a:latin typeface="Aptos"/>
                <a:ea typeface="Aptos"/>
                <a:cs typeface="Aptos"/>
              </a:defRPr>
            </a:lvl3pPr>
            <a:lvl4pPr>
              <a:defRPr sz="1950" b="0">
                <a:solidFill>
                  <a:srgbClr val="1B2933"/>
                </a:solidFill>
                <a:latin typeface="Aptos"/>
                <a:ea typeface="Aptos"/>
                <a:cs typeface="Aptos"/>
              </a:defRPr>
            </a:lvl4pPr>
            <a:lvl5pPr>
              <a:defRPr sz="1950" b="0">
                <a:solidFill>
                  <a:srgbClr val="1B2933"/>
                </a:solidFill>
                <a:latin typeface="Aptos"/>
                <a:ea typeface="Aptos"/>
                <a:cs typeface="Aptos"/>
              </a:defRPr>
            </a:lvl5pPr>
            <a:lvl6pPr>
              <a:defRPr sz="1950" b="0">
                <a:solidFill>
                  <a:srgbClr val="1B2933"/>
                </a:solidFill>
                <a:latin typeface="Aptos"/>
                <a:ea typeface="Aptos"/>
                <a:cs typeface="Aptos"/>
              </a:defRPr>
            </a:lvl6pPr>
            <a:lvl7pPr>
              <a:defRPr sz="1950" b="0">
                <a:solidFill>
                  <a:srgbClr val="1B2933"/>
                </a:solidFill>
                <a:latin typeface="Aptos"/>
                <a:ea typeface="Aptos"/>
                <a:cs typeface="Aptos"/>
              </a:defRPr>
            </a:lvl7pPr>
            <a:lvl8pPr>
              <a:defRPr sz="1950" b="0">
                <a:solidFill>
                  <a:srgbClr val="1B2933"/>
                </a:solidFill>
                <a:latin typeface="Aptos"/>
                <a:ea typeface="Aptos"/>
                <a:cs typeface="Aptos"/>
              </a:defRPr>
            </a:lvl8pPr>
            <a:lvl9pPr>
              <a:defRPr sz="1950" b="0">
                <a:solidFill>
                  <a:srgbClr val="1B2933"/>
                </a:solidFill>
                <a:latin typeface="Aptos"/>
                <a:ea typeface="Aptos"/>
                <a:cs typeface="Aptos"/>
              </a:defRPr>
            </a:lvl9pPr>
          </a:lstStyle>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This invented price rises and returns to 100 within five minutes.</a:t>
            </a:r>
          </a:p>
          <a:p xmlns:a="http://schemas.openxmlformats.org/drawingml/2006/main">
            <a:r>
              <a:t/>
            </a:r>
          </a:p>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A 1-minute calculation sees the movement. A 5-minute calculation using only the first and last points sees no change in this example.</a:t>
            </a:r>
          </a:p>
        </p:txBody>
      </p:sp>
      <p:graphicFrame>
        <p:nvGraphicFramePr>
          <p:cNvPr id="5" name="Chart">
            <a:extLst xmlns:a="http://schemas.openxmlformats.org/drawingml/2006/main">
              <a:ext uri="{FF2B5EF4-FFF2-40B4-BE49-F238E27FC236}">
                <a16:creationId xmlns:a16="http://schemas.microsoft.com/office/drawing/2014/main" id="{8A26AD8D-3D53-4D73-B526-663B0E55217F}"/>
              </a:ext>
            </a:extLst>
          </p:cNvPr>
          <p:cNvGraphicFramePr/>
          <p:nvPr/>
        </p:nvGraphicFramePr>
        <p:xfrm>
          <a:off xmlns:a="http://schemas.openxmlformats.org/drawingml/2006/main" x="5286375" y="1762125"/>
          <a:ext xmlns:a="http://schemas.openxmlformats.org/drawingml/2006/main" cx="6334125" cy="3857625"/>
        </p:xfrm>
        <a:graphic xmlns:a="http://schemas.openxmlformats.org/drawingml/2006/main">
          <a:graphicData uri="http://schemas.openxmlformats.org/drawingml/2006/chart">
            <c:chart xmlns:r="http://schemas.openxmlformats.org/officeDocument/2006/relationships" xmlns:c="http://schemas.openxmlformats.org/drawingml/2006/chart" r:id="Rde9a9d1734da43e9"/>
          </a:graphicData>
        </a:graphic>
      </p:graphicFrame>
      <p:sp>
        <p:nvSpPr>
          <p:cNvPr id="6" name="">
            <a:extLst xmlns:a="http://schemas.openxmlformats.org/drawingml/2006/main">
              <a:ext uri="{FF2B5EF4-FFF2-40B4-BE49-F238E27FC236}">
                <a16:creationId xmlns:a16="http://schemas.microsoft.com/office/drawing/2014/main" id="{4626AB6A-1E99-4E17-B2A4-4AF10874C2FE}"/>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The horizontal axis is clock time. The vertical axis is the invented price.</a:t>
            </a:r>
          </a:p>
        </p:txBody>
      </p:sp>
    </p:spTree>
    <p:extLst>
      <p:ext uri="{BB962C8B-B14F-4D97-AF65-F5344CB8AC3E}">
        <p14:creationId xmlns:p14="http://schemas.microsoft.com/office/powerpoint/2010/main" val="202580610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2700F56-FAC6-4BAF-8F9E-946ED1BD4DAF}"/>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1. Concepts and worked examples</a:t>
            </a:r>
          </a:p>
        </p:txBody>
      </p:sp>
      <p:sp>
        <p:nvSpPr>
          <p:cNvPr id="3" name="">
            <a:extLst xmlns:a="http://schemas.openxmlformats.org/drawingml/2006/main">
              <a:ext uri="{FF2B5EF4-FFF2-40B4-BE49-F238E27FC236}">
                <a16:creationId xmlns:a16="http://schemas.microsoft.com/office/drawing/2014/main" id="{395E3119-3B1E-4193-9340-624B0B867104}"/>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9. Hidden volatility and an observed estimate</a:t>
            </a:r>
          </a:p>
        </p:txBody>
      </p:sp>
      <p:sp>
        <p:nvSpPr>
          <p:cNvPr id="4" name="">
            <a:extLst xmlns:a="http://schemas.openxmlformats.org/drawingml/2006/main">
              <a:ext uri="{FF2B5EF4-FFF2-40B4-BE49-F238E27FC236}">
                <a16:creationId xmlns:a16="http://schemas.microsoft.com/office/drawing/2014/main" id="{DF4294AA-E2EE-450A-B0EA-E0F156E28398}"/>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True volatility is not directly recorded in the trade file. The paper calls this hidden quantity latent volatility.</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RV is an estimate constructed from recorded prices.</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A change in the estimate may reflect a change in hidden volatility, a change in observation quality, or both.</a:t>
            </a:r>
          </a:p>
        </p:txBody>
      </p:sp>
      <p:sp>
        <p:nvSpPr>
          <p:cNvPr id="5" name="">
            <a:extLst xmlns:a="http://schemas.openxmlformats.org/drawingml/2006/main">
              <a:ext uri="{FF2B5EF4-FFF2-40B4-BE49-F238E27FC236}">
                <a16:creationId xmlns:a16="http://schemas.microsoft.com/office/drawing/2014/main" id="{7F84FAAD-BD43-4889-BD13-9F8DCC157612}"/>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A reference data source is a comparison point, not certified truth.</a:t>
            </a:r>
          </a:p>
        </p:txBody>
      </p:sp>
    </p:spTree>
    <p:extLst>
      <p:ext uri="{BB962C8B-B14F-4D97-AF65-F5344CB8AC3E}">
        <p14:creationId xmlns:p14="http://schemas.microsoft.com/office/powerpoint/2010/main" val="174327907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FE91752-C1A9-4019-AEA7-46D785D515F0}"/>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1. Concepts and worked examples</a:t>
            </a:r>
          </a:p>
        </p:txBody>
      </p:sp>
      <p:sp>
        <p:nvSpPr>
          <p:cNvPr id="3" name="">
            <a:extLst xmlns:a="http://schemas.openxmlformats.org/drawingml/2006/main">
              <a:ext uri="{FF2B5EF4-FFF2-40B4-BE49-F238E27FC236}">
                <a16:creationId xmlns:a16="http://schemas.microsoft.com/office/drawing/2014/main" id="{16C75F4F-7E29-4A7B-95AE-50D5BBCEA8CF}"/>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10. Roughness concerns changes in volatility itself</a:t>
            </a:r>
          </a:p>
        </p:txBody>
      </p:sp>
      <p:sp>
        <p:nvSpPr>
          <p:cNvPr id="4" name="">
            <a:extLst xmlns:a="http://schemas.openxmlformats.org/drawingml/2006/main">
              <a:ext uri="{FF2B5EF4-FFF2-40B4-BE49-F238E27FC236}">
                <a16:creationId xmlns:a16="http://schemas.microsoft.com/office/drawing/2014/main" id="{F042D35A-79C4-482E-831D-FFF82EC235F5}"/>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There are two levels: prices move, and the volatility of those movements can also change.</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Roughness describes how irregularly volatility itself changes across short time scales.</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A visually jagged price chart does not identify mathematical roughness. The paper compares relative changes in daily RV by applying a logarithm, written log RV.</a:t>
            </a:r>
          </a:p>
        </p:txBody>
      </p:sp>
      <p:sp>
        <p:nvSpPr>
          <p:cNvPr id="5" name="">
            <a:extLst xmlns:a="http://schemas.openxmlformats.org/drawingml/2006/main">
              <a:ext uri="{FF2B5EF4-FFF2-40B4-BE49-F238E27FC236}">
                <a16:creationId xmlns:a16="http://schemas.microsoft.com/office/drawing/2014/main" id="{48909F97-153E-4A93-BC84-DD385238A64B}"/>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The next slide explains what that statistic compares.</a:t>
            </a:r>
          </a:p>
        </p:txBody>
      </p:sp>
    </p:spTree>
    <p:extLst>
      <p:ext uri="{BB962C8B-B14F-4D97-AF65-F5344CB8AC3E}">
        <p14:creationId xmlns:p14="http://schemas.microsoft.com/office/powerpoint/2010/main" val="208459642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AB11501-9890-4221-9AB7-BB114FE7A6F7}"/>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1. Concepts and worked examples</a:t>
            </a:r>
          </a:p>
        </p:txBody>
      </p:sp>
      <p:sp>
        <p:nvSpPr>
          <p:cNvPr id="3" name="">
            <a:extLst xmlns:a="http://schemas.openxmlformats.org/drawingml/2006/main">
              <a:ext uri="{FF2B5EF4-FFF2-40B4-BE49-F238E27FC236}">
                <a16:creationId xmlns:a16="http://schemas.microsoft.com/office/drawing/2014/main" id="{FE4EAB75-D6BE-4EE2-BED1-D765DC7CA19F}"/>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11. H-tilde summarizes change across day gaps</a:t>
            </a:r>
          </a:p>
        </p:txBody>
      </p:sp>
      <p:sp>
        <p:nvSpPr>
          <p:cNvPr id="4" name="">
            <a:extLst xmlns:a="http://schemas.openxmlformats.org/drawingml/2006/main">
              <a:ext uri="{FF2B5EF4-FFF2-40B4-BE49-F238E27FC236}">
                <a16:creationId xmlns:a16="http://schemas.microsoft.com/office/drawing/2014/main" id="{42CA4AB1-D18B-47F5-83A9-445D47AE7E62}"/>
              </a:ext>
            </a:extLst>
          </p:cNvPr>
          <p:cNvSpPr>
            <a:spLocks xmlns:a="http://schemas.openxmlformats.org/drawingml/2006/main" noGrp="1"/>
          </p:cNvSpPr>
          <p:nvPr/>
        </p:nvSpPr>
        <p:spPr>
          <a:xfrm xmlns:a="http://schemas.openxmlformats.org/drawingml/2006/main">
            <a:off x="590550" y="1809750"/>
            <a:ext cx="1095375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B2933"/>
                </a:solidFill>
                <a:latin typeface="Aptos"/>
                <a:ea typeface="Aptos"/>
                <a:cs typeface="Aptos"/>
              </a:defRPr>
            </a:defPPr>
            <a:lvl1pPr>
              <a:defRPr sz="2025" b="0">
                <a:solidFill>
                  <a:srgbClr val="1B2933"/>
                </a:solidFill>
                <a:latin typeface="Aptos"/>
                <a:ea typeface="Aptos"/>
                <a:cs typeface="Aptos"/>
              </a:defRPr>
            </a:lvl1pPr>
            <a:lvl2pPr>
              <a:defRPr sz="2025" b="0">
                <a:solidFill>
                  <a:srgbClr val="1B2933"/>
                </a:solidFill>
                <a:latin typeface="Aptos"/>
                <a:ea typeface="Aptos"/>
                <a:cs typeface="Aptos"/>
              </a:defRPr>
            </a:lvl2pPr>
            <a:lvl3pPr>
              <a:defRPr sz="2025" b="0">
                <a:solidFill>
                  <a:srgbClr val="1B2933"/>
                </a:solidFill>
                <a:latin typeface="Aptos"/>
                <a:ea typeface="Aptos"/>
                <a:cs typeface="Aptos"/>
              </a:defRPr>
            </a:lvl3pPr>
            <a:lvl4pPr>
              <a:defRPr sz="2025" b="0">
                <a:solidFill>
                  <a:srgbClr val="1B2933"/>
                </a:solidFill>
                <a:latin typeface="Aptos"/>
                <a:ea typeface="Aptos"/>
                <a:cs typeface="Aptos"/>
              </a:defRPr>
            </a:lvl4pPr>
            <a:lvl5pPr>
              <a:defRPr sz="2025" b="0">
                <a:solidFill>
                  <a:srgbClr val="1B2933"/>
                </a:solidFill>
                <a:latin typeface="Aptos"/>
                <a:ea typeface="Aptos"/>
                <a:cs typeface="Aptos"/>
              </a:defRPr>
            </a:lvl5pPr>
            <a:lvl6pPr>
              <a:defRPr sz="2025" b="0">
                <a:solidFill>
                  <a:srgbClr val="1B2933"/>
                </a:solidFill>
                <a:latin typeface="Aptos"/>
                <a:ea typeface="Aptos"/>
                <a:cs typeface="Aptos"/>
              </a:defRPr>
            </a:lvl6pPr>
            <a:lvl7pPr>
              <a:defRPr sz="2025" b="0">
                <a:solidFill>
                  <a:srgbClr val="1B2933"/>
                </a:solidFill>
                <a:latin typeface="Aptos"/>
                <a:ea typeface="Aptos"/>
                <a:cs typeface="Aptos"/>
              </a:defRPr>
            </a:lvl7pPr>
            <a:lvl8pPr>
              <a:defRPr sz="2025" b="0">
                <a:solidFill>
                  <a:srgbClr val="1B2933"/>
                </a:solidFill>
                <a:latin typeface="Aptos"/>
                <a:ea typeface="Aptos"/>
                <a:cs typeface="Aptos"/>
              </a:defRPr>
            </a:lvl8pPr>
            <a:lvl9pPr>
              <a:defRPr sz="2025" b="0">
                <a:solidFill>
                  <a:srgbClr val="1B2933"/>
                </a:solidFill>
                <a:latin typeface="Aptos"/>
                <a:ea typeface="Aptos"/>
                <a:cs typeface="Aptos"/>
              </a:defRPr>
            </a:lvl9pPr>
          </a:lstStyle>
          <a:p xmlns:a="http://schemas.openxmlformats.org/drawingml/2006/main">
            <a:pPr>
              <a:defRPr sz="2025" b="0">
                <a:solidFill>
                  <a:srgbClr val="1B2933"/>
                </a:solidFill>
                <a:latin typeface="Aptos"/>
                <a:ea typeface="Aptos"/>
                <a:cs typeface="Aptos"/>
              </a:defRPr>
            </a:pPr>
            <a:r>
              <a:rPr sz="2025" b="0">
                <a:solidFill>
                  <a:srgbClr val="1B2933"/>
                </a:solidFill>
                <a:latin typeface="Aptos"/>
                <a:ea typeface="Aptos"/>
                <a:cs typeface="Aptos"/>
              </a:rPr>
              <a:t>A lag is a gap between sessions: lag 1 compares neighboring sessions; lag 2 separates them by two.</a:t>
            </a:r>
          </a:p>
          <a:p xmlns:a="http://schemas.openxmlformats.org/drawingml/2006/main">
            <a:r>
              <a:t/>
            </a:r>
          </a:p>
          <a:p xmlns:a="http://schemas.openxmlformats.org/drawingml/2006/main">
            <a:pPr>
              <a:defRPr sz="2025" b="0">
                <a:solidFill>
                  <a:srgbClr val="1B2933"/>
                </a:solidFill>
                <a:latin typeface="Aptos"/>
                <a:ea typeface="Aptos"/>
                <a:cs typeface="Aptos"/>
              </a:defRPr>
            </a:pPr>
            <a:r>
              <a:rPr sz="2025" b="0">
                <a:solidFill>
                  <a:srgbClr val="1B2933"/>
                </a:solidFill>
                <a:latin typeface="Aptos"/>
                <a:ea typeface="Aptos"/>
                <a:cs typeface="Aptos"/>
              </a:rPr>
              <a:t>H-tilde summarizes how average squared changes in log RV grow with that gap, using lags 1–10 here. It is unitless: 0.15 does not mean 15% volatility.</a:t>
            </a:r>
          </a:p>
        </p:txBody>
      </p:sp>
      <p:graphicFrame>
        <p:nvGraphicFramePr>
          <p:cNvPr id="5" name="">
            <a:extLst xmlns:a="http://schemas.openxmlformats.org/drawingml/2006/main">
              <a:ext uri="{FF2B5EF4-FFF2-40B4-BE49-F238E27FC236}">
                <a16:creationId xmlns:a16="http://schemas.microsoft.com/office/drawing/2014/main" id="{58A2B72B-5889-4CE0-9107-BA110D014B24}"/>
              </a:ext>
            </a:extLst>
          </p:cNvPr>
          <p:cNvGraphicFramePr/>
          <p:nvPr/>
        </p:nvGraphicFramePr>
        <p:xfrm>
          <a:off xmlns:a="http://schemas.openxmlformats.org/drawingml/2006/main" x="590550" y="3695700"/>
          <a:ext xmlns:a="http://schemas.openxmlformats.org/drawingml/2006/main" cx="10953750" cy="2171700"/>
        </p:xfrm>
        <a:graphic xmlns:a="http://schemas.openxmlformats.org/drawingml/2006/main">
          <a:graphicData uri="http://schemas.openxmlformats.org/drawingml/2006/table">
            <a:tbl>
              <a:tblPr/>
              <a:tblGrid>
                <a:gridCol w="3651250"/>
                <a:gridCol w="3651250"/>
                <a:gridCol w="3651250"/>
              </a:tblGrid>
              <a:tr h="542925">
                <a:tc>
                  <a:txBody>
                    <a:bodyPr/>
                    <a:lstStyle/>
                    <a:p>
                      <a:r>
                        <a:rPr sz="1800" b="1">
                          <a:solidFill>
                            <a:srgbClr val="1B2933"/>
                          </a:solidFill>
                          <a:latin typeface="Aptos"/>
                          <a:ea typeface="Aptos"/>
                          <a:cs typeface="Aptos"/>
                        </a:rPr>
                        <a:t>Mean squared change (invented)</a:t>
                      </a:r>
                    </a:p>
                  </a:txBody>
                  <a:tcPr marL="91440" marR="91440" marT="45720" marB="45720">
                    <a:solidFill>
                      <a:srgbClr val="E4EDF4"/>
                    </a:solidFill>
                  </a:tcPr>
                </a:tc>
                <a:tc>
                  <a:txBody>
                    <a:bodyPr/>
                    <a:lstStyle/>
                    <a:p>
                      <a:r>
                        <a:rPr sz="1800" b="1">
                          <a:solidFill>
                            <a:srgbClr val="1B2933"/>
                          </a:solidFill>
                          <a:latin typeface="Aptos"/>
                          <a:ea typeface="Aptos"/>
                          <a:cs typeface="Aptos"/>
                        </a:rPr>
                        <a:t>Example A</a:t>
                      </a:r>
                    </a:p>
                  </a:txBody>
                  <a:tcPr marL="91440" marR="91440" marT="45720" marB="45720">
                    <a:solidFill>
                      <a:srgbClr val="E4EDF4"/>
                    </a:solidFill>
                  </a:tcPr>
                </a:tc>
                <a:tc>
                  <a:txBody>
                    <a:bodyPr/>
                    <a:lstStyle/>
                    <a:p>
                      <a:r>
                        <a:rPr sz="1800" b="1">
                          <a:solidFill>
                            <a:srgbClr val="1B2933"/>
                          </a:solidFill>
                          <a:latin typeface="Aptos"/>
                          <a:ea typeface="Aptos"/>
                          <a:cs typeface="Aptos"/>
                        </a:rPr>
                        <a:t>Example B</a:t>
                      </a:r>
                    </a:p>
                  </a:txBody>
                  <a:tcPr marL="91440" marR="91440" marT="45720" marB="45720">
                    <a:solidFill>
                      <a:srgbClr val="E4EDF4"/>
                    </a:solidFill>
                  </a:tcPr>
                </a:tc>
              </a:tr>
              <a:tr h="542925">
                <a:tc>
                  <a:txBody>
                    <a:bodyPr/>
                    <a:lstStyle/>
                    <a:p>
                      <a:r>
                        <a:rPr sz="1800" b="0">
                          <a:solidFill>
                            <a:srgbClr val="1B2933"/>
                          </a:solidFill>
                          <a:latin typeface="Aptos"/>
                          <a:ea typeface="Aptos"/>
                          <a:cs typeface="Aptos"/>
                        </a:rPr>
                        <a:t>At a 1-session gap</a:t>
                      </a:r>
                    </a:p>
                  </a:txBody>
                  <a:tcPr marL="91440" marR="91440" marT="45720" marB="45720">
                    <a:solidFill>
                      <a:srgbClr val="FFFFFF"/>
                    </a:solidFill>
                  </a:tcPr>
                </a:tc>
                <a:tc>
                  <a:txBody>
                    <a:bodyPr/>
                    <a:lstStyle/>
                    <a:p>
                      <a:r>
                        <a:rPr sz="1800" b="0">
                          <a:solidFill>
                            <a:srgbClr val="1B2933"/>
                          </a:solidFill>
                          <a:latin typeface="Aptos"/>
                          <a:ea typeface="Aptos"/>
                          <a:cs typeface="Aptos"/>
                        </a:rPr>
                        <a:t>10</a:t>
                      </a:r>
                    </a:p>
                  </a:txBody>
                  <a:tcPr marL="91440" marR="91440" marT="45720" marB="45720">
                    <a:solidFill>
                      <a:srgbClr val="FFFFFF"/>
                    </a:solidFill>
                  </a:tcPr>
                </a:tc>
                <a:tc>
                  <a:txBody>
                    <a:bodyPr/>
                    <a:lstStyle/>
                    <a:p>
                      <a:r>
                        <a:rPr sz="1800" b="0">
                          <a:solidFill>
                            <a:srgbClr val="1B2933"/>
                          </a:solidFill>
                          <a:latin typeface="Aptos"/>
                          <a:ea typeface="Aptos"/>
                          <a:cs typeface="Aptos"/>
                        </a:rPr>
                        <a:t>10</a:t>
                      </a:r>
                    </a:p>
                  </a:txBody>
                  <a:tcPr marL="91440" marR="91440" marT="45720" marB="45720">
                    <a:solidFill>
                      <a:srgbClr val="FFFFFF"/>
                    </a:solidFill>
                  </a:tcPr>
                </a:tc>
              </a:tr>
              <a:tr h="542925">
                <a:tc>
                  <a:txBody>
                    <a:bodyPr/>
                    <a:lstStyle/>
                    <a:p>
                      <a:r>
                        <a:rPr sz="1800" b="0">
                          <a:solidFill>
                            <a:srgbClr val="1B2933"/>
                          </a:solidFill>
                          <a:latin typeface="Aptos"/>
                          <a:ea typeface="Aptos"/>
                          <a:cs typeface="Aptos"/>
                        </a:rPr>
                        <a:t>At a 2-session gap</a:t>
                      </a:r>
                    </a:p>
                  </a:txBody>
                  <a:tcPr marL="91440" marR="91440" marT="45720" marB="45720">
                    <a:solidFill>
                      <a:srgbClr val="F3F6F8"/>
                    </a:solidFill>
                  </a:tcPr>
                </a:tc>
                <a:tc>
                  <a:txBody>
                    <a:bodyPr/>
                    <a:lstStyle/>
                    <a:p>
                      <a:r>
                        <a:rPr sz="1800" b="0">
                          <a:solidFill>
                            <a:srgbClr val="1B2933"/>
                          </a:solidFill>
                          <a:latin typeface="Aptos"/>
                          <a:ea typeface="Aptos"/>
                          <a:cs typeface="Aptos"/>
                        </a:rPr>
                        <a:t>20</a:t>
                      </a:r>
                    </a:p>
                  </a:txBody>
                  <a:tcPr marL="91440" marR="91440" marT="45720" marB="45720">
                    <a:solidFill>
                      <a:srgbClr val="F3F6F8"/>
                    </a:solidFill>
                  </a:tcPr>
                </a:tc>
                <a:tc>
                  <a:txBody>
                    <a:bodyPr/>
                    <a:lstStyle/>
                    <a:p>
                      <a:r>
                        <a:rPr sz="1800" b="0">
                          <a:solidFill>
                            <a:srgbClr val="1B2933"/>
                          </a:solidFill>
                          <a:latin typeface="Aptos"/>
                          <a:ea typeface="Aptos"/>
                          <a:cs typeface="Aptos"/>
                        </a:rPr>
                        <a:t>12.3</a:t>
                      </a:r>
                    </a:p>
                  </a:txBody>
                  <a:tcPr marL="91440" marR="91440" marT="45720" marB="45720">
                    <a:solidFill>
                      <a:srgbClr val="F3F6F8"/>
                    </a:solidFill>
                  </a:tcPr>
                </a:tc>
              </a:tr>
              <a:tr h="542925">
                <a:tc>
                  <a:txBody>
                    <a:bodyPr/>
                    <a:lstStyle/>
                    <a:p>
                      <a:r>
                        <a:rPr sz="1800" b="0">
                          <a:solidFill>
                            <a:srgbClr val="1B2933"/>
                          </a:solidFill>
                          <a:latin typeface="Aptos"/>
                          <a:ea typeface="Aptos"/>
                          <a:cs typeface="Aptos"/>
                        </a:rPr>
                        <a:t>Two-lag H-tilde</a:t>
                      </a:r>
                    </a:p>
                  </a:txBody>
                  <a:tcPr marL="91440" marR="91440" marT="45720" marB="45720">
                    <a:solidFill>
                      <a:srgbClr val="FFFFFF"/>
                    </a:solidFill>
                  </a:tcPr>
                </a:tc>
                <a:tc>
                  <a:txBody>
                    <a:bodyPr/>
                    <a:lstStyle/>
                    <a:p>
                      <a:r>
                        <a:rPr sz="1800" b="0">
                          <a:solidFill>
                            <a:srgbClr val="1B2933"/>
                          </a:solidFill>
                          <a:latin typeface="Aptos"/>
                          <a:ea typeface="Aptos"/>
                          <a:cs typeface="Aptos"/>
                        </a:rPr>
                        <a:t>0.50</a:t>
                      </a:r>
                    </a:p>
                  </a:txBody>
                  <a:tcPr marL="91440" marR="91440" marT="45720" marB="45720">
                    <a:solidFill>
                      <a:srgbClr val="FFFFFF"/>
                    </a:solidFill>
                  </a:tcPr>
                </a:tc>
                <a:tc>
                  <a:txBody>
                    <a:bodyPr/>
                    <a:lstStyle/>
                    <a:p>
                      <a:r>
                        <a:rPr sz="1800" b="0">
                          <a:solidFill>
                            <a:srgbClr val="1B2933"/>
                          </a:solidFill>
                          <a:latin typeface="Aptos"/>
                          <a:ea typeface="Aptos"/>
                          <a:cs typeface="Aptos"/>
                        </a:rPr>
                        <a:t>About 0.15</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39DA5819-3C43-4F27-A626-49BA93873267}"/>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Toy values in arbitrary units. The paper uses ten lags, not just these two.</a:t>
            </a:r>
          </a:p>
        </p:txBody>
      </p:sp>
    </p:spTree>
    <p:extLst>
      <p:ext uri="{BB962C8B-B14F-4D97-AF65-F5344CB8AC3E}">
        <p14:creationId xmlns:p14="http://schemas.microsoft.com/office/powerpoint/2010/main" val="121592899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6C96992-B763-4E03-A373-F27F998EBBF3}"/>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1. Concepts and worked examples</a:t>
            </a:r>
          </a:p>
        </p:txBody>
      </p:sp>
      <p:sp>
        <p:nvSpPr>
          <p:cNvPr id="3" name="">
            <a:extLst xmlns:a="http://schemas.openxmlformats.org/drawingml/2006/main">
              <a:ext uri="{FF2B5EF4-FFF2-40B4-BE49-F238E27FC236}">
                <a16:creationId xmlns:a16="http://schemas.microsoft.com/office/drawing/2014/main" id="{E610DB49-C252-48CC-95FA-D1C31D16A323}"/>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12. Simulation gives a known starting point</a:t>
            </a:r>
          </a:p>
        </p:txBody>
      </p:sp>
      <p:sp>
        <p:nvSpPr>
          <p:cNvPr id="4" name="">
            <a:extLst xmlns:a="http://schemas.openxmlformats.org/drawingml/2006/main">
              <a:ext uri="{FF2B5EF4-FFF2-40B4-BE49-F238E27FC236}">
                <a16:creationId xmlns:a16="http://schemas.microsoft.com/office/drawing/2014/main" id="{2A334CFF-334C-49D4-9827-DBD970DD0C47}"/>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The study creates artificial volatility and prices using specified mathematical models.</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We know the hidden process because we generated it. We then apply the same RV and H-tilde calculations.</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This tests the interpretation of the statistic before we discuss real data.</a:t>
            </a:r>
          </a:p>
        </p:txBody>
      </p:sp>
      <p:sp>
        <p:nvSpPr>
          <p:cNvPr id="5" name="">
            <a:extLst xmlns:a="http://schemas.openxmlformats.org/drawingml/2006/main">
              <a:ext uri="{FF2B5EF4-FFF2-40B4-BE49-F238E27FC236}">
                <a16:creationId xmlns:a16="http://schemas.microsoft.com/office/drawing/2014/main" id="{5D2D0CD6-F09D-42CB-BCD0-1A0A8BCE7B69}"/>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A simulation is a controlled artificial example, not an additional market sample.</a:t>
            </a:r>
          </a:p>
        </p:txBody>
      </p:sp>
    </p:spTree>
    <p:extLst>
      <p:ext uri="{BB962C8B-B14F-4D97-AF65-F5344CB8AC3E}">
        <p14:creationId xmlns:p14="http://schemas.microsoft.com/office/powerpoint/2010/main" val="64014825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9BF73B1-0626-424A-BBF5-053F16193CA6}"/>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1. Concepts and worked examples</a:t>
            </a:r>
          </a:p>
        </p:txBody>
      </p:sp>
      <p:sp>
        <p:nvSpPr>
          <p:cNvPr id="3" name="">
            <a:extLst xmlns:a="http://schemas.openxmlformats.org/drawingml/2006/main">
              <a:ext uri="{FF2B5EF4-FFF2-40B4-BE49-F238E27FC236}">
                <a16:creationId xmlns:a16="http://schemas.microsoft.com/office/drawing/2014/main" id="{D870AE3E-96F7-4E20-AD59-E08104D3482D}"/>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13. The same model gives different measured slopes</a:t>
            </a:r>
          </a:p>
        </p:txBody>
      </p:sp>
      <p:sp>
        <p:nvSpPr>
          <p:cNvPr id="4" name="">
            <a:extLst xmlns:a="http://schemas.openxmlformats.org/drawingml/2006/main">
              <a:ext uri="{FF2B5EF4-FFF2-40B4-BE49-F238E27FC236}">
                <a16:creationId xmlns:a16="http://schemas.microsoft.com/office/drawing/2014/main" id="{A492F713-7652-4B79-BD3A-A4531EFD641B}"/>
              </a:ext>
            </a:extLst>
          </p:cNvPr>
          <p:cNvSpPr>
            <a:spLocks xmlns:a="http://schemas.openxmlformats.org/drawingml/2006/main" noGrp="1"/>
          </p:cNvSpPr>
          <p:nvPr/>
        </p:nvSpPr>
        <p:spPr>
          <a:xfrm xmlns:a="http://schemas.openxmlformats.org/drawingml/2006/main">
            <a:off x="590550" y="1866900"/>
            <a:ext cx="4429125"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B2933"/>
                </a:solidFill>
                <a:latin typeface="Aptos"/>
                <a:ea typeface="Aptos"/>
                <a:cs typeface="Aptos"/>
              </a:defRPr>
            </a:defPPr>
            <a:lvl1pPr>
              <a:defRPr sz="1950" b="0">
                <a:solidFill>
                  <a:srgbClr val="1B2933"/>
                </a:solidFill>
                <a:latin typeface="Aptos"/>
                <a:ea typeface="Aptos"/>
                <a:cs typeface="Aptos"/>
              </a:defRPr>
            </a:lvl1pPr>
            <a:lvl2pPr>
              <a:defRPr sz="1950" b="0">
                <a:solidFill>
                  <a:srgbClr val="1B2933"/>
                </a:solidFill>
                <a:latin typeface="Aptos"/>
                <a:ea typeface="Aptos"/>
                <a:cs typeface="Aptos"/>
              </a:defRPr>
            </a:lvl2pPr>
            <a:lvl3pPr>
              <a:defRPr sz="1950" b="0">
                <a:solidFill>
                  <a:srgbClr val="1B2933"/>
                </a:solidFill>
                <a:latin typeface="Aptos"/>
                <a:ea typeface="Aptos"/>
                <a:cs typeface="Aptos"/>
              </a:defRPr>
            </a:lvl3pPr>
            <a:lvl4pPr>
              <a:defRPr sz="1950" b="0">
                <a:solidFill>
                  <a:srgbClr val="1B2933"/>
                </a:solidFill>
                <a:latin typeface="Aptos"/>
                <a:ea typeface="Aptos"/>
                <a:cs typeface="Aptos"/>
              </a:defRPr>
            </a:lvl4pPr>
            <a:lvl5pPr>
              <a:defRPr sz="1950" b="0">
                <a:solidFill>
                  <a:srgbClr val="1B2933"/>
                </a:solidFill>
                <a:latin typeface="Aptos"/>
                <a:ea typeface="Aptos"/>
                <a:cs typeface="Aptos"/>
              </a:defRPr>
            </a:lvl5pPr>
            <a:lvl6pPr>
              <a:defRPr sz="1950" b="0">
                <a:solidFill>
                  <a:srgbClr val="1B2933"/>
                </a:solidFill>
                <a:latin typeface="Aptos"/>
                <a:ea typeface="Aptos"/>
                <a:cs typeface="Aptos"/>
              </a:defRPr>
            </a:lvl6pPr>
            <a:lvl7pPr>
              <a:defRPr sz="1950" b="0">
                <a:solidFill>
                  <a:srgbClr val="1B2933"/>
                </a:solidFill>
                <a:latin typeface="Aptos"/>
                <a:ea typeface="Aptos"/>
                <a:cs typeface="Aptos"/>
              </a:defRPr>
            </a:lvl7pPr>
            <a:lvl8pPr>
              <a:defRPr sz="1950" b="0">
                <a:solidFill>
                  <a:srgbClr val="1B2933"/>
                </a:solidFill>
                <a:latin typeface="Aptos"/>
                <a:ea typeface="Aptos"/>
                <a:cs typeface="Aptos"/>
              </a:defRPr>
            </a:lvl8pPr>
            <a:lvl9pPr>
              <a:defRPr sz="1950" b="0">
                <a:solidFill>
                  <a:srgbClr val="1B2933"/>
                </a:solidFill>
                <a:latin typeface="Aptos"/>
                <a:ea typeface="Aptos"/>
                <a:cs typeface="Aptos"/>
              </a:defRPr>
            </a:lvl9pPr>
          </a:lstStyle>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The same artificial model generates every bar.</a:t>
            </a:r>
          </a:p>
          <a:p xmlns:a="http://schemas.openxmlformats.org/drawingml/2006/main">
            <a:r>
              <a:t/>
            </a:r>
          </a:p>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Hidden risk sample: risk sampled at one daily instant.</a:t>
            </a:r>
          </a:p>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Risk over the day: hidden variance added over the whole session.</a:t>
            </a:r>
          </a:p>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Price estimate: RV from five-minute prices.</a:t>
            </a:r>
          </a:p>
          <a:p xmlns:a="http://schemas.openxmlformats.org/drawingml/2006/main">
            <a:r>
              <a:t/>
            </a:r>
          </a:p>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The bars average the resulting H-tilde values across simulated paths.</a:t>
            </a:r>
          </a:p>
        </p:txBody>
      </p:sp>
      <p:graphicFrame>
        <p:nvGraphicFramePr>
          <p:cNvPr id="5" name="Chart">
            <a:extLst xmlns:a="http://schemas.openxmlformats.org/drawingml/2006/main">
              <a:ext uri="{FF2B5EF4-FFF2-40B4-BE49-F238E27FC236}">
                <a16:creationId xmlns:a16="http://schemas.microsoft.com/office/drawing/2014/main" id="{4915D8E2-A7C7-41A4-AE33-CE700E6CDD4D}"/>
              </a:ext>
            </a:extLst>
          </p:cNvPr>
          <p:cNvGraphicFramePr/>
          <p:nvPr/>
        </p:nvGraphicFramePr>
        <p:xfrm>
          <a:off xmlns:a="http://schemas.openxmlformats.org/drawingml/2006/main" x="5286375" y="1762125"/>
          <a:ext xmlns:a="http://schemas.openxmlformats.org/drawingml/2006/main" cx="6334125" cy="3857625"/>
        </p:xfrm>
        <a:graphic xmlns:a="http://schemas.openxmlformats.org/drawingml/2006/main">
          <a:graphicData uri="http://schemas.openxmlformats.org/drawingml/2006/chart">
            <c:chart xmlns:r="http://schemas.openxmlformats.org/officeDocument/2006/relationships" xmlns:c="http://schemas.openxmlformats.org/drawingml/2006/chart" r:id="R3e7dc611a7e24d76"/>
          </a:graphicData>
        </a:graphic>
      </p:graphicFrame>
      <p:sp>
        <p:nvSpPr>
          <p:cNvPr id="6" name="">
            <a:extLst xmlns:a="http://schemas.openxmlformats.org/drawingml/2006/main">
              <a:ext uri="{FF2B5EF4-FFF2-40B4-BE49-F238E27FC236}">
                <a16:creationId xmlns:a16="http://schemas.microsoft.com/office/drawing/2014/main" id="{351580A0-FA3D-456F-A2B2-50A3A1C6445A}"/>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The OU model fluctuates around a long-run average. These are simulated finite-lag summaries, not market H.</a:t>
            </a:r>
          </a:p>
        </p:txBody>
      </p:sp>
    </p:spTree>
    <p:extLst>
      <p:ext uri="{BB962C8B-B14F-4D97-AF65-F5344CB8AC3E}">
        <p14:creationId xmlns:p14="http://schemas.microsoft.com/office/powerpoint/2010/main" val="93866309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1DB9F91-15FF-4C12-9935-9A3871ACA2EA}"/>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1. Concepts and worked examples</a:t>
            </a:r>
          </a:p>
        </p:txBody>
      </p:sp>
      <p:sp>
        <p:nvSpPr>
          <p:cNvPr id="3" name="">
            <a:extLst xmlns:a="http://schemas.openxmlformats.org/drawingml/2006/main">
              <a:ext uri="{FF2B5EF4-FFF2-40B4-BE49-F238E27FC236}">
                <a16:creationId xmlns:a16="http://schemas.microsoft.com/office/drawing/2014/main" id="{8BD2DE1F-BD95-454E-99F5-CDAEDB448AC5}"/>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14. Measurement noise can flatten the comparison</a:t>
            </a:r>
          </a:p>
        </p:txBody>
      </p:sp>
      <p:sp>
        <p:nvSpPr>
          <p:cNvPr id="4" name="">
            <a:extLst xmlns:a="http://schemas.openxmlformats.org/drawingml/2006/main">
              <a:ext uri="{FF2B5EF4-FFF2-40B4-BE49-F238E27FC236}">
                <a16:creationId xmlns:a16="http://schemas.microsoft.com/office/drawing/2014/main" id="{F2E882C0-B139-4C67-B733-1673CB4290B7}"/>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Suppose each daily volatility estimate contains an independent measurement error.</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Comparing two days then includes error from both endpoints. That extra variation can be important even when the days are close together.</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This can lower H-tilde under the paper’s illustrative assumptions. Real source differences may have a more structured cause.</a:t>
            </a:r>
          </a:p>
        </p:txBody>
      </p:sp>
      <p:sp>
        <p:nvSpPr>
          <p:cNvPr id="5" name="">
            <a:extLst xmlns:a="http://schemas.openxmlformats.org/drawingml/2006/main">
              <a:ext uri="{FF2B5EF4-FFF2-40B4-BE49-F238E27FC236}">
                <a16:creationId xmlns:a16="http://schemas.microsoft.com/office/drawing/2014/main" id="{83F08863-A20A-4B54-8A80-07F19A9C1FFB}"/>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The paper states the independence assumptions and derives the added error term.</a:t>
            </a:r>
          </a:p>
        </p:txBody>
      </p:sp>
    </p:spTree>
    <p:extLst>
      <p:ext uri="{BB962C8B-B14F-4D97-AF65-F5344CB8AC3E}">
        <p14:creationId xmlns:p14="http://schemas.microsoft.com/office/powerpoint/2010/main" val="127923295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AC934AD-2779-4038-9708-83F3DE012A34}"/>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2. The controlled study</a:t>
            </a:r>
          </a:p>
        </p:txBody>
      </p:sp>
      <p:sp>
        <p:nvSpPr>
          <p:cNvPr id="3" name="">
            <a:extLst xmlns:a="http://schemas.openxmlformats.org/drawingml/2006/main">
              <a:ext uri="{FF2B5EF4-FFF2-40B4-BE49-F238E27FC236}">
                <a16:creationId xmlns:a16="http://schemas.microsoft.com/office/drawing/2014/main" id="{3FDBE83C-0DFC-4F0E-9C63-8F01D7BE2F7F}"/>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15. The historical sample</a:t>
            </a:r>
          </a:p>
        </p:txBody>
      </p:sp>
      <p:sp>
        <p:nvSpPr>
          <p:cNvPr id="4" name="">
            <a:extLst xmlns:a="http://schemas.openxmlformats.org/drawingml/2006/main">
              <a:ext uri="{FF2B5EF4-FFF2-40B4-BE49-F238E27FC236}">
                <a16:creationId xmlns:a16="http://schemas.microsoft.com/office/drawing/2014/main" id="{73DE218B-E565-46EE-9073-FAEA4758A2DA}"/>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SPY is an exchange-traded fund: a fund bought and sold like a share. It follows a broad US stock-market index.</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The main comparison covers 398 SPY sessions from January 2013 through July 2014. A short January 2014 panel adds four other funds.</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The sources contain 121,467,460 matched recorded rows before cleaning.</a:t>
            </a:r>
          </a:p>
        </p:txBody>
      </p:sp>
      <p:sp>
        <p:nvSpPr>
          <p:cNvPr id="5" name="">
            <a:extLst xmlns:a="http://schemas.openxmlformats.org/drawingml/2006/main">
              <a:ext uri="{FF2B5EF4-FFF2-40B4-BE49-F238E27FC236}">
                <a16:creationId xmlns:a16="http://schemas.microsoft.com/office/drawing/2014/main" id="{D52353C5-5563-4065-8C79-A91F3392DDCF}"/>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Matched rows share ordered price, size and trading venue. They need not be unique executions.</a:t>
            </a:r>
          </a:p>
        </p:txBody>
      </p:sp>
    </p:spTree>
    <p:extLst>
      <p:ext uri="{BB962C8B-B14F-4D97-AF65-F5344CB8AC3E}">
        <p14:creationId xmlns:p14="http://schemas.microsoft.com/office/powerpoint/2010/main" val="199522152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851CD1A-BB56-4B1D-907E-F18B113A49DF}"/>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2. The controlled study</a:t>
            </a:r>
          </a:p>
        </p:txBody>
      </p:sp>
      <p:sp>
        <p:nvSpPr>
          <p:cNvPr id="3" name="">
            <a:extLst xmlns:a="http://schemas.openxmlformats.org/drawingml/2006/main">
              <a:ext uri="{FF2B5EF4-FFF2-40B4-BE49-F238E27FC236}">
                <a16:creationId xmlns:a16="http://schemas.microsoft.com/office/drawing/2014/main" id="{CB28F977-F795-40CD-9B94-1D0457D20FBE}"/>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16. Two recordings of trade information</a:t>
            </a:r>
          </a:p>
        </p:txBody>
      </p:sp>
      <p:sp>
        <p:nvSpPr>
          <p:cNvPr id="4" name="">
            <a:extLst xmlns:a="http://schemas.openxmlformats.org/drawingml/2006/main">
              <a:ext uri="{FF2B5EF4-FFF2-40B4-BE49-F238E27FC236}">
                <a16:creationId xmlns:a16="http://schemas.microsoft.com/office/drawing/2014/main" id="{E91FA6B4-5E3F-4F0F-963D-F788FC3B436C}"/>
              </a:ext>
            </a:extLst>
          </p:cNvPr>
          <p:cNvSpPr>
            <a:spLocks xmlns:a="http://schemas.openxmlformats.org/drawingml/2006/main" noGrp="1"/>
          </p:cNvSpPr>
          <p:nvPr/>
        </p:nvSpPr>
        <p:spPr>
          <a:xfrm xmlns:a="http://schemas.openxmlformats.org/drawingml/2006/main">
            <a:off x="590550" y="1809750"/>
            <a:ext cx="1095375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B2933"/>
                </a:solidFill>
                <a:latin typeface="Aptos"/>
                <a:ea typeface="Aptos"/>
                <a:cs typeface="Aptos"/>
              </a:defRPr>
            </a:defPPr>
            <a:lvl1pPr>
              <a:defRPr sz="2025" b="0">
                <a:solidFill>
                  <a:srgbClr val="1B2933"/>
                </a:solidFill>
                <a:latin typeface="Aptos"/>
                <a:ea typeface="Aptos"/>
                <a:cs typeface="Aptos"/>
              </a:defRPr>
            </a:lvl1pPr>
            <a:lvl2pPr>
              <a:defRPr sz="2025" b="0">
                <a:solidFill>
                  <a:srgbClr val="1B2933"/>
                </a:solidFill>
                <a:latin typeface="Aptos"/>
                <a:ea typeface="Aptos"/>
                <a:cs typeface="Aptos"/>
              </a:defRPr>
            </a:lvl2pPr>
            <a:lvl3pPr>
              <a:defRPr sz="2025" b="0">
                <a:solidFill>
                  <a:srgbClr val="1B2933"/>
                </a:solidFill>
                <a:latin typeface="Aptos"/>
                <a:ea typeface="Aptos"/>
                <a:cs typeface="Aptos"/>
              </a:defRPr>
            </a:lvl3pPr>
            <a:lvl4pPr>
              <a:defRPr sz="2025" b="0">
                <a:solidFill>
                  <a:srgbClr val="1B2933"/>
                </a:solidFill>
                <a:latin typeface="Aptos"/>
                <a:ea typeface="Aptos"/>
                <a:cs typeface="Aptos"/>
              </a:defRPr>
            </a:lvl4pPr>
            <a:lvl5pPr>
              <a:defRPr sz="2025" b="0">
                <a:solidFill>
                  <a:srgbClr val="1B2933"/>
                </a:solidFill>
                <a:latin typeface="Aptos"/>
                <a:ea typeface="Aptos"/>
                <a:cs typeface="Aptos"/>
              </a:defRPr>
            </a:lvl5pPr>
            <a:lvl6pPr>
              <a:defRPr sz="2025" b="0">
                <a:solidFill>
                  <a:srgbClr val="1B2933"/>
                </a:solidFill>
                <a:latin typeface="Aptos"/>
                <a:ea typeface="Aptos"/>
                <a:cs typeface="Aptos"/>
              </a:defRPr>
            </a:lvl6pPr>
            <a:lvl7pPr>
              <a:defRPr sz="2025" b="0">
                <a:solidFill>
                  <a:srgbClr val="1B2933"/>
                </a:solidFill>
                <a:latin typeface="Aptos"/>
                <a:ea typeface="Aptos"/>
                <a:cs typeface="Aptos"/>
              </a:defRPr>
            </a:lvl7pPr>
            <a:lvl8pPr>
              <a:defRPr sz="2025" b="0">
                <a:solidFill>
                  <a:srgbClr val="1B2933"/>
                </a:solidFill>
                <a:latin typeface="Aptos"/>
                <a:ea typeface="Aptos"/>
                <a:cs typeface="Aptos"/>
              </a:defRPr>
            </a:lvl8pPr>
            <a:lvl9pPr>
              <a:defRPr sz="2025" b="0">
                <a:solidFill>
                  <a:srgbClr val="1B2933"/>
                </a:solidFill>
                <a:latin typeface="Aptos"/>
                <a:ea typeface="Aptos"/>
                <a:cs typeface="Aptos"/>
              </a:defRPr>
            </a:lvl9pPr>
          </a:lstStyle>
          <a:p xmlns:a="http://schemas.openxmlformats.org/drawingml/2006/main">
            <a:pPr>
              <a:defRPr sz="2025" b="0">
                <a:solidFill>
                  <a:srgbClr val="1B2933"/>
                </a:solidFill>
                <a:latin typeface="Aptos"/>
                <a:ea typeface="Aptos"/>
                <a:cs typeface="Aptos"/>
              </a:defRPr>
            </a:pPr>
            <a:r>
              <a:rPr sz="2025" b="0">
                <a:solidFill>
                  <a:srgbClr val="1B2933"/>
                </a:solidFill>
                <a:latin typeface="Aptos"/>
                <a:ea typeface="Aptos"/>
                <a:cs typeface="Aptos"/>
              </a:rPr>
              <a:t>A timestamp tells us when a recorded trade occurred. A condition field describes a classification attached to that trade.</a:t>
            </a:r>
          </a:p>
          <a:p xmlns:a="http://schemas.openxmlformats.org/drawingml/2006/main">
            <a:r>
              <a:t/>
            </a:r>
          </a:p>
          <a:p xmlns:a="http://schemas.openxmlformats.org/drawingml/2006/main">
            <a:pPr>
              <a:defRPr sz="2025" b="0">
                <a:solidFill>
                  <a:srgbClr val="1B2933"/>
                </a:solidFill>
                <a:latin typeface="Aptos"/>
                <a:ea typeface="Aptos"/>
                <a:cs typeface="Aptos"/>
              </a:defRPr>
            </a:pPr>
            <a:r>
              <a:rPr sz="2025" b="0">
                <a:solidFill>
                  <a:srgbClr val="1B2933"/>
                </a:solidFill>
                <a:latin typeface="Aptos"/>
                <a:ea typeface="Aptos"/>
                <a:cs typeface="Aptos"/>
              </a:rPr>
              <a:t>The study compares a legacy seconds representation with a millisecond representation. A millisecond is one thousandth of a second.</a:t>
            </a:r>
          </a:p>
        </p:txBody>
      </p:sp>
      <p:graphicFrame>
        <p:nvGraphicFramePr>
          <p:cNvPr id="5" name="">
            <a:extLst xmlns:a="http://schemas.openxmlformats.org/drawingml/2006/main">
              <a:ext uri="{FF2B5EF4-FFF2-40B4-BE49-F238E27FC236}">
                <a16:creationId xmlns:a16="http://schemas.microsoft.com/office/drawing/2014/main" id="{5988BAB7-4E1F-4097-B39D-9C9747A742C4}"/>
              </a:ext>
            </a:extLst>
          </p:cNvPr>
          <p:cNvGraphicFramePr/>
          <p:nvPr/>
        </p:nvGraphicFramePr>
        <p:xfrm>
          <a:off xmlns:a="http://schemas.openxmlformats.org/drawingml/2006/main" x="590550" y="3695700"/>
          <a:ext xmlns:a="http://schemas.openxmlformats.org/drawingml/2006/main" cx="10953750" cy="2171700"/>
        </p:xfrm>
        <a:graphic xmlns:a="http://schemas.openxmlformats.org/drawingml/2006/main">
          <a:graphicData uri="http://schemas.openxmlformats.org/drawingml/2006/table">
            <a:tbl>
              <a:tblPr/>
              <a:tblGrid>
                <a:gridCol w="3651250"/>
                <a:gridCol w="3651250"/>
                <a:gridCol w="3651250"/>
              </a:tblGrid>
              <a:tr h="542925">
                <a:tc>
                  <a:txBody>
                    <a:bodyPr/>
                    <a:lstStyle/>
                    <a:p>
                      <a:r>
                        <a:rPr sz="1800" b="1">
                          <a:solidFill>
                            <a:srgbClr val="1B2933"/>
                          </a:solidFill>
                          <a:latin typeface="Aptos"/>
                          <a:ea typeface="Aptos"/>
                          <a:cs typeface="Aptos"/>
                        </a:rPr>
                        <a:t>Field</a:t>
                      </a:r>
                    </a:p>
                  </a:txBody>
                  <a:tcPr marL="91440" marR="91440" marT="45720" marB="45720">
                    <a:solidFill>
                      <a:srgbClr val="E4EDF4"/>
                    </a:solidFill>
                  </a:tcPr>
                </a:tc>
                <a:tc>
                  <a:txBody>
                    <a:bodyPr/>
                    <a:lstStyle/>
                    <a:p>
                      <a:r>
                        <a:rPr sz="1800" b="1">
                          <a:solidFill>
                            <a:srgbClr val="1B2933"/>
                          </a:solidFill>
                          <a:latin typeface="Aptos"/>
                          <a:ea typeface="Aptos"/>
                          <a:cs typeface="Aptos"/>
                        </a:rPr>
                        <a:t>Legacy source</a:t>
                      </a:r>
                    </a:p>
                  </a:txBody>
                  <a:tcPr marL="91440" marR="91440" marT="45720" marB="45720">
                    <a:solidFill>
                      <a:srgbClr val="E4EDF4"/>
                    </a:solidFill>
                  </a:tcPr>
                </a:tc>
                <a:tc>
                  <a:txBody>
                    <a:bodyPr/>
                    <a:lstStyle/>
                    <a:p>
                      <a:r>
                        <a:rPr sz="1800" b="1">
                          <a:solidFill>
                            <a:srgbClr val="1B2933"/>
                          </a:solidFill>
                          <a:latin typeface="Aptos"/>
                          <a:ea typeface="Aptos"/>
                          <a:cs typeface="Aptos"/>
                        </a:rPr>
                        <a:t>Modern source</a:t>
                      </a:r>
                    </a:p>
                  </a:txBody>
                  <a:tcPr marL="91440" marR="91440" marT="45720" marB="45720">
                    <a:solidFill>
                      <a:srgbClr val="E4EDF4"/>
                    </a:solidFill>
                  </a:tcPr>
                </a:tc>
              </a:tr>
              <a:tr h="542925">
                <a:tc>
                  <a:txBody>
                    <a:bodyPr/>
                    <a:lstStyle/>
                    <a:p>
                      <a:r>
                        <a:rPr sz="1800" b="0">
                          <a:solidFill>
                            <a:srgbClr val="1B2933"/>
                          </a:solidFill>
                          <a:latin typeface="Aptos"/>
                          <a:ea typeface="Aptos"/>
                          <a:cs typeface="Aptos"/>
                        </a:rPr>
                        <a:t>Time</a:t>
                      </a:r>
                    </a:p>
                  </a:txBody>
                  <a:tcPr marL="91440" marR="91440" marT="45720" marB="45720">
                    <a:solidFill>
                      <a:srgbClr val="FFFFFF"/>
                    </a:solidFill>
                  </a:tcPr>
                </a:tc>
                <a:tc>
                  <a:txBody>
                    <a:bodyPr/>
                    <a:lstStyle/>
                    <a:p>
                      <a:r>
                        <a:rPr sz="1800" b="0">
                          <a:solidFill>
                            <a:srgbClr val="1B2933"/>
                          </a:solidFill>
                          <a:latin typeface="Aptos"/>
                          <a:ea typeface="Aptos"/>
                          <a:cs typeface="Aptos"/>
                        </a:rPr>
                        <a:t>Second-level representation</a:t>
                      </a:r>
                    </a:p>
                  </a:txBody>
                  <a:tcPr marL="91440" marR="91440" marT="45720" marB="45720">
                    <a:solidFill>
                      <a:srgbClr val="FFFFFF"/>
                    </a:solidFill>
                  </a:tcPr>
                </a:tc>
                <a:tc>
                  <a:txBody>
                    <a:bodyPr/>
                    <a:lstStyle/>
                    <a:p>
                      <a:r>
                        <a:rPr sz="1800" b="0">
                          <a:solidFill>
                            <a:srgbClr val="1B2933"/>
                          </a:solidFill>
                          <a:latin typeface="Aptos"/>
                          <a:ea typeface="Aptos"/>
                          <a:cs typeface="Aptos"/>
                        </a:rPr>
                        <a:t>Millisecond representation</a:t>
                      </a:r>
                    </a:p>
                  </a:txBody>
                  <a:tcPr marL="91440" marR="91440" marT="45720" marB="45720">
                    <a:solidFill>
                      <a:srgbClr val="FFFFFF"/>
                    </a:solidFill>
                  </a:tcPr>
                </a:tc>
              </a:tr>
              <a:tr h="542925">
                <a:tc>
                  <a:txBody>
                    <a:bodyPr/>
                    <a:lstStyle/>
                    <a:p>
                      <a:r>
                        <a:rPr sz="1800" b="0">
                          <a:solidFill>
                            <a:srgbClr val="1B2933"/>
                          </a:solidFill>
                          <a:latin typeface="Aptos"/>
                          <a:ea typeface="Aptos"/>
                          <a:cs typeface="Aptos"/>
                        </a:rPr>
                        <a:t>Condition</a:t>
                      </a:r>
                    </a:p>
                  </a:txBody>
                  <a:tcPr marL="91440" marR="91440" marT="45720" marB="45720">
                    <a:solidFill>
                      <a:srgbClr val="F3F6F8"/>
                    </a:solidFill>
                  </a:tcPr>
                </a:tc>
                <a:tc>
                  <a:txBody>
                    <a:bodyPr/>
                    <a:lstStyle/>
                    <a:p>
                      <a:r>
                        <a:rPr sz="1800" b="0">
                          <a:solidFill>
                            <a:srgbClr val="1B2933"/>
                          </a:solidFill>
                          <a:latin typeface="Aptos"/>
                          <a:ea typeface="Aptos"/>
                          <a:cs typeface="Aptos"/>
                        </a:rPr>
                        <a:t>Legacy labels</a:t>
                      </a:r>
                    </a:p>
                  </a:txBody>
                  <a:tcPr marL="91440" marR="91440" marT="45720" marB="45720">
                    <a:solidFill>
                      <a:srgbClr val="F3F6F8"/>
                    </a:solidFill>
                  </a:tcPr>
                </a:tc>
                <a:tc>
                  <a:txBody>
                    <a:bodyPr/>
                    <a:lstStyle/>
                    <a:p>
                      <a:r>
                        <a:rPr sz="1800" b="0">
                          <a:solidFill>
                            <a:srgbClr val="1B2933"/>
                          </a:solidFill>
                          <a:latin typeface="Aptos"/>
                          <a:ea typeface="Aptos"/>
                          <a:cs typeface="Aptos"/>
                        </a:rPr>
                        <a:t>Modern labels</a:t>
                      </a:r>
                    </a:p>
                  </a:txBody>
                  <a:tcPr marL="91440" marR="91440" marT="45720" marB="45720">
                    <a:solidFill>
                      <a:srgbClr val="F3F6F8"/>
                    </a:solidFill>
                  </a:tcPr>
                </a:tc>
              </a:tr>
              <a:tr h="542925">
                <a:tc>
                  <a:txBody>
                    <a:bodyPr/>
                    <a:lstStyle/>
                    <a:p>
                      <a:r>
                        <a:rPr sz="1800" b="0">
                          <a:solidFill>
                            <a:srgbClr val="1B2933"/>
                          </a:solidFill>
                          <a:latin typeface="Aptos"/>
                          <a:ea typeface="Aptos"/>
                          <a:cs typeface="Aptos"/>
                        </a:rPr>
                        <a:t>Shared recorded inputs</a:t>
                      </a:r>
                    </a:p>
                  </a:txBody>
                  <a:tcPr marL="91440" marR="91440" marT="45720" marB="45720">
                    <a:solidFill>
                      <a:srgbClr val="FFFFFF"/>
                    </a:solidFill>
                  </a:tcPr>
                </a:tc>
                <a:tc>
                  <a:txBody>
                    <a:bodyPr/>
                    <a:lstStyle/>
                    <a:p>
                      <a:r>
                        <a:rPr sz="1800" b="0">
                          <a:solidFill>
                            <a:srgbClr val="1B2933"/>
                          </a:solidFill>
                          <a:latin typeface="Aptos"/>
                          <a:ea typeface="Aptos"/>
                          <a:cs typeface="Aptos"/>
                        </a:rPr>
                        <a:t>Ordered price, size and venue</a:t>
                      </a:r>
                    </a:p>
                  </a:txBody>
                  <a:tcPr marL="91440" marR="91440" marT="45720" marB="45720">
                    <a:solidFill>
                      <a:srgbClr val="FFFFFF"/>
                    </a:solidFill>
                  </a:tcPr>
                </a:tc>
                <a:tc>
                  <a:txBody>
                    <a:bodyPr/>
                    <a:lstStyle/>
                    <a:p>
                      <a:r>
                        <a:rPr sz="1800" b="0">
                          <a:solidFill>
                            <a:srgbClr val="1B2933"/>
                          </a:solidFill>
                          <a:latin typeface="Aptos"/>
                          <a:ea typeface="Aptos"/>
                          <a:cs typeface="Aptos"/>
                        </a:rPr>
                        <a:t>Ordered price, size and venue</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CF2C4C0E-CD35-4BDA-B28F-FD7714C6E7AA}"/>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Modern is the reference in this study. The word does not certify economic truth.</a:t>
            </a:r>
          </a:p>
        </p:txBody>
      </p:sp>
    </p:spTree>
    <p:extLst>
      <p:ext uri="{BB962C8B-B14F-4D97-AF65-F5344CB8AC3E}">
        <p14:creationId xmlns:p14="http://schemas.microsoft.com/office/powerpoint/2010/main" val="136791675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0CFBC49-57A5-4B10-9277-18AB63296431}"/>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2. The controlled study</a:t>
            </a:r>
          </a:p>
        </p:txBody>
      </p:sp>
      <p:sp>
        <p:nvSpPr>
          <p:cNvPr id="3" name="">
            <a:extLst xmlns:a="http://schemas.openxmlformats.org/drawingml/2006/main">
              <a:ext uri="{FF2B5EF4-FFF2-40B4-BE49-F238E27FC236}">
                <a16:creationId xmlns:a16="http://schemas.microsoft.com/office/drawing/2014/main" id="{14CED9A0-AADD-4762-B189-17CFC3BA0B24}"/>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17. The fixed preparation pipeline</a:t>
            </a:r>
          </a:p>
        </p:txBody>
      </p:sp>
      <p:sp>
        <p:nvSpPr>
          <p:cNvPr id="4" name="">
            <a:extLst xmlns:a="http://schemas.openxmlformats.org/drawingml/2006/main">
              <a:ext uri="{FF2B5EF4-FFF2-40B4-BE49-F238E27FC236}">
                <a16:creationId xmlns:a16="http://schemas.microsoft.com/office/drawing/2014/main" id="{A6959C17-CDF0-4343-AC09-7D271508786F}"/>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1. Keep in-session positive prices and sizes, with the stated correction rule.</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2. Keep records only when the condition field is blank or contains the @ symbol, under this strict rule.</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3. Choose the venue with the most retained trades. A venue is a trading location.</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4. Combine simultaneous prices using their median, the middle value.</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5. Use the last eligible price at each grid point.</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6. Calculate RV and RQ with the actual session count.</a:t>
            </a:r>
          </a:p>
        </p:txBody>
      </p:sp>
      <p:sp>
        <p:nvSpPr>
          <p:cNvPr id="5" name="">
            <a:extLst xmlns:a="http://schemas.openxmlformats.org/drawingml/2006/main">
              <a:ext uri="{FF2B5EF4-FFF2-40B4-BE49-F238E27FC236}">
                <a16:creationId xmlns:a16="http://schemas.microsoft.com/office/drawing/2014/main" id="{6371B3CC-F9FA-4BD2-A065-AB8D98691D05}"/>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The rule is deliberately narrow. The study does not claim a universally best trade filter.</a:t>
            </a:r>
          </a:p>
        </p:txBody>
      </p:sp>
    </p:spTree>
    <p:extLst>
      <p:ext uri="{BB962C8B-B14F-4D97-AF65-F5344CB8AC3E}">
        <p14:creationId xmlns:p14="http://schemas.microsoft.com/office/powerpoint/2010/main" val="94354822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F80AFE7-9910-4185-B6FA-5E0A943CC0C8}"/>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2. The controlled study</a:t>
            </a:r>
          </a:p>
        </p:txBody>
      </p:sp>
      <p:sp>
        <p:nvSpPr>
          <p:cNvPr id="3" name="">
            <a:extLst xmlns:a="http://schemas.openxmlformats.org/drawingml/2006/main">
              <a:ext uri="{FF2B5EF4-FFF2-40B4-BE49-F238E27FC236}">
                <a16:creationId xmlns:a16="http://schemas.microsoft.com/office/drawing/2014/main" id="{6BE8489A-C4B7-4879-95BF-814CC1B3FB0E}"/>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18. Crossed cases separate time from conditions</a:t>
            </a:r>
          </a:p>
        </p:txBody>
      </p:sp>
      <p:sp>
        <p:nvSpPr>
          <p:cNvPr id="4" name="">
            <a:extLst xmlns:a="http://schemas.openxmlformats.org/drawingml/2006/main">
              <a:ext uri="{FF2B5EF4-FFF2-40B4-BE49-F238E27FC236}">
                <a16:creationId xmlns:a16="http://schemas.microsoft.com/office/drawing/2014/main" id="{4ECCA04F-425E-4BB6-9DBA-3F289BFB41A9}"/>
              </a:ext>
            </a:extLst>
          </p:cNvPr>
          <p:cNvSpPr>
            <a:spLocks xmlns:a="http://schemas.openxmlformats.org/drawingml/2006/main" noGrp="1"/>
          </p:cNvSpPr>
          <p:nvPr/>
        </p:nvSpPr>
        <p:spPr>
          <a:xfrm xmlns:a="http://schemas.openxmlformats.org/drawingml/2006/main">
            <a:off x="590550" y="180975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B2933"/>
                </a:solidFill>
                <a:latin typeface="Aptos"/>
                <a:ea typeface="Aptos"/>
                <a:cs typeface="Aptos"/>
              </a:defRPr>
            </a:defPPr>
            <a:lvl1pPr>
              <a:defRPr sz="2025" b="0">
                <a:solidFill>
                  <a:srgbClr val="1B2933"/>
                </a:solidFill>
                <a:latin typeface="Aptos"/>
                <a:ea typeface="Aptos"/>
                <a:cs typeface="Aptos"/>
              </a:defRPr>
            </a:lvl1pPr>
            <a:lvl2pPr>
              <a:defRPr sz="2025" b="0">
                <a:solidFill>
                  <a:srgbClr val="1B2933"/>
                </a:solidFill>
                <a:latin typeface="Aptos"/>
                <a:ea typeface="Aptos"/>
                <a:cs typeface="Aptos"/>
              </a:defRPr>
            </a:lvl2pPr>
            <a:lvl3pPr>
              <a:defRPr sz="2025" b="0">
                <a:solidFill>
                  <a:srgbClr val="1B2933"/>
                </a:solidFill>
                <a:latin typeface="Aptos"/>
                <a:ea typeface="Aptos"/>
                <a:cs typeface="Aptos"/>
              </a:defRPr>
            </a:lvl3pPr>
            <a:lvl4pPr>
              <a:defRPr sz="2025" b="0">
                <a:solidFill>
                  <a:srgbClr val="1B2933"/>
                </a:solidFill>
                <a:latin typeface="Aptos"/>
                <a:ea typeface="Aptos"/>
                <a:cs typeface="Aptos"/>
              </a:defRPr>
            </a:lvl4pPr>
            <a:lvl5pPr>
              <a:defRPr sz="2025" b="0">
                <a:solidFill>
                  <a:srgbClr val="1B2933"/>
                </a:solidFill>
                <a:latin typeface="Aptos"/>
                <a:ea typeface="Aptos"/>
                <a:cs typeface="Aptos"/>
              </a:defRPr>
            </a:lvl5pPr>
            <a:lvl6pPr>
              <a:defRPr sz="2025" b="0">
                <a:solidFill>
                  <a:srgbClr val="1B2933"/>
                </a:solidFill>
                <a:latin typeface="Aptos"/>
                <a:ea typeface="Aptos"/>
                <a:cs typeface="Aptos"/>
              </a:defRPr>
            </a:lvl6pPr>
            <a:lvl7pPr>
              <a:defRPr sz="2025" b="0">
                <a:solidFill>
                  <a:srgbClr val="1B2933"/>
                </a:solidFill>
                <a:latin typeface="Aptos"/>
                <a:ea typeface="Aptos"/>
                <a:cs typeface="Aptos"/>
              </a:defRPr>
            </a:lvl7pPr>
            <a:lvl8pPr>
              <a:defRPr sz="2025" b="0">
                <a:solidFill>
                  <a:srgbClr val="1B2933"/>
                </a:solidFill>
                <a:latin typeface="Aptos"/>
                <a:ea typeface="Aptos"/>
                <a:cs typeface="Aptos"/>
              </a:defRPr>
            </a:lvl8pPr>
            <a:lvl9pPr>
              <a:defRPr sz="2025" b="0">
                <a:solidFill>
                  <a:srgbClr val="1B2933"/>
                </a:solidFill>
                <a:latin typeface="Aptos"/>
                <a:ea typeface="Aptos"/>
                <a:cs typeface="Aptos"/>
              </a:defRPr>
            </a:lvl9pPr>
          </a:lstStyle>
          <a:p xmlns:a="http://schemas.openxmlformats.org/drawingml/2006/main">
            <a:pPr>
              <a:defRPr sz="2025" b="0">
                <a:solidFill>
                  <a:srgbClr val="1B2933"/>
                </a:solidFill>
                <a:latin typeface="Aptos"/>
                <a:ea typeface="Aptos"/>
                <a:cs typeface="Aptos"/>
              </a:defRPr>
            </a:pPr>
            <a:r>
              <a:rPr sz="2025" b="0">
                <a:solidFill>
                  <a:srgbClr val="1B2933"/>
                </a:solidFill>
                <a:latin typeface="Aptos"/>
                <a:ea typeface="Aptos"/>
                <a:cs typeface="Aptos"/>
              </a:rPr>
              <a:t>The same preparation code receives five combinations of source information. This helps identify which information matters within this pipeline.</a:t>
            </a:r>
          </a:p>
        </p:txBody>
      </p:sp>
      <p:graphicFrame>
        <p:nvGraphicFramePr>
          <p:cNvPr id="5" name="">
            <a:extLst xmlns:a="http://schemas.openxmlformats.org/drawingml/2006/main">
              <a:ext uri="{FF2B5EF4-FFF2-40B4-BE49-F238E27FC236}">
                <a16:creationId xmlns:a16="http://schemas.microsoft.com/office/drawing/2014/main" id="{10D0D1B7-5F35-46DE-8D0D-E46044642127}"/>
              </a:ext>
            </a:extLst>
          </p:cNvPr>
          <p:cNvGraphicFramePr/>
          <p:nvPr/>
        </p:nvGraphicFramePr>
        <p:xfrm>
          <a:off xmlns:a="http://schemas.openxmlformats.org/drawingml/2006/main" x="590550" y="2828925"/>
          <a:ext xmlns:a="http://schemas.openxmlformats.org/drawingml/2006/main" cx="10953750" cy="3171825"/>
        </p:xfrm>
        <a:graphic xmlns:a="http://schemas.openxmlformats.org/drawingml/2006/main">
          <a:graphicData uri="http://schemas.openxmlformats.org/drawingml/2006/table">
            <a:tbl>
              <a:tblPr/>
              <a:tblGrid>
                <a:gridCol w="3651250"/>
                <a:gridCol w="3651250"/>
                <a:gridCol w="3651250"/>
              </a:tblGrid>
              <a:tr h="528638">
                <a:tc>
                  <a:txBody>
                    <a:bodyPr/>
                    <a:lstStyle/>
                    <a:p>
                      <a:r>
                        <a:rPr sz="1800" b="1">
                          <a:solidFill>
                            <a:srgbClr val="1B2933"/>
                          </a:solidFill>
                          <a:latin typeface="Aptos"/>
                          <a:ea typeface="Aptos"/>
                          <a:cs typeface="Aptos"/>
                        </a:rPr>
                        <a:t>Construction</a:t>
                      </a:r>
                    </a:p>
                  </a:txBody>
                  <a:tcPr marL="91440" marR="91440" marT="45720" marB="45720">
                    <a:solidFill>
                      <a:srgbClr val="E4EDF4"/>
                    </a:solidFill>
                  </a:tcPr>
                </a:tc>
                <a:tc>
                  <a:txBody>
                    <a:bodyPr/>
                    <a:lstStyle/>
                    <a:p>
                      <a:r>
                        <a:rPr sz="1800" b="1">
                          <a:solidFill>
                            <a:srgbClr val="1B2933"/>
                          </a:solidFill>
                          <a:latin typeface="Aptos"/>
                          <a:ea typeface="Aptos"/>
                          <a:cs typeface="Aptos"/>
                        </a:rPr>
                        <a:t>Time information</a:t>
                      </a:r>
                    </a:p>
                  </a:txBody>
                  <a:tcPr marL="91440" marR="91440" marT="45720" marB="45720">
                    <a:solidFill>
                      <a:srgbClr val="E4EDF4"/>
                    </a:solidFill>
                  </a:tcPr>
                </a:tc>
                <a:tc>
                  <a:txBody>
                    <a:bodyPr/>
                    <a:lstStyle/>
                    <a:p>
                      <a:r>
                        <a:rPr sz="1800" b="1">
                          <a:solidFill>
                            <a:srgbClr val="1B2933"/>
                          </a:solidFill>
                          <a:latin typeface="Aptos"/>
                          <a:ea typeface="Aptos"/>
                          <a:cs typeface="Aptos"/>
                        </a:rPr>
                        <a:t>Condition information</a:t>
                      </a:r>
                    </a:p>
                  </a:txBody>
                  <a:tcPr marL="91440" marR="91440" marT="45720" marB="45720">
                    <a:solidFill>
                      <a:srgbClr val="E4EDF4"/>
                    </a:solidFill>
                  </a:tcPr>
                </a:tc>
              </a:tr>
              <a:tr h="528638">
                <a:tc>
                  <a:txBody>
                    <a:bodyPr/>
                    <a:lstStyle/>
                    <a:p>
                      <a:r>
                        <a:rPr sz="1800" b="0">
                          <a:solidFill>
                            <a:srgbClr val="1B2933"/>
                          </a:solidFill>
                          <a:latin typeface="Aptos"/>
                          <a:ea typeface="Aptos"/>
                          <a:cs typeface="Aptos"/>
                        </a:rPr>
                        <a:t>Modern reference</a:t>
                      </a:r>
                    </a:p>
                  </a:txBody>
                  <a:tcPr marL="91440" marR="91440" marT="45720" marB="45720">
                    <a:solidFill>
                      <a:srgbClr val="FFFFFF"/>
                    </a:solidFill>
                  </a:tcPr>
                </a:tc>
                <a:tc>
                  <a:txBody>
                    <a:bodyPr/>
                    <a:lstStyle/>
                    <a:p>
                      <a:r>
                        <a:rPr sz="1800" b="0">
                          <a:solidFill>
                            <a:srgbClr val="1B2933"/>
                          </a:solidFill>
                          <a:latin typeface="Aptos"/>
                          <a:ea typeface="Aptos"/>
                          <a:cs typeface="Aptos"/>
                        </a:rPr>
                        <a:t>Modern</a:t>
                      </a:r>
                    </a:p>
                  </a:txBody>
                  <a:tcPr marL="91440" marR="91440" marT="45720" marB="45720">
                    <a:solidFill>
                      <a:srgbClr val="FFFFFF"/>
                    </a:solidFill>
                  </a:tcPr>
                </a:tc>
                <a:tc>
                  <a:txBody>
                    <a:bodyPr/>
                    <a:lstStyle/>
                    <a:p>
                      <a:r>
                        <a:rPr sz="1800" b="0">
                          <a:solidFill>
                            <a:srgbClr val="1B2933"/>
                          </a:solidFill>
                          <a:latin typeface="Aptos"/>
                          <a:ea typeface="Aptos"/>
                          <a:cs typeface="Aptos"/>
                        </a:rPr>
                        <a:t>Modern</a:t>
                      </a:r>
                    </a:p>
                  </a:txBody>
                  <a:tcPr marL="91440" marR="91440" marT="45720" marB="45720">
                    <a:solidFill>
                      <a:srgbClr val="FFFFFF"/>
                    </a:solidFill>
                  </a:tcPr>
                </a:tc>
              </a:tr>
              <a:tr h="528638">
                <a:tc>
                  <a:txBody>
                    <a:bodyPr/>
                    <a:lstStyle/>
                    <a:p>
                      <a:r>
                        <a:rPr sz="1800" b="0">
                          <a:solidFill>
                            <a:srgbClr val="1B2933"/>
                          </a:solidFill>
                          <a:latin typeface="Aptos"/>
                          <a:ea typeface="Aptos"/>
                          <a:cs typeface="Aptos"/>
                        </a:rPr>
                        <a:t>Legacy</a:t>
                      </a:r>
                    </a:p>
                  </a:txBody>
                  <a:tcPr marL="91440" marR="91440" marT="45720" marB="45720">
                    <a:solidFill>
                      <a:srgbClr val="F3F6F8"/>
                    </a:solidFill>
                  </a:tcPr>
                </a:tc>
                <a:tc>
                  <a:txBody>
                    <a:bodyPr/>
                    <a:lstStyle/>
                    <a:p>
                      <a:r>
                        <a:rPr sz="1800" b="0">
                          <a:solidFill>
                            <a:srgbClr val="1B2933"/>
                          </a:solidFill>
                          <a:latin typeface="Aptos"/>
                          <a:ea typeface="Aptos"/>
                          <a:cs typeface="Aptos"/>
                        </a:rPr>
                        <a:t>Legacy</a:t>
                      </a:r>
                    </a:p>
                  </a:txBody>
                  <a:tcPr marL="91440" marR="91440" marT="45720" marB="45720">
                    <a:solidFill>
                      <a:srgbClr val="F3F6F8"/>
                    </a:solidFill>
                  </a:tcPr>
                </a:tc>
                <a:tc>
                  <a:txBody>
                    <a:bodyPr/>
                    <a:lstStyle/>
                    <a:p>
                      <a:r>
                        <a:rPr sz="1800" b="0">
                          <a:solidFill>
                            <a:srgbClr val="1B2933"/>
                          </a:solidFill>
                          <a:latin typeface="Aptos"/>
                          <a:ea typeface="Aptos"/>
                          <a:cs typeface="Aptos"/>
                        </a:rPr>
                        <a:t>Legacy</a:t>
                      </a:r>
                    </a:p>
                  </a:txBody>
                  <a:tcPr marL="91440" marR="91440" marT="45720" marB="45720">
                    <a:solidFill>
                      <a:srgbClr val="F3F6F8"/>
                    </a:solidFill>
                  </a:tcPr>
                </a:tc>
              </a:tr>
              <a:tr h="528638">
                <a:tc>
                  <a:txBody>
                    <a:bodyPr/>
                    <a:lstStyle/>
                    <a:p>
                      <a:r>
                        <a:rPr sz="1800" b="0">
                          <a:solidFill>
                            <a:srgbClr val="1B2933"/>
                          </a:solidFill>
                          <a:latin typeface="Aptos"/>
                          <a:ea typeface="Aptos"/>
                          <a:cs typeface="Aptos"/>
                        </a:rPr>
                        <a:t>Modern time only</a:t>
                      </a:r>
                    </a:p>
                  </a:txBody>
                  <a:tcPr marL="91440" marR="91440" marT="45720" marB="45720">
                    <a:solidFill>
                      <a:srgbClr val="FFFFFF"/>
                    </a:solidFill>
                  </a:tcPr>
                </a:tc>
                <a:tc>
                  <a:txBody>
                    <a:bodyPr/>
                    <a:lstStyle/>
                    <a:p>
                      <a:r>
                        <a:rPr sz="1800" b="0">
                          <a:solidFill>
                            <a:srgbClr val="1B2933"/>
                          </a:solidFill>
                          <a:latin typeface="Aptos"/>
                          <a:ea typeface="Aptos"/>
                          <a:cs typeface="Aptos"/>
                        </a:rPr>
                        <a:t>Modern</a:t>
                      </a:r>
                    </a:p>
                  </a:txBody>
                  <a:tcPr marL="91440" marR="91440" marT="45720" marB="45720">
                    <a:solidFill>
                      <a:srgbClr val="FFFFFF"/>
                    </a:solidFill>
                  </a:tcPr>
                </a:tc>
                <a:tc>
                  <a:txBody>
                    <a:bodyPr/>
                    <a:lstStyle/>
                    <a:p>
                      <a:r>
                        <a:rPr sz="1800" b="0">
                          <a:solidFill>
                            <a:srgbClr val="1B2933"/>
                          </a:solidFill>
                          <a:latin typeface="Aptos"/>
                          <a:ea typeface="Aptos"/>
                          <a:cs typeface="Aptos"/>
                        </a:rPr>
                        <a:t>Legacy</a:t>
                      </a:r>
                    </a:p>
                  </a:txBody>
                  <a:tcPr marL="91440" marR="91440" marT="45720" marB="45720">
                    <a:solidFill>
                      <a:srgbClr val="FFFFFF"/>
                    </a:solidFill>
                  </a:tcPr>
                </a:tc>
              </a:tr>
              <a:tr h="528638">
                <a:tc>
                  <a:txBody>
                    <a:bodyPr/>
                    <a:lstStyle/>
                    <a:p>
                      <a:r>
                        <a:rPr sz="1800" b="0">
                          <a:solidFill>
                            <a:srgbClr val="1B2933"/>
                          </a:solidFill>
                          <a:latin typeface="Aptos"/>
                          <a:ea typeface="Aptos"/>
                          <a:cs typeface="Aptos"/>
                        </a:rPr>
                        <a:t>Modern conditions only</a:t>
                      </a:r>
                    </a:p>
                  </a:txBody>
                  <a:tcPr marL="91440" marR="91440" marT="45720" marB="45720">
                    <a:solidFill>
                      <a:srgbClr val="F3F6F8"/>
                    </a:solidFill>
                  </a:tcPr>
                </a:tc>
                <a:tc>
                  <a:txBody>
                    <a:bodyPr/>
                    <a:lstStyle/>
                    <a:p>
                      <a:r>
                        <a:rPr sz="1800" b="0">
                          <a:solidFill>
                            <a:srgbClr val="1B2933"/>
                          </a:solidFill>
                          <a:latin typeface="Aptos"/>
                          <a:ea typeface="Aptos"/>
                          <a:cs typeface="Aptos"/>
                        </a:rPr>
                        <a:t>Legacy</a:t>
                      </a:r>
                    </a:p>
                  </a:txBody>
                  <a:tcPr marL="91440" marR="91440" marT="45720" marB="45720">
                    <a:solidFill>
                      <a:srgbClr val="F3F6F8"/>
                    </a:solidFill>
                  </a:tcPr>
                </a:tc>
                <a:tc>
                  <a:txBody>
                    <a:bodyPr/>
                    <a:lstStyle/>
                    <a:p>
                      <a:r>
                        <a:rPr sz="1800" b="0">
                          <a:solidFill>
                            <a:srgbClr val="1B2933"/>
                          </a:solidFill>
                          <a:latin typeface="Aptos"/>
                          <a:ea typeface="Aptos"/>
                          <a:cs typeface="Aptos"/>
                        </a:rPr>
                        <a:t>Modern</a:t>
                      </a:r>
                    </a:p>
                  </a:txBody>
                  <a:tcPr marL="91440" marR="91440" marT="45720" marB="45720">
                    <a:solidFill>
                      <a:srgbClr val="F3F6F8"/>
                    </a:solidFill>
                  </a:tcPr>
                </a:tc>
              </a:tr>
              <a:tr h="528638">
                <a:tc>
                  <a:txBody>
                    <a:bodyPr/>
                    <a:lstStyle/>
                    <a:p>
                      <a:r>
                        <a:rPr sz="1800" b="0">
                          <a:solidFill>
                            <a:srgbClr val="1B2933"/>
                          </a:solidFill>
                          <a:latin typeface="Aptos"/>
                          <a:ea typeface="Aptos"/>
                          <a:cs typeface="Aptos"/>
                        </a:rPr>
                        <a:t>B-information diagnostic</a:t>
                      </a:r>
                    </a:p>
                  </a:txBody>
                  <a:tcPr marL="91440" marR="91440" marT="45720" marB="45720">
                    <a:solidFill>
                      <a:srgbClr val="FFFFFF"/>
                    </a:solidFill>
                  </a:tcPr>
                </a:tc>
                <a:tc>
                  <a:txBody>
                    <a:bodyPr/>
                    <a:lstStyle/>
                    <a:p>
                      <a:r>
                        <a:rPr sz="1800" b="0">
                          <a:solidFill>
                            <a:srgbClr val="1B2933"/>
                          </a:solidFill>
                          <a:latin typeface="Aptos"/>
                          <a:ea typeface="Aptos"/>
                          <a:cs typeface="Aptos"/>
                        </a:rPr>
                        <a:t>Legacy</a:t>
                      </a:r>
                    </a:p>
                  </a:txBody>
                  <a:tcPr marL="91440" marR="91440" marT="45720" marB="45720">
                    <a:solidFill>
                      <a:srgbClr val="FFFFFF"/>
                    </a:solidFill>
                  </a:tcPr>
                </a:tc>
                <a:tc>
                  <a:txBody>
                    <a:bodyPr/>
                    <a:lstStyle/>
                    <a:p>
                      <a:r>
                        <a:rPr sz="1800" b="0">
                          <a:solidFill>
                            <a:srgbClr val="1B2933"/>
                          </a:solidFill>
                          <a:latin typeface="Aptos"/>
                          <a:ea typeface="Aptos"/>
                          <a:cs typeface="Aptos"/>
                        </a:rPr>
                        <a:t>Legacy + modern B</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90A04C77-BF12-4ACA-B102-4732CD0422B0}"/>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B is a condition category with feed-specific meanings. Restoring it tests information. Changing conditions can also change the selected venue and price medians.</a:t>
            </a:r>
          </a:p>
        </p:txBody>
      </p:sp>
    </p:spTree>
    <p:extLst>
      <p:ext uri="{BB962C8B-B14F-4D97-AF65-F5344CB8AC3E}">
        <p14:creationId xmlns:p14="http://schemas.microsoft.com/office/powerpoint/2010/main" val="93644870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32A8555-B553-49B9-B8C5-A2B331CF9A35}"/>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2. The controlled study</a:t>
            </a:r>
          </a:p>
        </p:txBody>
      </p:sp>
      <p:sp>
        <p:nvSpPr>
          <p:cNvPr id="3" name="">
            <a:extLst xmlns:a="http://schemas.openxmlformats.org/drawingml/2006/main">
              <a:ext uri="{FF2B5EF4-FFF2-40B4-BE49-F238E27FC236}">
                <a16:creationId xmlns:a16="http://schemas.microsoft.com/office/drawing/2014/main" id="{E59BAF76-2321-4167-8A33-9A0D2B51F9A1}"/>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19. What counts as a material discrepancy?</a:t>
            </a:r>
          </a:p>
        </p:txBody>
      </p:sp>
      <p:sp>
        <p:nvSpPr>
          <p:cNvPr id="4" name="">
            <a:extLst xmlns:a="http://schemas.openxmlformats.org/drawingml/2006/main">
              <a:ext uri="{FF2B5EF4-FFF2-40B4-BE49-F238E27FC236}">
                <a16:creationId xmlns:a16="http://schemas.microsoft.com/office/drawing/2014/main" id="{E59AF3CB-3885-42DC-AB65-4CE799F05A21}"/>
              </a:ext>
            </a:extLst>
          </p:cNvPr>
          <p:cNvSpPr>
            <a:spLocks xmlns:a="http://schemas.openxmlformats.org/drawingml/2006/main" noGrp="1"/>
          </p:cNvSpPr>
          <p:nvPr/>
        </p:nvSpPr>
        <p:spPr>
          <a:xfrm xmlns:a="http://schemas.openxmlformats.org/drawingml/2006/main">
            <a:off x="590550" y="1809750"/>
            <a:ext cx="1095375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B2933"/>
                </a:solidFill>
                <a:latin typeface="Aptos"/>
                <a:ea typeface="Aptos"/>
                <a:cs typeface="Aptos"/>
              </a:defRPr>
            </a:defPPr>
            <a:lvl1pPr>
              <a:defRPr sz="2025" b="0">
                <a:solidFill>
                  <a:srgbClr val="1B2933"/>
                </a:solidFill>
                <a:latin typeface="Aptos"/>
                <a:ea typeface="Aptos"/>
                <a:cs typeface="Aptos"/>
              </a:defRPr>
            </a:lvl1pPr>
            <a:lvl2pPr>
              <a:defRPr sz="2025" b="0">
                <a:solidFill>
                  <a:srgbClr val="1B2933"/>
                </a:solidFill>
                <a:latin typeface="Aptos"/>
                <a:ea typeface="Aptos"/>
                <a:cs typeface="Aptos"/>
              </a:defRPr>
            </a:lvl2pPr>
            <a:lvl3pPr>
              <a:defRPr sz="2025" b="0">
                <a:solidFill>
                  <a:srgbClr val="1B2933"/>
                </a:solidFill>
                <a:latin typeface="Aptos"/>
                <a:ea typeface="Aptos"/>
                <a:cs typeface="Aptos"/>
              </a:defRPr>
            </a:lvl3pPr>
            <a:lvl4pPr>
              <a:defRPr sz="2025" b="0">
                <a:solidFill>
                  <a:srgbClr val="1B2933"/>
                </a:solidFill>
                <a:latin typeface="Aptos"/>
                <a:ea typeface="Aptos"/>
                <a:cs typeface="Aptos"/>
              </a:defRPr>
            </a:lvl4pPr>
            <a:lvl5pPr>
              <a:defRPr sz="2025" b="0">
                <a:solidFill>
                  <a:srgbClr val="1B2933"/>
                </a:solidFill>
                <a:latin typeface="Aptos"/>
                <a:ea typeface="Aptos"/>
                <a:cs typeface="Aptos"/>
              </a:defRPr>
            </a:lvl5pPr>
            <a:lvl6pPr>
              <a:defRPr sz="2025" b="0">
                <a:solidFill>
                  <a:srgbClr val="1B2933"/>
                </a:solidFill>
                <a:latin typeface="Aptos"/>
                <a:ea typeface="Aptos"/>
                <a:cs typeface="Aptos"/>
              </a:defRPr>
            </a:lvl6pPr>
            <a:lvl7pPr>
              <a:defRPr sz="2025" b="0">
                <a:solidFill>
                  <a:srgbClr val="1B2933"/>
                </a:solidFill>
                <a:latin typeface="Aptos"/>
                <a:ea typeface="Aptos"/>
                <a:cs typeface="Aptos"/>
              </a:defRPr>
            </a:lvl7pPr>
            <a:lvl8pPr>
              <a:defRPr sz="2025" b="0">
                <a:solidFill>
                  <a:srgbClr val="1B2933"/>
                </a:solidFill>
                <a:latin typeface="Aptos"/>
                <a:ea typeface="Aptos"/>
                <a:cs typeface="Aptos"/>
              </a:defRPr>
            </a:lvl8pPr>
            <a:lvl9pPr>
              <a:defRPr sz="2025" b="0">
                <a:solidFill>
                  <a:srgbClr val="1B2933"/>
                </a:solidFill>
                <a:latin typeface="Aptos"/>
                <a:ea typeface="Aptos"/>
                <a:cs typeface="Aptos"/>
              </a:defRPr>
            </a:lvl9pPr>
          </a:lstStyle>
          <a:p xmlns:a="http://schemas.openxmlformats.org/drawingml/2006/main">
            <a:pPr>
              <a:defRPr sz="2025" b="0">
                <a:solidFill>
                  <a:srgbClr val="1B2933"/>
                </a:solidFill>
                <a:latin typeface="Aptos"/>
                <a:ea typeface="Aptos"/>
                <a:cs typeface="Aptos"/>
              </a:defRPr>
            </a:pPr>
            <a:r>
              <a:rPr sz="2025" b="0">
                <a:solidFill>
                  <a:srgbClr val="1B2933"/>
                </a:solidFill>
                <a:latin typeface="Aptos"/>
                <a:ea typeface="Aptos"/>
                <a:cs typeface="Aptos"/>
              </a:rPr>
              <a:t>For RV, the fixed threshold asks whether the larger source value exceeds 1.1 times the smaller value. For RQ, the factor is 2.</a:t>
            </a:r>
          </a:p>
          <a:p xmlns:a="http://schemas.openxmlformats.org/drawingml/2006/main">
            <a:r>
              <a:t/>
            </a:r>
          </a:p>
          <a:p xmlns:a="http://schemas.openxmlformats.org/drawingml/2006/main">
            <a:pPr>
              <a:defRPr sz="2025" b="0">
                <a:solidFill>
                  <a:srgbClr val="1B2933"/>
                </a:solidFill>
                <a:latin typeface="Aptos"/>
                <a:ea typeface="Aptos"/>
                <a:cs typeface="Aptos"/>
              </a:defRPr>
            </a:pPr>
            <a:r>
              <a:rPr sz="2025" b="0">
                <a:solidFill>
                  <a:srgbClr val="1B2933"/>
                </a:solidFill>
                <a:latin typeface="Aptos"/>
                <a:ea typeface="Aptos"/>
                <a:cs typeface="Aptos"/>
              </a:rPr>
              <a:t>“Material” names this prespecified diagnostic threshold. It does not automatically mean a statistically significant or profitable effect.</a:t>
            </a:r>
          </a:p>
        </p:txBody>
      </p:sp>
      <p:graphicFrame>
        <p:nvGraphicFramePr>
          <p:cNvPr id="5" name="">
            <a:extLst xmlns:a="http://schemas.openxmlformats.org/drawingml/2006/main">
              <a:ext uri="{FF2B5EF4-FFF2-40B4-BE49-F238E27FC236}">
                <a16:creationId xmlns:a16="http://schemas.microsoft.com/office/drawing/2014/main" id="{2F913C43-39CA-42AA-8922-C213B4861145}"/>
              </a:ext>
            </a:extLst>
          </p:cNvPr>
          <p:cNvGraphicFramePr/>
          <p:nvPr/>
        </p:nvGraphicFramePr>
        <p:xfrm>
          <a:off xmlns:a="http://schemas.openxmlformats.org/drawingml/2006/main" x="590550" y="3695700"/>
          <a:ext xmlns:a="http://schemas.openxmlformats.org/drawingml/2006/main" cx="10953750" cy="1628775"/>
        </p:xfrm>
        <a:graphic xmlns:a="http://schemas.openxmlformats.org/drawingml/2006/main">
          <a:graphicData uri="http://schemas.openxmlformats.org/drawingml/2006/table">
            <a:tbl>
              <a:tblPr/>
              <a:tblGrid>
                <a:gridCol w="3651250"/>
                <a:gridCol w="3651250"/>
                <a:gridCol w="3651250"/>
              </a:tblGrid>
              <a:tr h="542925">
                <a:tc>
                  <a:txBody>
                    <a:bodyPr/>
                    <a:lstStyle/>
                    <a:p>
                      <a:r>
                        <a:rPr sz="1800" b="1">
                          <a:solidFill>
                            <a:srgbClr val="1B2933"/>
                          </a:solidFill>
                          <a:latin typeface="Aptos"/>
                          <a:ea typeface="Aptos"/>
                          <a:cs typeface="Aptos"/>
                        </a:rPr>
                        <a:t>Invented RV values</a:t>
                      </a:r>
                    </a:p>
                  </a:txBody>
                  <a:tcPr marL="91440" marR="91440" marT="45720" marB="45720">
                    <a:solidFill>
                      <a:srgbClr val="E4EDF4"/>
                    </a:solidFill>
                  </a:tcPr>
                </a:tc>
                <a:tc>
                  <a:txBody>
                    <a:bodyPr/>
                    <a:lstStyle/>
                    <a:p>
                      <a:r>
                        <a:rPr sz="1800" b="1">
                          <a:solidFill>
                            <a:srgbClr val="1B2933"/>
                          </a:solidFill>
                          <a:latin typeface="Aptos"/>
                          <a:ea typeface="Aptos"/>
                          <a:cs typeface="Aptos"/>
                        </a:rPr>
                        <a:t>Larger / smaller</a:t>
                      </a:r>
                    </a:p>
                  </a:txBody>
                  <a:tcPr marL="91440" marR="91440" marT="45720" marB="45720">
                    <a:solidFill>
                      <a:srgbClr val="E4EDF4"/>
                    </a:solidFill>
                  </a:tcPr>
                </a:tc>
                <a:tc>
                  <a:txBody>
                    <a:bodyPr/>
                    <a:lstStyle/>
                    <a:p>
                      <a:r>
                        <a:rPr sz="1800" b="1">
                          <a:solidFill>
                            <a:srgbClr val="1B2933"/>
                          </a:solidFill>
                          <a:latin typeface="Aptos"/>
                          <a:ea typeface="Aptos"/>
                          <a:cs typeface="Aptos"/>
                        </a:rPr>
                        <a:t>Above the 1.1 threshold?</a:t>
                      </a:r>
                    </a:p>
                  </a:txBody>
                  <a:tcPr marL="91440" marR="91440" marT="45720" marB="45720">
                    <a:solidFill>
                      <a:srgbClr val="E4EDF4"/>
                    </a:solidFill>
                  </a:tcPr>
                </a:tc>
              </a:tr>
              <a:tr h="542925">
                <a:tc>
                  <a:txBody>
                    <a:bodyPr/>
                    <a:lstStyle/>
                    <a:p>
                      <a:r>
                        <a:rPr sz="1800" b="0">
                          <a:solidFill>
                            <a:srgbClr val="1B2933"/>
                          </a:solidFill>
                          <a:latin typeface="Aptos"/>
                          <a:ea typeface="Aptos"/>
                          <a:cs typeface="Aptos"/>
                        </a:rPr>
                        <a:t>100 and 105</a:t>
                      </a:r>
                    </a:p>
                  </a:txBody>
                  <a:tcPr marL="91440" marR="91440" marT="45720" marB="45720">
                    <a:solidFill>
                      <a:srgbClr val="FFFFFF"/>
                    </a:solidFill>
                  </a:tcPr>
                </a:tc>
                <a:tc>
                  <a:txBody>
                    <a:bodyPr/>
                    <a:lstStyle/>
                    <a:p>
                      <a:r>
                        <a:rPr sz="1800" b="0">
                          <a:solidFill>
                            <a:srgbClr val="1B2933"/>
                          </a:solidFill>
                          <a:latin typeface="Aptos"/>
                          <a:ea typeface="Aptos"/>
                          <a:cs typeface="Aptos"/>
                        </a:rPr>
                        <a:t>1.05</a:t>
                      </a:r>
                    </a:p>
                  </a:txBody>
                  <a:tcPr marL="91440" marR="91440" marT="45720" marB="45720">
                    <a:solidFill>
                      <a:srgbClr val="FFFFFF"/>
                    </a:solidFill>
                  </a:tcPr>
                </a:tc>
                <a:tc>
                  <a:txBody>
                    <a:bodyPr/>
                    <a:lstStyle/>
                    <a:p>
                      <a:r>
                        <a:rPr sz="1800" b="0">
                          <a:solidFill>
                            <a:srgbClr val="1B2933"/>
                          </a:solidFill>
                          <a:latin typeface="Aptos"/>
                          <a:ea typeface="Aptos"/>
                          <a:cs typeface="Aptos"/>
                        </a:rPr>
                        <a:t>No</a:t>
                      </a:r>
                    </a:p>
                  </a:txBody>
                  <a:tcPr marL="91440" marR="91440" marT="45720" marB="45720">
                    <a:solidFill>
                      <a:srgbClr val="FFFFFF"/>
                    </a:solidFill>
                  </a:tcPr>
                </a:tc>
              </a:tr>
              <a:tr h="542925">
                <a:tc>
                  <a:txBody>
                    <a:bodyPr/>
                    <a:lstStyle/>
                    <a:p>
                      <a:r>
                        <a:rPr sz="1800" b="0">
                          <a:solidFill>
                            <a:srgbClr val="1B2933"/>
                          </a:solidFill>
                          <a:latin typeface="Aptos"/>
                          <a:ea typeface="Aptos"/>
                          <a:cs typeface="Aptos"/>
                        </a:rPr>
                        <a:t>100 and 111</a:t>
                      </a:r>
                    </a:p>
                  </a:txBody>
                  <a:tcPr marL="91440" marR="91440" marT="45720" marB="45720">
                    <a:solidFill>
                      <a:srgbClr val="F3F6F8"/>
                    </a:solidFill>
                  </a:tcPr>
                </a:tc>
                <a:tc>
                  <a:txBody>
                    <a:bodyPr/>
                    <a:lstStyle/>
                    <a:p>
                      <a:r>
                        <a:rPr sz="1800" b="0">
                          <a:solidFill>
                            <a:srgbClr val="1B2933"/>
                          </a:solidFill>
                          <a:latin typeface="Aptos"/>
                          <a:ea typeface="Aptos"/>
                          <a:cs typeface="Aptos"/>
                        </a:rPr>
                        <a:t>1.11</a:t>
                      </a:r>
                    </a:p>
                  </a:txBody>
                  <a:tcPr marL="91440" marR="91440" marT="45720" marB="45720">
                    <a:solidFill>
                      <a:srgbClr val="F3F6F8"/>
                    </a:solidFill>
                  </a:tcPr>
                </a:tc>
                <a:tc>
                  <a:txBody>
                    <a:bodyPr/>
                    <a:lstStyle/>
                    <a:p>
                      <a:r>
                        <a:rPr sz="1800" b="0">
                          <a:solidFill>
                            <a:srgbClr val="1B2933"/>
                          </a:solidFill>
                          <a:latin typeface="Aptos"/>
                          <a:ea typeface="Aptos"/>
                          <a:cs typeface="Aptos"/>
                        </a:rPr>
                        <a:t>Yes</a:t>
                      </a:r>
                    </a:p>
                  </a:txBody>
                  <a:tcPr marL="91440" marR="91440" marT="45720" marB="45720">
                    <a:solidFill>
                      <a:srgbClr val="F3F6F8"/>
                    </a:solidFill>
                  </a:tcPr>
                </a:tc>
              </a:tr>
            </a:tbl>
          </a:graphicData>
        </a:graphic>
      </p:graphicFrame>
      <p:sp>
        <p:nvSpPr>
          <p:cNvPr id="6" name="">
            <a:extLst xmlns:a="http://schemas.openxmlformats.org/drawingml/2006/main">
              <a:ext uri="{FF2B5EF4-FFF2-40B4-BE49-F238E27FC236}">
                <a16:creationId xmlns:a16="http://schemas.microsoft.com/office/drawing/2014/main" id="{0DB30C4C-8A82-468B-B08F-97184A5FA8E2}"/>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The paper applies thresholds to positive valid pairs. Invalid comparisons stay explicit.</a:t>
            </a:r>
          </a:p>
        </p:txBody>
      </p:sp>
    </p:spTree>
    <p:extLst>
      <p:ext uri="{BB962C8B-B14F-4D97-AF65-F5344CB8AC3E}">
        <p14:creationId xmlns:p14="http://schemas.microsoft.com/office/powerpoint/2010/main" val="114467266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9E9B072-19E0-4FAB-AB8B-798174A3383B}"/>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2. The controlled study</a:t>
            </a:r>
          </a:p>
        </p:txBody>
      </p:sp>
      <p:sp>
        <p:nvSpPr>
          <p:cNvPr id="3" name="">
            <a:extLst xmlns:a="http://schemas.openxmlformats.org/drawingml/2006/main">
              <a:ext uri="{FF2B5EF4-FFF2-40B4-BE49-F238E27FC236}">
                <a16:creationId xmlns:a16="http://schemas.microsoft.com/office/drawing/2014/main" id="{24FD636D-0A32-4A8C-97C1-99CE73A4A5E1}"/>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20. Discovery and later checks have different roles</a:t>
            </a:r>
          </a:p>
        </p:txBody>
      </p:sp>
      <p:sp>
        <p:nvSpPr>
          <p:cNvPr id="4" name="">
            <a:extLst xmlns:a="http://schemas.openxmlformats.org/drawingml/2006/main">
              <a:ext uri="{FF2B5EF4-FFF2-40B4-BE49-F238E27FC236}">
                <a16:creationId xmlns:a16="http://schemas.microsoft.com/office/drawing/2014/main" id="{BA8C8C81-736E-4EC6-A22D-C0FDFB5F7880}"/>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The mechanism was first explored on two dates. The main discrepancy counts exclude those dates.</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Full-window slopes and the risk-state paths retain them. The paper also reports a sensitivity that changes only their source effects.</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The later policy exercise follows the original results. Closed validation and final periods remain unused.</a:t>
            </a:r>
          </a:p>
        </p:txBody>
      </p:sp>
      <p:sp>
        <p:nvSpPr>
          <p:cNvPr id="5" name="">
            <a:extLst xmlns:a="http://schemas.openxmlformats.org/drawingml/2006/main">
              <a:ext uri="{FF2B5EF4-FFF2-40B4-BE49-F238E27FC236}">
                <a16:creationId xmlns:a16="http://schemas.microsoft.com/office/drawing/2014/main" id="{6E29869B-F429-4BF8-9FE8-4833012B5885}"/>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The study is an exploratory case study, not an untouched forecasting test.</a:t>
            </a:r>
          </a:p>
        </p:txBody>
      </p:sp>
    </p:spTree>
    <p:extLst>
      <p:ext uri="{BB962C8B-B14F-4D97-AF65-F5344CB8AC3E}">
        <p14:creationId xmlns:p14="http://schemas.microsoft.com/office/powerpoint/2010/main" val="108449008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978F382-A990-4EFF-AC5E-736538D9F962}"/>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3. Results and their interpretation</a:t>
            </a:r>
          </a:p>
        </p:txBody>
      </p:sp>
      <p:sp>
        <p:nvSpPr>
          <p:cNvPr id="3" name="">
            <a:extLst xmlns:a="http://schemas.openxmlformats.org/drawingml/2006/main">
              <a:ext uri="{FF2B5EF4-FFF2-40B4-BE49-F238E27FC236}">
                <a16:creationId xmlns:a16="http://schemas.microsoft.com/office/drawing/2014/main" id="{9E8A9905-B53C-404C-9BC4-9BF61316E179}"/>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21. The complete SPY discrepancy counts</a:t>
            </a:r>
          </a:p>
        </p:txBody>
      </p:sp>
      <p:sp>
        <p:nvSpPr>
          <p:cNvPr id="4" name="">
            <a:extLst xmlns:a="http://schemas.openxmlformats.org/drawingml/2006/main">
              <a:ext uri="{FF2B5EF4-FFF2-40B4-BE49-F238E27FC236}">
                <a16:creationId xmlns:a16="http://schemas.microsoft.com/office/drawing/2014/main" id="{3A41C251-E955-4356-B6F2-E15BB1A1CB9C}"/>
              </a:ext>
            </a:extLst>
          </p:cNvPr>
          <p:cNvSpPr>
            <a:spLocks xmlns:a="http://schemas.openxmlformats.org/drawingml/2006/main" noGrp="1"/>
          </p:cNvSpPr>
          <p:nvPr/>
        </p:nvSpPr>
        <p:spPr>
          <a:xfrm xmlns:a="http://schemas.openxmlformats.org/drawingml/2006/main">
            <a:off x="590550" y="180975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B2933"/>
                </a:solidFill>
                <a:latin typeface="Aptos"/>
                <a:ea typeface="Aptos"/>
                <a:cs typeface="Aptos"/>
              </a:defRPr>
            </a:defPPr>
            <a:lvl1pPr>
              <a:defRPr sz="2025" b="0">
                <a:solidFill>
                  <a:srgbClr val="1B2933"/>
                </a:solidFill>
                <a:latin typeface="Aptos"/>
                <a:ea typeface="Aptos"/>
                <a:cs typeface="Aptos"/>
              </a:defRPr>
            </a:lvl1pPr>
            <a:lvl2pPr>
              <a:defRPr sz="2025" b="0">
                <a:solidFill>
                  <a:srgbClr val="1B2933"/>
                </a:solidFill>
                <a:latin typeface="Aptos"/>
                <a:ea typeface="Aptos"/>
                <a:cs typeface="Aptos"/>
              </a:defRPr>
            </a:lvl2pPr>
            <a:lvl3pPr>
              <a:defRPr sz="2025" b="0">
                <a:solidFill>
                  <a:srgbClr val="1B2933"/>
                </a:solidFill>
                <a:latin typeface="Aptos"/>
                <a:ea typeface="Aptos"/>
                <a:cs typeface="Aptos"/>
              </a:defRPr>
            </a:lvl3pPr>
            <a:lvl4pPr>
              <a:defRPr sz="2025" b="0">
                <a:solidFill>
                  <a:srgbClr val="1B2933"/>
                </a:solidFill>
                <a:latin typeface="Aptos"/>
                <a:ea typeface="Aptos"/>
                <a:cs typeface="Aptos"/>
              </a:defRPr>
            </a:lvl4pPr>
            <a:lvl5pPr>
              <a:defRPr sz="2025" b="0">
                <a:solidFill>
                  <a:srgbClr val="1B2933"/>
                </a:solidFill>
                <a:latin typeface="Aptos"/>
                <a:ea typeface="Aptos"/>
                <a:cs typeface="Aptos"/>
              </a:defRPr>
            </a:lvl5pPr>
            <a:lvl6pPr>
              <a:defRPr sz="2025" b="0">
                <a:solidFill>
                  <a:srgbClr val="1B2933"/>
                </a:solidFill>
                <a:latin typeface="Aptos"/>
                <a:ea typeface="Aptos"/>
                <a:cs typeface="Aptos"/>
              </a:defRPr>
            </a:lvl6pPr>
            <a:lvl7pPr>
              <a:defRPr sz="2025" b="0">
                <a:solidFill>
                  <a:srgbClr val="1B2933"/>
                </a:solidFill>
                <a:latin typeface="Aptos"/>
                <a:ea typeface="Aptos"/>
                <a:cs typeface="Aptos"/>
              </a:defRPr>
            </a:lvl7pPr>
            <a:lvl8pPr>
              <a:defRPr sz="2025" b="0">
                <a:solidFill>
                  <a:srgbClr val="1B2933"/>
                </a:solidFill>
                <a:latin typeface="Aptos"/>
                <a:ea typeface="Aptos"/>
                <a:cs typeface="Aptos"/>
              </a:defRPr>
            </a:lvl8pPr>
            <a:lvl9pPr>
              <a:defRPr sz="2025" b="0">
                <a:solidFill>
                  <a:srgbClr val="1B2933"/>
                </a:solidFill>
                <a:latin typeface="Aptos"/>
                <a:ea typeface="Aptos"/>
                <a:cs typeface="Aptos"/>
              </a:defRPr>
            </a:lvl9pPr>
          </a:lstStyle>
          <a:p xmlns:a="http://schemas.openxmlformats.org/drawingml/2006/main">
            <a:pPr>
              <a:defRPr sz="2025" b="0">
                <a:solidFill>
                  <a:srgbClr val="1B2933"/>
                </a:solidFill>
                <a:latin typeface="Aptos"/>
                <a:ea typeface="Aptos"/>
                <a:cs typeface="Aptos"/>
              </a:defRPr>
            </a:pPr>
            <a:r>
              <a:rPr sz="2025" b="0">
                <a:solidFill>
                  <a:srgbClr val="1B2933"/>
                </a:solidFill>
                <a:latin typeface="Aptos"/>
                <a:ea typeface="Aptos"/>
                <a:cs typeface="Aptos"/>
              </a:rPr>
              <a:t>Each cell counts eligible dates when legacy and modern measurements differ beyond the fixed threshold. All six intervals appear, including smaller effects.</a:t>
            </a:r>
          </a:p>
        </p:txBody>
      </p:sp>
      <p:graphicFrame>
        <p:nvGraphicFramePr>
          <p:cNvPr id="5" name="">
            <a:extLst xmlns:a="http://schemas.openxmlformats.org/drawingml/2006/main">
              <a:ext uri="{FF2B5EF4-FFF2-40B4-BE49-F238E27FC236}">
                <a16:creationId xmlns:a16="http://schemas.microsoft.com/office/drawing/2014/main" id="{C42E3B14-6937-43A2-8430-2E690F5824E3}"/>
              </a:ext>
            </a:extLst>
          </p:cNvPr>
          <p:cNvGraphicFramePr/>
          <p:nvPr/>
        </p:nvGraphicFramePr>
        <p:xfrm>
          <a:off xmlns:a="http://schemas.openxmlformats.org/drawingml/2006/main" x="590550" y="2828925"/>
          <a:ext xmlns:a="http://schemas.openxmlformats.org/drawingml/2006/main" cx="10953750" cy="3171825"/>
        </p:xfrm>
        <a:graphic xmlns:a="http://schemas.openxmlformats.org/drawingml/2006/main">
          <a:graphicData uri="http://schemas.openxmlformats.org/drawingml/2006/table">
            <a:tbl>
              <a:tblPr/>
              <a:tblGrid>
                <a:gridCol w="3651250"/>
                <a:gridCol w="3651250"/>
                <a:gridCol w="3651250"/>
              </a:tblGrid>
              <a:tr h="453118">
                <a:tc>
                  <a:txBody>
                    <a:bodyPr/>
                    <a:lstStyle/>
                    <a:p>
                      <a:r>
                        <a:rPr sz="1800" b="1">
                          <a:solidFill>
                            <a:srgbClr val="1B2933"/>
                          </a:solidFill>
                          <a:latin typeface="Aptos"/>
                          <a:ea typeface="Aptos"/>
                          <a:cs typeface="Aptos"/>
                        </a:rPr>
                        <a:t>Sampling interval</a:t>
                      </a:r>
                    </a:p>
                  </a:txBody>
                  <a:tcPr marL="91440" marR="91440" marT="45720" marB="45720">
                    <a:solidFill>
                      <a:srgbClr val="E4EDF4"/>
                    </a:solidFill>
                  </a:tcPr>
                </a:tc>
                <a:tc>
                  <a:txBody>
                    <a:bodyPr/>
                    <a:lstStyle/>
                    <a:p>
                      <a:r>
                        <a:rPr sz="1800" b="1">
                          <a:solidFill>
                            <a:srgbClr val="1B2933"/>
                          </a:solidFill>
                          <a:latin typeface="Aptos"/>
                          <a:ea typeface="Aptos"/>
                          <a:cs typeface="Aptos"/>
                        </a:rPr>
                        <a:t>RV: dates above threshold</a:t>
                      </a:r>
                    </a:p>
                  </a:txBody>
                  <a:tcPr marL="91440" marR="91440" marT="45720" marB="45720">
                    <a:solidFill>
                      <a:srgbClr val="E4EDF4"/>
                    </a:solidFill>
                  </a:tcPr>
                </a:tc>
                <a:tc>
                  <a:txBody>
                    <a:bodyPr/>
                    <a:lstStyle/>
                    <a:p>
                      <a:r>
                        <a:rPr sz="1800" b="1">
                          <a:solidFill>
                            <a:srgbClr val="1B2933"/>
                          </a:solidFill>
                          <a:latin typeface="Aptos"/>
                          <a:ea typeface="Aptos"/>
                          <a:cs typeface="Aptos"/>
                        </a:rPr>
                        <a:t>RQ: dates above threshold</a:t>
                      </a:r>
                    </a:p>
                  </a:txBody>
                  <a:tcPr marL="91440" marR="91440" marT="45720" marB="45720">
                    <a:solidFill>
                      <a:srgbClr val="E4EDF4"/>
                    </a:solidFill>
                  </a:tcPr>
                </a:tc>
              </a:tr>
              <a:tr h="453118">
                <a:tc>
                  <a:txBody>
                    <a:bodyPr/>
                    <a:lstStyle/>
                    <a:p>
                      <a:r>
                        <a:rPr sz="1800" b="0">
                          <a:solidFill>
                            <a:srgbClr val="1B2933"/>
                          </a:solidFill>
                          <a:latin typeface="Aptos"/>
                          <a:ea typeface="Aptos"/>
                          <a:cs typeface="Aptos"/>
                        </a:rPr>
                        <a:t>15 seconds</a:t>
                      </a:r>
                    </a:p>
                  </a:txBody>
                  <a:tcPr marL="91440" marR="91440" marT="45720" marB="45720">
                    <a:solidFill>
                      <a:srgbClr val="FFFFFF"/>
                    </a:solidFill>
                  </a:tcPr>
                </a:tc>
                <a:tc>
                  <a:txBody>
                    <a:bodyPr/>
                    <a:lstStyle/>
                    <a:p>
                      <a:r>
                        <a:rPr sz="1800" b="0">
                          <a:solidFill>
                            <a:srgbClr val="1B2933"/>
                          </a:solidFill>
                          <a:latin typeface="Aptos"/>
                          <a:ea typeface="Aptos"/>
                          <a:cs typeface="Aptos"/>
                        </a:rPr>
                        <a:t>137 / 396</a:t>
                      </a:r>
                    </a:p>
                  </a:txBody>
                  <a:tcPr marL="91440" marR="91440" marT="45720" marB="45720">
                    <a:solidFill>
                      <a:srgbClr val="FFFFFF"/>
                    </a:solidFill>
                  </a:tcPr>
                </a:tc>
                <a:tc>
                  <a:txBody>
                    <a:bodyPr/>
                    <a:lstStyle/>
                    <a:p>
                      <a:r>
                        <a:rPr sz="1800" b="0">
                          <a:solidFill>
                            <a:srgbClr val="1B2933"/>
                          </a:solidFill>
                          <a:latin typeface="Aptos"/>
                          <a:ea typeface="Aptos"/>
                          <a:cs typeface="Aptos"/>
                        </a:rPr>
                        <a:t>127 / 396</a:t>
                      </a:r>
                    </a:p>
                  </a:txBody>
                  <a:tcPr marL="91440" marR="91440" marT="45720" marB="45720">
                    <a:solidFill>
                      <a:srgbClr val="FFFFFF"/>
                    </a:solidFill>
                  </a:tcPr>
                </a:tc>
              </a:tr>
              <a:tr h="453118">
                <a:tc>
                  <a:txBody>
                    <a:bodyPr/>
                    <a:lstStyle/>
                    <a:p>
                      <a:r>
                        <a:rPr sz="1800" b="0">
                          <a:solidFill>
                            <a:srgbClr val="1B2933"/>
                          </a:solidFill>
                          <a:latin typeface="Aptos"/>
                          <a:ea typeface="Aptos"/>
                          <a:cs typeface="Aptos"/>
                        </a:rPr>
                        <a:t>30 seconds</a:t>
                      </a:r>
                    </a:p>
                  </a:txBody>
                  <a:tcPr marL="91440" marR="91440" marT="45720" marB="45720">
                    <a:solidFill>
                      <a:srgbClr val="F3F6F8"/>
                    </a:solidFill>
                  </a:tcPr>
                </a:tc>
                <a:tc>
                  <a:txBody>
                    <a:bodyPr/>
                    <a:lstStyle/>
                    <a:p>
                      <a:r>
                        <a:rPr sz="1800" b="0">
                          <a:solidFill>
                            <a:srgbClr val="1B2933"/>
                          </a:solidFill>
                          <a:latin typeface="Aptos"/>
                          <a:ea typeface="Aptos"/>
                          <a:cs typeface="Aptos"/>
                        </a:rPr>
                        <a:t>75 / 396</a:t>
                      </a:r>
                    </a:p>
                  </a:txBody>
                  <a:tcPr marL="91440" marR="91440" marT="45720" marB="45720">
                    <a:solidFill>
                      <a:srgbClr val="F3F6F8"/>
                    </a:solidFill>
                  </a:tcPr>
                </a:tc>
                <a:tc>
                  <a:txBody>
                    <a:bodyPr/>
                    <a:lstStyle/>
                    <a:p>
                      <a:r>
                        <a:rPr sz="1800" b="0">
                          <a:solidFill>
                            <a:srgbClr val="1B2933"/>
                          </a:solidFill>
                          <a:latin typeface="Aptos"/>
                          <a:ea typeface="Aptos"/>
                          <a:cs typeface="Aptos"/>
                        </a:rPr>
                        <a:t>73 / 396</a:t>
                      </a:r>
                    </a:p>
                  </a:txBody>
                  <a:tcPr marL="91440" marR="91440" marT="45720" marB="45720">
                    <a:solidFill>
                      <a:srgbClr val="F3F6F8"/>
                    </a:solidFill>
                  </a:tcPr>
                </a:tc>
              </a:tr>
              <a:tr h="453118">
                <a:tc>
                  <a:txBody>
                    <a:bodyPr/>
                    <a:lstStyle/>
                    <a:p>
                      <a:r>
                        <a:rPr sz="1800" b="0">
                          <a:solidFill>
                            <a:srgbClr val="1B2933"/>
                          </a:solidFill>
                          <a:latin typeface="Aptos"/>
                          <a:ea typeface="Aptos"/>
                          <a:cs typeface="Aptos"/>
                        </a:rPr>
                        <a:t>1 minute</a:t>
                      </a:r>
                    </a:p>
                  </a:txBody>
                  <a:tcPr marL="91440" marR="91440" marT="45720" marB="45720">
                    <a:solidFill>
                      <a:srgbClr val="FFFFFF"/>
                    </a:solidFill>
                  </a:tcPr>
                </a:tc>
                <a:tc>
                  <a:txBody>
                    <a:bodyPr/>
                    <a:lstStyle/>
                    <a:p>
                      <a:r>
                        <a:rPr sz="1800" b="0">
                          <a:solidFill>
                            <a:srgbClr val="1B2933"/>
                          </a:solidFill>
                          <a:latin typeface="Aptos"/>
                          <a:ea typeface="Aptos"/>
                          <a:cs typeface="Aptos"/>
                        </a:rPr>
                        <a:t>41 / 396</a:t>
                      </a:r>
                    </a:p>
                  </a:txBody>
                  <a:tcPr marL="91440" marR="91440" marT="45720" marB="45720">
                    <a:solidFill>
                      <a:srgbClr val="FFFFFF"/>
                    </a:solidFill>
                  </a:tcPr>
                </a:tc>
                <a:tc>
                  <a:txBody>
                    <a:bodyPr/>
                    <a:lstStyle/>
                    <a:p>
                      <a:r>
                        <a:rPr sz="1800" b="0">
                          <a:solidFill>
                            <a:srgbClr val="1B2933"/>
                          </a:solidFill>
                          <a:latin typeface="Aptos"/>
                          <a:ea typeface="Aptos"/>
                          <a:cs typeface="Aptos"/>
                        </a:rPr>
                        <a:t>37 / 396</a:t>
                      </a:r>
                    </a:p>
                  </a:txBody>
                  <a:tcPr marL="91440" marR="91440" marT="45720" marB="45720">
                    <a:solidFill>
                      <a:srgbClr val="FFFFFF"/>
                    </a:solidFill>
                  </a:tcPr>
                </a:tc>
              </a:tr>
              <a:tr h="453118">
                <a:tc>
                  <a:txBody>
                    <a:bodyPr/>
                    <a:lstStyle/>
                    <a:p>
                      <a:r>
                        <a:rPr sz="1800" b="0">
                          <a:solidFill>
                            <a:srgbClr val="1B2933"/>
                          </a:solidFill>
                          <a:latin typeface="Aptos"/>
                          <a:ea typeface="Aptos"/>
                          <a:cs typeface="Aptos"/>
                        </a:rPr>
                        <a:t>5 minutes</a:t>
                      </a:r>
                    </a:p>
                  </a:txBody>
                  <a:tcPr marL="91440" marR="91440" marT="45720" marB="45720">
                    <a:solidFill>
                      <a:srgbClr val="F3F6F8"/>
                    </a:solidFill>
                  </a:tcPr>
                </a:tc>
                <a:tc>
                  <a:txBody>
                    <a:bodyPr/>
                    <a:lstStyle/>
                    <a:p>
                      <a:r>
                        <a:rPr sz="1800" b="0">
                          <a:solidFill>
                            <a:srgbClr val="1B2933"/>
                          </a:solidFill>
                          <a:latin typeface="Aptos"/>
                          <a:ea typeface="Aptos"/>
                          <a:cs typeface="Aptos"/>
                        </a:rPr>
                        <a:t>19 / 396</a:t>
                      </a:r>
                    </a:p>
                  </a:txBody>
                  <a:tcPr marL="91440" marR="91440" marT="45720" marB="45720">
                    <a:solidFill>
                      <a:srgbClr val="F3F6F8"/>
                    </a:solidFill>
                  </a:tcPr>
                </a:tc>
                <a:tc>
                  <a:txBody>
                    <a:bodyPr/>
                    <a:lstStyle/>
                    <a:p>
                      <a:r>
                        <a:rPr sz="1800" b="0">
                          <a:solidFill>
                            <a:srgbClr val="1B2933"/>
                          </a:solidFill>
                          <a:latin typeface="Aptos"/>
                          <a:ea typeface="Aptos"/>
                          <a:cs typeface="Aptos"/>
                        </a:rPr>
                        <a:t>5 / 396</a:t>
                      </a:r>
                    </a:p>
                  </a:txBody>
                  <a:tcPr marL="91440" marR="91440" marT="45720" marB="45720">
                    <a:solidFill>
                      <a:srgbClr val="F3F6F8"/>
                    </a:solidFill>
                  </a:tcPr>
                </a:tc>
              </a:tr>
              <a:tr h="453118">
                <a:tc>
                  <a:txBody>
                    <a:bodyPr/>
                    <a:lstStyle/>
                    <a:p>
                      <a:r>
                        <a:rPr sz="1800" b="0">
                          <a:solidFill>
                            <a:srgbClr val="1B2933"/>
                          </a:solidFill>
                          <a:latin typeface="Aptos"/>
                          <a:ea typeface="Aptos"/>
                          <a:cs typeface="Aptos"/>
                        </a:rPr>
                        <a:t>15 minutes</a:t>
                      </a:r>
                    </a:p>
                  </a:txBody>
                  <a:tcPr marL="91440" marR="91440" marT="45720" marB="45720">
                    <a:solidFill>
                      <a:srgbClr val="FFFFFF"/>
                    </a:solidFill>
                  </a:tcPr>
                </a:tc>
                <a:tc>
                  <a:txBody>
                    <a:bodyPr/>
                    <a:lstStyle/>
                    <a:p>
                      <a:r>
                        <a:rPr sz="1800" b="0">
                          <a:solidFill>
                            <a:srgbClr val="1B2933"/>
                          </a:solidFill>
                          <a:latin typeface="Aptos"/>
                          <a:ea typeface="Aptos"/>
                          <a:cs typeface="Aptos"/>
                        </a:rPr>
                        <a:t>29 / 396</a:t>
                      </a:r>
                    </a:p>
                  </a:txBody>
                  <a:tcPr marL="91440" marR="91440" marT="45720" marB="45720">
                    <a:solidFill>
                      <a:srgbClr val="FFFFFF"/>
                    </a:solidFill>
                  </a:tcPr>
                </a:tc>
                <a:tc>
                  <a:txBody>
                    <a:bodyPr/>
                    <a:lstStyle/>
                    <a:p>
                      <a:r>
                        <a:rPr sz="1800" b="0">
                          <a:solidFill>
                            <a:srgbClr val="1B2933"/>
                          </a:solidFill>
                          <a:latin typeface="Aptos"/>
                          <a:ea typeface="Aptos"/>
                          <a:cs typeface="Aptos"/>
                        </a:rPr>
                        <a:t>4 / 396</a:t>
                      </a:r>
                    </a:p>
                  </a:txBody>
                  <a:tcPr marL="91440" marR="91440" marT="45720" marB="45720">
                    <a:solidFill>
                      <a:srgbClr val="FFFFFF"/>
                    </a:solidFill>
                  </a:tcPr>
                </a:tc>
              </a:tr>
              <a:tr h="453118">
                <a:tc>
                  <a:txBody>
                    <a:bodyPr/>
                    <a:lstStyle/>
                    <a:p>
                      <a:r>
                        <a:rPr sz="1800" b="0">
                          <a:solidFill>
                            <a:srgbClr val="1B2933"/>
                          </a:solidFill>
                          <a:latin typeface="Aptos"/>
                          <a:ea typeface="Aptos"/>
                          <a:cs typeface="Aptos"/>
                        </a:rPr>
                        <a:t>30 minutes</a:t>
                      </a:r>
                    </a:p>
                  </a:txBody>
                  <a:tcPr marL="91440" marR="91440" marT="45720" marB="45720">
                    <a:solidFill>
                      <a:srgbClr val="F3F6F8"/>
                    </a:solidFill>
                  </a:tcPr>
                </a:tc>
                <a:tc>
                  <a:txBody>
                    <a:bodyPr/>
                    <a:lstStyle/>
                    <a:p>
                      <a:r>
                        <a:rPr sz="1800" b="0">
                          <a:solidFill>
                            <a:srgbClr val="1B2933"/>
                          </a:solidFill>
                          <a:latin typeface="Aptos"/>
                          <a:ea typeface="Aptos"/>
                          <a:cs typeface="Aptos"/>
                        </a:rPr>
                        <a:t>51 / 396</a:t>
                      </a:r>
                    </a:p>
                  </a:txBody>
                  <a:tcPr marL="91440" marR="91440" marT="45720" marB="45720">
                    <a:solidFill>
                      <a:srgbClr val="F3F6F8"/>
                    </a:solidFill>
                  </a:tcPr>
                </a:tc>
                <a:tc>
                  <a:txBody>
                    <a:bodyPr/>
                    <a:lstStyle/>
                    <a:p>
                      <a:r>
                        <a:rPr sz="1800" b="0">
                          <a:solidFill>
                            <a:srgbClr val="1B2933"/>
                          </a:solidFill>
                          <a:latin typeface="Aptos"/>
                          <a:ea typeface="Aptos"/>
                          <a:cs typeface="Aptos"/>
                        </a:rPr>
                        <a:t>5 / 396</a:t>
                      </a:r>
                    </a:p>
                  </a:txBody>
                  <a:tcPr marL="91440" marR="91440" marT="45720" marB="45720">
                    <a:solidFill>
                      <a:srgbClr val="F3F6F8"/>
                    </a:solidFill>
                  </a:tcPr>
                </a:tc>
              </a:tr>
            </a:tbl>
          </a:graphicData>
        </a:graphic>
      </p:graphicFrame>
      <p:sp>
        <p:nvSpPr>
          <p:cNvPr id="6" name="">
            <a:extLst xmlns:a="http://schemas.openxmlformats.org/drawingml/2006/main">
              <a:ext uri="{FF2B5EF4-FFF2-40B4-BE49-F238E27FC236}">
                <a16:creationId xmlns:a16="http://schemas.microsoft.com/office/drawing/2014/main" id="{352B8191-2DDE-4D0F-BFD3-CA2FEDD8E8E9}"/>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396 eligible SPY dates after excluding two discovery dates. Sources agree on recorded inputs.</a:t>
            </a:r>
          </a:p>
        </p:txBody>
      </p:sp>
    </p:spTree>
    <p:extLst>
      <p:ext uri="{BB962C8B-B14F-4D97-AF65-F5344CB8AC3E}">
        <p14:creationId xmlns:p14="http://schemas.microsoft.com/office/powerpoint/2010/main" val="53864071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DD40951-BD47-42B2-88F2-59D110FD99F6}"/>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3. Results and their interpretation</a:t>
            </a:r>
          </a:p>
        </p:txBody>
      </p:sp>
      <p:sp>
        <p:nvSpPr>
          <p:cNvPr id="3" name="">
            <a:extLst xmlns:a="http://schemas.openxmlformats.org/drawingml/2006/main">
              <a:ext uri="{FF2B5EF4-FFF2-40B4-BE49-F238E27FC236}">
                <a16:creationId xmlns:a16="http://schemas.microsoft.com/office/drawing/2014/main" id="{50954014-C5B5-4DDA-AB0B-2B8E1C2B18F7}"/>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22. At one minute, conditions explain much of the gap</a:t>
            </a:r>
          </a:p>
        </p:txBody>
      </p:sp>
      <p:sp>
        <p:nvSpPr>
          <p:cNvPr id="4" name="">
            <a:extLst xmlns:a="http://schemas.openxmlformats.org/drawingml/2006/main">
              <a:ext uri="{FF2B5EF4-FFF2-40B4-BE49-F238E27FC236}">
                <a16:creationId xmlns:a16="http://schemas.microsoft.com/office/drawing/2014/main" id="{3A5F4CAA-3B14-4102-A2D2-8363FF54F2A8}"/>
              </a:ext>
            </a:extLst>
          </p:cNvPr>
          <p:cNvSpPr>
            <a:spLocks xmlns:a="http://schemas.openxmlformats.org/drawingml/2006/main" noGrp="1"/>
          </p:cNvSpPr>
          <p:nvPr/>
        </p:nvSpPr>
        <p:spPr>
          <a:xfrm xmlns:a="http://schemas.openxmlformats.org/drawingml/2006/main">
            <a:off x="590550" y="1866900"/>
            <a:ext cx="4429125"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B2933"/>
                </a:solidFill>
                <a:latin typeface="Aptos"/>
                <a:ea typeface="Aptos"/>
                <a:cs typeface="Aptos"/>
              </a:defRPr>
            </a:defPPr>
            <a:lvl1pPr>
              <a:defRPr sz="1950" b="0">
                <a:solidFill>
                  <a:srgbClr val="1B2933"/>
                </a:solidFill>
                <a:latin typeface="Aptos"/>
                <a:ea typeface="Aptos"/>
                <a:cs typeface="Aptos"/>
              </a:defRPr>
            </a:lvl1pPr>
            <a:lvl2pPr>
              <a:defRPr sz="1950" b="0">
                <a:solidFill>
                  <a:srgbClr val="1B2933"/>
                </a:solidFill>
                <a:latin typeface="Aptos"/>
                <a:ea typeface="Aptos"/>
                <a:cs typeface="Aptos"/>
              </a:defRPr>
            </a:lvl2pPr>
            <a:lvl3pPr>
              <a:defRPr sz="1950" b="0">
                <a:solidFill>
                  <a:srgbClr val="1B2933"/>
                </a:solidFill>
                <a:latin typeface="Aptos"/>
                <a:ea typeface="Aptos"/>
                <a:cs typeface="Aptos"/>
              </a:defRPr>
            </a:lvl3pPr>
            <a:lvl4pPr>
              <a:defRPr sz="1950" b="0">
                <a:solidFill>
                  <a:srgbClr val="1B2933"/>
                </a:solidFill>
                <a:latin typeface="Aptos"/>
                <a:ea typeface="Aptos"/>
                <a:cs typeface="Aptos"/>
              </a:defRPr>
            </a:lvl4pPr>
            <a:lvl5pPr>
              <a:defRPr sz="1950" b="0">
                <a:solidFill>
                  <a:srgbClr val="1B2933"/>
                </a:solidFill>
                <a:latin typeface="Aptos"/>
                <a:ea typeface="Aptos"/>
                <a:cs typeface="Aptos"/>
              </a:defRPr>
            </a:lvl5pPr>
            <a:lvl6pPr>
              <a:defRPr sz="1950" b="0">
                <a:solidFill>
                  <a:srgbClr val="1B2933"/>
                </a:solidFill>
                <a:latin typeface="Aptos"/>
                <a:ea typeface="Aptos"/>
                <a:cs typeface="Aptos"/>
              </a:defRPr>
            </a:lvl6pPr>
            <a:lvl7pPr>
              <a:defRPr sz="1950" b="0">
                <a:solidFill>
                  <a:srgbClr val="1B2933"/>
                </a:solidFill>
                <a:latin typeface="Aptos"/>
                <a:ea typeface="Aptos"/>
                <a:cs typeface="Aptos"/>
              </a:defRPr>
            </a:lvl7pPr>
            <a:lvl8pPr>
              <a:defRPr sz="1950" b="0">
                <a:solidFill>
                  <a:srgbClr val="1B2933"/>
                </a:solidFill>
                <a:latin typeface="Aptos"/>
                <a:ea typeface="Aptos"/>
                <a:cs typeface="Aptos"/>
              </a:defRPr>
            </a:lvl8pPr>
            <a:lvl9pPr>
              <a:defRPr sz="1950" b="0">
                <a:solidFill>
                  <a:srgbClr val="1B2933"/>
                </a:solidFill>
                <a:latin typeface="Aptos"/>
                <a:ea typeface="Aptos"/>
                <a:cs typeface="Aptos"/>
              </a:defRPr>
            </a:lvl9pPr>
          </a:lstStyle>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The chart counts dates with a material RV discrepancy.</a:t>
            </a:r>
          </a:p>
          <a:p xmlns:a="http://schemas.openxmlformats.org/drawingml/2006/main">
            <a:r>
              <a:t/>
            </a:r>
          </a:p>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Modern time alone leaves 42 dates. Modern condition information reduces the count to 5.</a:t>
            </a:r>
          </a:p>
          <a:p xmlns:a="http://schemas.openxmlformats.org/drawingml/2006/main">
            <a:r>
              <a:t/>
            </a:r>
          </a:p>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This is evidence about this fixed pipeline, including its interactions.</a:t>
            </a:r>
          </a:p>
        </p:txBody>
      </p:sp>
      <p:graphicFrame>
        <p:nvGraphicFramePr>
          <p:cNvPr id="5" name="Chart">
            <a:extLst xmlns:a="http://schemas.openxmlformats.org/drawingml/2006/main">
              <a:ext uri="{FF2B5EF4-FFF2-40B4-BE49-F238E27FC236}">
                <a16:creationId xmlns:a16="http://schemas.microsoft.com/office/drawing/2014/main" id="{803311E5-6E09-467E-A086-8049A49573FE}"/>
              </a:ext>
            </a:extLst>
          </p:cNvPr>
          <p:cNvGraphicFramePr/>
          <p:nvPr/>
        </p:nvGraphicFramePr>
        <p:xfrm>
          <a:off xmlns:a="http://schemas.openxmlformats.org/drawingml/2006/main" x="5286375" y="1762125"/>
          <a:ext xmlns:a="http://schemas.openxmlformats.org/drawingml/2006/main" cx="6334125" cy="3857625"/>
        </p:xfrm>
        <a:graphic xmlns:a="http://schemas.openxmlformats.org/drawingml/2006/main">
          <a:graphicData uri="http://schemas.openxmlformats.org/drawingml/2006/chart">
            <c:chart xmlns:r="http://schemas.openxmlformats.org/officeDocument/2006/relationships" xmlns:c="http://schemas.openxmlformats.org/drawingml/2006/chart" r:id="Rdf621f5c16ec45fc"/>
          </a:graphicData>
        </a:graphic>
      </p:graphicFrame>
      <p:sp>
        <p:nvSpPr>
          <p:cNvPr id="6" name="">
            <a:extLst xmlns:a="http://schemas.openxmlformats.org/drawingml/2006/main">
              <a:ext uri="{FF2B5EF4-FFF2-40B4-BE49-F238E27FC236}">
                <a16:creationId xmlns:a16="http://schemas.microsoft.com/office/drawing/2014/main" id="{D3F3F6A5-F7CF-4D3A-B267-F202EC5F55D4}"/>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Every bar has the same 396-date denominator. B restoration is a diagnostic, not a universal rule.</a:t>
            </a:r>
          </a:p>
        </p:txBody>
      </p:sp>
    </p:spTree>
    <p:extLst>
      <p:ext uri="{BB962C8B-B14F-4D97-AF65-F5344CB8AC3E}">
        <p14:creationId xmlns:p14="http://schemas.microsoft.com/office/powerpoint/2010/main" val="185016476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7CCCF21-5354-4002-86D9-63DF7FABDEEE}"/>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3. Results and their interpretation</a:t>
            </a:r>
          </a:p>
        </p:txBody>
      </p:sp>
      <p:sp>
        <p:nvSpPr>
          <p:cNvPr id="3" name="">
            <a:extLst xmlns:a="http://schemas.openxmlformats.org/drawingml/2006/main">
              <a:ext uri="{FF2B5EF4-FFF2-40B4-BE49-F238E27FC236}">
                <a16:creationId xmlns:a16="http://schemas.microsoft.com/office/drawing/2014/main" id="{3EECB0CF-0F56-400E-9657-D5072FE61602}"/>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23. The source changes the roughness summary too</a:t>
            </a:r>
          </a:p>
        </p:txBody>
      </p:sp>
      <p:sp>
        <p:nvSpPr>
          <p:cNvPr id="4" name="">
            <a:extLst xmlns:a="http://schemas.openxmlformats.org/drawingml/2006/main">
              <a:ext uri="{FF2B5EF4-FFF2-40B4-BE49-F238E27FC236}">
                <a16:creationId xmlns:a16="http://schemas.microsoft.com/office/drawing/2014/main" id="{3008254B-51E1-47E2-AA1C-9028D5B7858B}"/>
              </a:ext>
            </a:extLst>
          </p:cNvPr>
          <p:cNvSpPr>
            <a:spLocks xmlns:a="http://schemas.openxmlformats.org/drawingml/2006/main" noGrp="1"/>
          </p:cNvSpPr>
          <p:nvPr/>
        </p:nvSpPr>
        <p:spPr>
          <a:xfrm xmlns:a="http://schemas.openxmlformats.org/drawingml/2006/main">
            <a:off x="590550" y="1866900"/>
            <a:ext cx="4429125"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B2933"/>
                </a:solidFill>
                <a:latin typeface="Aptos"/>
                <a:ea typeface="Aptos"/>
                <a:cs typeface="Aptos"/>
              </a:defRPr>
            </a:defPPr>
            <a:lvl1pPr>
              <a:defRPr sz="1950" b="0">
                <a:solidFill>
                  <a:srgbClr val="1B2933"/>
                </a:solidFill>
                <a:latin typeface="Aptos"/>
                <a:ea typeface="Aptos"/>
                <a:cs typeface="Aptos"/>
              </a:defRPr>
            </a:lvl1pPr>
            <a:lvl2pPr>
              <a:defRPr sz="1950" b="0">
                <a:solidFill>
                  <a:srgbClr val="1B2933"/>
                </a:solidFill>
                <a:latin typeface="Aptos"/>
                <a:ea typeface="Aptos"/>
                <a:cs typeface="Aptos"/>
              </a:defRPr>
            </a:lvl2pPr>
            <a:lvl3pPr>
              <a:defRPr sz="1950" b="0">
                <a:solidFill>
                  <a:srgbClr val="1B2933"/>
                </a:solidFill>
                <a:latin typeface="Aptos"/>
                <a:ea typeface="Aptos"/>
                <a:cs typeface="Aptos"/>
              </a:defRPr>
            </a:lvl3pPr>
            <a:lvl4pPr>
              <a:defRPr sz="1950" b="0">
                <a:solidFill>
                  <a:srgbClr val="1B2933"/>
                </a:solidFill>
                <a:latin typeface="Aptos"/>
                <a:ea typeface="Aptos"/>
                <a:cs typeface="Aptos"/>
              </a:defRPr>
            </a:lvl4pPr>
            <a:lvl5pPr>
              <a:defRPr sz="1950" b="0">
                <a:solidFill>
                  <a:srgbClr val="1B2933"/>
                </a:solidFill>
                <a:latin typeface="Aptos"/>
                <a:ea typeface="Aptos"/>
                <a:cs typeface="Aptos"/>
              </a:defRPr>
            </a:lvl5pPr>
            <a:lvl6pPr>
              <a:defRPr sz="1950" b="0">
                <a:solidFill>
                  <a:srgbClr val="1B2933"/>
                </a:solidFill>
                <a:latin typeface="Aptos"/>
                <a:ea typeface="Aptos"/>
                <a:cs typeface="Aptos"/>
              </a:defRPr>
            </a:lvl6pPr>
            <a:lvl7pPr>
              <a:defRPr sz="1950" b="0">
                <a:solidFill>
                  <a:srgbClr val="1B2933"/>
                </a:solidFill>
                <a:latin typeface="Aptos"/>
                <a:ea typeface="Aptos"/>
                <a:cs typeface="Aptos"/>
              </a:defRPr>
            </a:lvl7pPr>
            <a:lvl8pPr>
              <a:defRPr sz="1950" b="0">
                <a:solidFill>
                  <a:srgbClr val="1B2933"/>
                </a:solidFill>
                <a:latin typeface="Aptos"/>
                <a:ea typeface="Aptos"/>
                <a:cs typeface="Aptos"/>
              </a:defRPr>
            </a:lvl8pPr>
            <a:lvl9pPr>
              <a:defRPr sz="1950" b="0">
                <a:solidFill>
                  <a:srgbClr val="1B2933"/>
                </a:solidFill>
                <a:latin typeface="Aptos"/>
                <a:ea typeface="Aptos"/>
                <a:cs typeface="Aptos"/>
              </a:defRPr>
            </a:lvl9pPr>
          </a:lstStyle>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These bars show H-tilde for log RV over lags 1–10. Lower values describe relatively more short-lag variation within this calculation.</a:t>
            </a:r>
          </a:p>
          <a:p xmlns:a="http://schemas.openxmlformats.org/drawingml/2006/main">
            <a:r>
              <a:t/>
            </a:r>
          </a:p>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They compare measurement constructions on the same recorded trade sequence. They do not reveal the market’s hidden H.</a:t>
            </a:r>
          </a:p>
        </p:txBody>
      </p:sp>
      <p:graphicFrame>
        <p:nvGraphicFramePr>
          <p:cNvPr id="5" name="Chart">
            <a:extLst xmlns:a="http://schemas.openxmlformats.org/drawingml/2006/main">
              <a:ext uri="{FF2B5EF4-FFF2-40B4-BE49-F238E27FC236}">
                <a16:creationId xmlns:a16="http://schemas.microsoft.com/office/drawing/2014/main" id="{096C2290-5B75-43C9-A999-FAF20F4B830D}"/>
              </a:ext>
            </a:extLst>
          </p:cNvPr>
          <p:cNvGraphicFramePr/>
          <p:nvPr/>
        </p:nvGraphicFramePr>
        <p:xfrm>
          <a:off xmlns:a="http://schemas.openxmlformats.org/drawingml/2006/main" x="5286375" y="1762125"/>
          <a:ext xmlns:a="http://schemas.openxmlformats.org/drawingml/2006/main" cx="6334125" cy="3857625"/>
        </p:xfrm>
        <a:graphic xmlns:a="http://schemas.openxmlformats.org/drawingml/2006/main">
          <a:graphicData uri="http://schemas.openxmlformats.org/drawingml/2006/chart">
            <c:chart xmlns:r="http://schemas.openxmlformats.org/officeDocument/2006/relationships" xmlns:c="http://schemas.openxmlformats.org/drawingml/2006/chart" r:id="Rd0a876a43db34aa5"/>
          </a:graphicData>
        </a:graphic>
      </p:graphicFrame>
      <p:sp>
        <p:nvSpPr>
          <p:cNvPr id="6" name="">
            <a:extLst xmlns:a="http://schemas.openxmlformats.org/drawingml/2006/main">
              <a:ext uri="{FF2B5EF4-FFF2-40B4-BE49-F238E27FC236}">
                <a16:creationId xmlns:a16="http://schemas.microsoft.com/office/drawing/2014/main" id="{4FB12324-9FD9-43EE-969C-9717A48A1248}"/>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Full-window descriptive statistics, including discovery dates. 0.15 is not 15% risk.</a:t>
            </a:r>
          </a:p>
        </p:txBody>
      </p:sp>
    </p:spTree>
    <p:extLst>
      <p:ext uri="{BB962C8B-B14F-4D97-AF65-F5344CB8AC3E}">
        <p14:creationId xmlns:p14="http://schemas.microsoft.com/office/powerpoint/2010/main" val="196679819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A497863-3CF0-4626-987B-7D362BF191F5}"/>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3. Results and their interpretation</a:t>
            </a:r>
          </a:p>
        </p:txBody>
      </p:sp>
      <p:sp>
        <p:nvSpPr>
          <p:cNvPr id="3" name="">
            <a:extLst xmlns:a="http://schemas.openxmlformats.org/drawingml/2006/main">
              <a:ext uri="{FF2B5EF4-FFF2-40B4-BE49-F238E27FC236}">
                <a16:creationId xmlns:a16="http://schemas.microsoft.com/office/drawing/2014/main" id="{71241F5E-1074-41F2-A5A2-71DCBFB0C45A}"/>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24. EWMA: a risk estimate with memory</a:t>
            </a:r>
          </a:p>
        </p:txBody>
      </p:sp>
      <p:sp>
        <p:nvSpPr>
          <p:cNvPr id="4" name="">
            <a:extLst xmlns:a="http://schemas.openxmlformats.org/drawingml/2006/main">
              <a:ext uri="{FF2B5EF4-FFF2-40B4-BE49-F238E27FC236}">
                <a16:creationId xmlns:a16="http://schemas.microsoft.com/office/drawing/2014/main" id="{15DE26CE-5234-4A60-9A05-F77B5EF87F2D}"/>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EWMA means exponentially weighted moving average. It combines an older estimate with the latest measured variance.</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The original rule uses 94% of the previous estimate and 6% of today’s RV. The result becomes the variance input for the next session.</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The paper calls this weighted variance estimate a state. The initial state equals the first RV. The paper excludes 126 warmup observations from evaluation.</a:t>
            </a:r>
          </a:p>
        </p:txBody>
      </p:sp>
      <p:sp>
        <p:nvSpPr>
          <p:cNvPr id="5" name="">
            <a:extLst xmlns:a="http://schemas.openxmlformats.org/drawingml/2006/main">
              <a:ext uri="{FF2B5EF4-FFF2-40B4-BE49-F238E27FC236}">
                <a16:creationId xmlns:a16="http://schemas.microsoft.com/office/drawing/2014/main" id="{31EA2A0E-2036-47B1-9B9D-46AFF93E3253}"/>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An origin date is the completed session supplying information for the next session.</a:t>
            </a:r>
          </a:p>
        </p:txBody>
      </p:sp>
    </p:spTree>
    <p:extLst>
      <p:ext uri="{BB962C8B-B14F-4D97-AF65-F5344CB8AC3E}">
        <p14:creationId xmlns:p14="http://schemas.microsoft.com/office/powerpoint/2010/main" val="8303033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D177257-F569-4B68-AF30-2BBACDB8B834}"/>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3. Results and their interpretation</a:t>
            </a:r>
          </a:p>
        </p:txBody>
      </p:sp>
      <p:sp>
        <p:nvSpPr>
          <p:cNvPr id="3" name="">
            <a:extLst xmlns:a="http://schemas.openxmlformats.org/drawingml/2006/main">
              <a:ext uri="{FF2B5EF4-FFF2-40B4-BE49-F238E27FC236}">
                <a16:creationId xmlns:a16="http://schemas.microsoft.com/office/drawing/2014/main" id="{A9D24656-713F-4E8A-96D9-99C9570C22F6}"/>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25. A worked EWMA update</a:t>
            </a:r>
          </a:p>
        </p:txBody>
      </p:sp>
      <p:sp>
        <p:nvSpPr>
          <p:cNvPr id="4" name="">
            <a:extLst xmlns:a="http://schemas.openxmlformats.org/drawingml/2006/main">
              <a:ext uri="{FF2B5EF4-FFF2-40B4-BE49-F238E27FC236}">
                <a16:creationId xmlns:a16="http://schemas.microsoft.com/office/drawing/2014/main" id="{9D2FF467-B1CE-4CF4-BC5E-BE3947C468CF}"/>
              </a:ext>
            </a:extLst>
          </p:cNvPr>
          <p:cNvSpPr>
            <a:spLocks xmlns:a="http://schemas.openxmlformats.org/drawingml/2006/main" noGrp="1"/>
          </p:cNvSpPr>
          <p:nvPr/>
        </p:nvSpPr>
        <p:spPr>
          <a:xfrm xmlns:a="http://schemas.openxmlformats.org/drawingml/2006/main">
            <a:off x="590550" y="1809750"/>
            <a:ext cx="1095375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B2933"/>
                </a:solidFill>
                <a:latin typeface="Aptos"/>
                <a:ea typeface="Aptos"/>
                <a:cs typeface="Aptos"/>
              </a:defRPr>
            </a:defPPr>
            <a:lvl1pPr>
              <a:defRPr sz="2025" b="0">
                <a:solidFill>
                  <a:srgbClr val="1B2933"/>
                </a:solidFill>
                <a:latin typeface="Aptos"/>
                <a:ea typeface="Aptos"/>
                <a:cs typeface="Aptos"/>
              </a:defRPr>
            </a:lvl1pPr>
            <a:lvl2pPr>
              <a:defRPr sz="2025" b="0">
                <a:solidFill>
                  <a:srgbClr val="1B2933"/>
                </a:solidFill>
                <a:latin typeface="Aptos"/>
                <a:ea typeface="Aptos"/>
                <a:cs typeface="Aptos"/>
              </a:defRPr>
            </a:lvl2pPr>
            <a:lvl3pPr>
              <a:defRPr sz="2025" b="0">
                <a:solidFill>
                  <a:srgbClr val="1B2933"/>
                </a:solidFill>
                <a:latin typeface="Aptos"/>
                <a:ea typeface="Aptos"/>
                <a:cs typeface="Aptos"/>
              </a:defRPr>
            </a:lvl3pPr>
            <a:lvl4pPr>
              <a:defRPr sz="2025" b="0">
                <a:solidFill>
                  <a:srgbClr val="1B2933"/>
                </a:solidFill>
                <a:latin typeface="Aptos"/>
                <a:ea typeface="Aptos"/>
                <a:cs typeface="Aptos"/>
              </a:defRPr>
            </a:lvl4pPr>
            <a:lvl5pPr>
              <a:defRPr sz="2025" b="0">
                <a:solidFill>
                  <a:srgbClr val="1B2933"/>
                </a:solidFill>
                <a:latin typeface="Aptos"/>
                <a:ea typeface="Aptos"/>
                <a:cs typeface="Aptos"/>
              </a:defRPr>
            </a:lvl5pPr>
            <a:lvl6pPr>
              <a:defRPr sz="2025" b="0">
                <a:solidFill>
                  <a:srgbClr val="1B2933"/>
                </a:solidFill>
                <a:latin typeface="Aptos"/>
                <a:ea typeface="Aptos"/>
                <a:cs typeface="Aptos"/>
              </a:defRPr>
            </a:lvl6pPr>
            <a:lvl7pPr>
              <a:defRPr sz="2025" b="0">
                <a:solidFill>
                  <a:srgbClr val="1B2933"/>
                </a:solidFill>
                <a:latin typeface="Aptos"/>
                <a:ea typeface="Aptos"/>
                <a:cs typeface="Aptos"/>
              </a:defRPr>
            </a:lvl7pPr>
            <a:lvl8pPr>
              <a:defRPr sz="2025" b="0">
                <a:solidFill>
                  <a:srgbClr val="1B2933"/>
                </a:solidFill>
                <a:latin typeface="Aptos"/>
                <a:ea typeface="Aptos"/>
                <a:cs typeface="Aptos"/>
              </a:defRPr>
            </a:lvl8pPr>
            <a:lvl9pPr>
              <a:defRPr sz="2025" b="0">
                <a:solidFill>
                  <a:srgbClr val="1B2933"/>
                </a:solidFill>
                <a:latin typeface="Aptos"/>
                <a:ea typeface="Aptos"/>
                <a:cs typeface="Aptos"/>
              </a:defRPr>
            </a:lvl9pPr>
          </a:lstStyle>
          <a:p xmlns:a="http://schemas.openxmlformats.org/drawingml/2006/main">
            <a:pPr>
              <a:defRPr sz="2025" b="0">
                <a:solidFill>
                  <a:srgbClr val="1B2933"/>
                </a:solidFill>
                <a:latin typeface="Aptos"/>
                <a:ea typeface="Aptos"/>
                <a:cs typeface="Aptos"/>
              </a:defRPr>
            </a:pPr>
            <a:r>
              <a:rPr sz="2025" b="0">
                <a:solidFill>
                  <a:srgbClr val="1B2933"/>
                </a:solidFill>
                <a:latin typeface="Aptos"/>
                <a:ea typeface="Aptos"/>
                <a:cs typeface="Aptos"/>
              </a:rPr>
              <a:t>Suppose the old variance estimate is 10 and today’s measured variance is 20. The units here are invented variance units.</a:t>
            </a:r>
          </a:p>
          <a:p xmlns:a="http://schemas.openxmlformats.org/drawingml/2006/main">
            <a:r>
              <a:t/>
            </a:r>
          </a:p>
          <a:p xmlns:a="http://schemas.openxmlformats.org/drawingml/2006/main">
            <a:pPr>
              <a:defRPr sz="2025" b="0">
                <a:solidFill>
                  <a:srgbClr val="1B2933"/>
                </a:solidFill>
                <a:latin typeface="Aptos"/>
                <a:ea typeface="Aptos"/>
                <a:cs typeface="Aptos"/>
              </a:defRPr>
            </a:pPr>
            <a:r>
              <a:rPr sz="2025" b="0">
                <a:solidFill>
                  <a:srgbClr val="1B2933"/>
                </a:solidFill>
                <a:latin typeface="Aptos"/>
                <a:ea typeface="Aptos"/>
                <a:cs typeface="Aptos"/>
              </a:rPr>
              <a:t>The new estimate is 9.4 + 1.2 = 10.6. It moves toward today’s value while retaining memory.</a:t>
            </a:r>
          </a:p>
        </p:txBody>
      </p:sp>
      <p:graphicFrame>
        <p:nvGraphicFramePr>
          <p:cNvPr id="5" name="">
            <a:extLst xmlns:a="http://schemas.openxmlformats.org/drawingml/2006/main">
              <a:ext uri="{FF2B5EF4-FFF2-40B4-BE49-F238E27FC236}">
                <a16:creationId xmlns:a16="http://schemas.microsoft.com/office/drawing/2014/main" id="{9CACA1AD-CAB6-4767-B263-78043885AE08}"/>
              </a:ext>
            </a:extLst>
          </p:cNvPr>
          <p:cNvGraphicFramePr/>
          <p:nvPr/>
        </p:nvGraphicFramePr>
        <p:xfrm>
          <a:off xmlns:a="http://schemas.openxmlformats.org/drawingml/2006/main" x="590550" y="3695700"/>
          <a:ext xmlns:a="http://schemas.openxmlformats.org/drawingml/2006/main" cx="10953750" cy="2171700"/>
        </p:xfrm>
        <a:graphic xmlns:a="http://schemas.openxmlformats.org/drawingml/2006/main">
          <a:graphicData uri="http://schemas.openxmlformats.org/drawingml/2006/table">
            <a:tbl>
              <a:tblPr/>
              <a:tblGrid>
                <a:gridCol w="3651250"/>
                <a:gridCol w="3651250"/>
                <a:gridCol w="3651250"/>
              </a:tblGrid>
              <a:tr h="542925">
                <a:tc>
                  <a:txBody>
                    <a:bodyPr/>
                    <a:lstStyle/>
                    <a:p>
                      <a:r>
                        <a:rPr sz="1800" b="1">
                          <a:solidFill>
                            <a:srgbClr val="1B2933"/>
                          </a:solidFill>
                          <a:latin typeface="Aptos"/>
                          <a:ea typeface="Aptos"/>
                          <a:cs typeface="Aptos"/>
                        </a:rPr>
                        <a:t>Input</a:t>
                      </a:r>
                    </a:p>
                  </a:txBody>
                  <a:tcPr marL="91440" marR="91440" marT="45720" marB="45720">
                    <a:solidFill>
                      <a:srgbClr val="E4EDF4"/>
                    </a:solidFill>
                  </a:tcPr>
                </a:tc>
                <a:tc>
                  <a:txBody>
                    <a:bodyPr/>
                    <a:lstStyle/>
                    <a:p>
                      <a:r>
                        <a:rPr sz="1800" b="1">
                          <a:solidFill>
                            <a:srgbClr val="1B2933"/>
                          </a:solidFill>
                          <a:latin typeface="Aptos"/>
                          <a:ea typeface="Aptos"/>
                          <a:cs typeface="Aptos"/>
                        </a:rPr>
                        <a:t>Weight</a:t>
                      </a:r>
                    </a:p>
                  </a:txBody>
                  <a:tcPr marL="91440" marR="91440" marT="45720" marB="45720">
                    <a:solidFill>
                      <a:srgbClr val="E4EDF4"/>
                    </a:solidFill>
                  </a:tcPr>
                </a:tc>
                <a:tc>
                  <a:txBody>
                    <a:bodyPr/>
                    <a:lstStyle/>
                    <a:p>
                      <a:r>
                        <a:rPr sz="1800" b="1">
                          <a:solidFill>
                            <a:srgbClr val="1B2933"/>
                          </a:solidFill>
                          <a:latin typeface="Aptos"/>
                          <a:ea typeface="Aptos"/>
                          <a:cs typeface="Aptos"/>
                        </a:rPr>
                        <a:t>Weighted contribution</a:t>
                      </a:r>
                    </a:p>
                  </a:txBody>
                  <a:tcPr marL="91440" marR="91440" marT="45720" marB="45720">
                    <a:solidFill>
                      <a:srgbClr val="E4EDF4"/>
                    </a:solidFill>
                  </a:tcPr>
                </a:tc>
              </a:tr>
              <a:tr h="542925">
                <a:tc>
                  <a:txBody>
                    <a:bodyPr/>
                    <a:lstStyle/>
                    <a:p>
                      <a:r>
                        <a:rPr sz="1800" b="0">
                          <a:solidFill>
                            <a:srgbClr val="1B2933"/>
                          </a:solidFill>
                          <a:latin typeface="Aptos"/>
                          <a:ea typeface="Aptos"/>
                          <a:cs typeface="Aptos"/>
                        </a:rPr>
                        <a:t>Previous estimate: 10</a:t>
                      </a:r>
                    </a:p>
                  </a:txBody>
                  <a:tcPr marL="91440" marR="91440" marT="45720" marB="45720">
                    <a:solidFill>
                      <a:srgbClr val="FFFFFF"/>
                    </a:solidFill>
                  </a:tcPr>
                </a:tc>
                <a:tc>
                  <a:txBody>
                    <a:bodyPr/>
                    <a:lstStyle/>
                    <a:p>
                      <a:r>
                        <a:rPr sz="1800" b="0">
                          <a:solidFill>
                            <a:srgbClr val="1B2933"/>
                          </a:solidFill>
                          <a:latin typeface="Aptos"/>
                          <a:ea typeface="Aptos"/>
                          <a:cs typeface="Aptos"/>
                        </a:rPr>
                        <a:t>94%</a:t>
                      </a:r>
                    </a:p>
                  </a:txBody>
                  <a:tcPr marL="91440" marR="91440" marT="45720" marB="45720">
                    <a:solidFill>
                      <a:srgbClr val="FFFFFF"/>
                    </a:solidFill>
                  </a:tcPr>
                </a:tc>
                <a:tc>
                  <a:txBody>
                    <a:bodyPr/>
                    <a:lstStyle/>
                    <a:p>
                      <a:r>
                        <a:rPr sz="1800" b="0">
                          <a:solidFill>
                            <a:srgbClr val="1B2933"/>
                          </a:solidFill>
                          <a:latin typeface="Aptos"/>
                          <a:ea typeface="Aptos"/>
                          <a:cs typeface="Aptos"/>
                        </a:rPr>
                        <a:t>9.4</a:t>
                      </a:r>
                    </a:p>
                  </a:txBody>
                  <a:tcPr marL="91440" marR="91440" marT="45720" marB="45720">
                    <a:solidFill>
                      <a:srgbClr val="FFFFFF"/>
                    </a:solidFill>
                  </a:tcPr>
                </a:tc>
              </a:tr>
              <a:tr h="542925">
                <a:tc>
                  <a:txBody>
                    <a:bodyPr/>
                    <a:lstStyle/>
                    <a:p>
                      <a:r>
                        <a:rPr sz="1800" b="0">
                          <a:solidFill>
                            <a:srgbClr val="1B2933"/>
                          </a:solidFill>
                          <a:latin typeface="Aptos"/>
                          <a:ea typeface="Aptos"/>
                          <a:cs typeface="Aptos"/>
                        </a:rPr>
                        <a:t>Today’s RV: 20</a:t>
                      </a:r>
                    </a:p>
                  </a:txBody>
                  <a:tcPr marL="91440" marR="91440" marT="45720" marB="45720">
                    <a:solidFill>
                      <a:srgbClr val="F3F6F8"/>
                    </a:solidFill>
                  </a:tcPr>
                </a:tc>
                <a:tc>
                  <a:txBody>
                    <a:bodyPr/>
                    <a:lstStyle/>
                    <a:p>
                      <a:r>
                        <a:rPr sz="1800" b="0">
                          <a:solidFill>
                            <a:srgbClr val="1B2933"/>
                          </a:solidFill>
                          <a:latin typeface="Aptos"/>
                          <a:ea typeface="Aptos"/>
                          <a:cs typeface="Aptos"/>
                        </a:rPr>
                        <a:t>6%</a:t>
                      </a:r>
                    </a:p>
                  </a:txBody>
                  <a:tcPr marL="91440" marR="91440" marT="45720" marB="45720">
                    <a:solidFill>
                      <a:srgbClr val="F3F6F8"/>
                    </a:solidFill>
                  </a:tcPr>
                </a:tc>
                <a:tc>
                  <a:txBody>
                    <a:bodyPr/>
                    <a:lstStyle/>
                    <a:p>
                      <a:r>
                        <a:rPr sz="1800" b="0">
                          <a:solidFill>
                            <a:srgbClr val="1B2933"/>
                          </a:solidFill>
                          <a:latin typeface="Aptos"/>
                          <a:ea typeface="Aptos"/>
                          <a:cs typeface="Aptos"/>
                        </a:rPr>
                        <a:t>1.2</a:t>
                      </a:r>
                    </a:p>
                  </a:txBody>
                  <a:tcPr marL="91440" marR="91440" marT="45720" marB="45720">
                    <a:solidFill>
                      <a:srgbClr val="F3F6F8"/>
                    </a:solidFill>
                  </a:tcPr>
                </a:tc>
              </a:tr>
              <a:tr h="542925">
                <a:tc>
                  <a:txBody>
                    <a:bodyPr/>
                    <a:lstStyle/>
                    <a:p>
                      <a:r>
                        <a:rPr sz="1800" b="0">
                          <a:solidFill>
                            <a:srgbClr val="1B2933"/>
                          </a:solidFill>
                          <a:latin typeface="Aptos"/>
                          <a:ea typeface="Aptos"/>
                          <a:cs typeface="Aptos"/>
                        </a:rPr>
                        <a:t>New estimate</a:t>
                      </a:r>
                    </a:p>
                  </a:txBody>
                  <a:tcPr marL="91440" marR="91440" marT="45720" marB="45720">
                    <a:solidFill>
                      <a:srgbClr val="FFFFFF"/>
                    </a:solidFill>
                  </a:tcPr>
                </a:tc>
                <a:tc>
                  <a:txBody>
                    <a:bodyPr/>
                    <a:lstStyle/>
                    <a:p>
                      <a:r>
                        <a:rPr sz="1800" b="0">
                          <a:solidFill>
                            <a:srgbClr val="1B2933"/>
                          </a:solidFill>
                          <a:latin typeface="Aptos"/>
                          <a:ea typeface="Aptos"/>
                          <a:cs typeface="Aptos"/>
                        </a:rPr>
                        <a:t/>
                      </a:r>
                    </a:p>
                  </a:txBody>
                  <a:tcPr marL="91440" marR="91440" marT="45720" marB="45720">
                    <a:solidFill>
                      <a:srgbClr val="FFFFFF"/>
                    </a:solidFill>
                  </a:tcPr>
                </a:tc>
                <a:tc>
                  <a:txBody>
                    <a:bodyPr/>
                    <a:lstStyle/>
                    <a:p>
                      <a:r>
                        <a:rPr sz="1800" b="0">
                          <a:solidFill>
                            <a:srgbClr val="1B2933"/>
                          </a:solidFill>
                          <a:latin typeface="Aptos"/>
                          <a:ea typeface="Aptos"/>
                          <a:cs typeface="Aptos"/>
                        </a:rPr>
                        <a:t>10.6</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F1914573-394B-4F56-B684-F2B6C5A9E18F}"/>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This is an arithmetic example, not a market observation or a volatility percentage.</a:t>
            </a:r>
          </a:p>
        </p:txBody>
      </p:sp>
    </p:spTree>
    <p:extLst>
      <p:ext uri="{BB962C8B-B14F-4D97-AF65-F5344CB8AC3E}">
        <p14:creationId xmlns:p14="http://schemas.microsoft.com/office/powerpoint/2010/main" val="1517851478"/>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2DE8593-1844-4AD7-B212-8B32CB4DE624}"/>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3. Results and their interpretation</a:t>
            </a:r>
          </a:p>
        </p:txBody>
      </p:sp>
      <p:sp>
        <p:nvSpPr>
          <p:cNvPr id="3" name="">
            <a:extLst xmlns:a="http://schemas.openxmlformats.org/drawingml/2006/main">
              <a:ext uri="{FF2B5EF4-FFF2-40B4-BE49-F238E27FC236}">
                <a16:creationId xmlns:a16="http://schemas.microsoft.com/office/drawing/2014/main" id="{3ED7A3F7-C169-4347-895D-C08AB634AC44}"/>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26. One input difference can affect many later days</a:t>
            </a:r>
          </a:p>
        </p:txBody>
      </p:sp>
      <p:sp>
        <p:nvSpPr>
          <p:cNvPr id="4" name="">
            <a:extLst xmlns:a="http://schemas.openxmlformats.org/drawingml/2006/main">
              <a:ext uri="{FF2B5EF4-FFF2-40B4-BE49-F238E27FC236}">
                <a16:creationId xmlns:a16="http://schemas.microsoft.com/office/drawing/2014/main" id="{B499675F-AE31-406B-BCF8-8035C3265FC1}"/>
              </a:ext>
            </a:extLst>
          </p:cNvPr>
          <p:cNvSpPr>
            <a:spLocks xmlns:a="http://schemas.openxmlformats.org/drawingml/2006/main" noGrp="1"/>
          </p:cNvSpPr>
          <p:nvPr/>
        </p:nvSpPr>
        <p:spPr>
          <a:xfrm xmlns:a="http://schemas.openxmlformats.org/drawingml/2006/main">
            <a:off x="590550" y="1866900"/>
            <a:ext cx="4429125"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B2933"/>
                </a:solidFill>
                <a:latin typeface="Aptos"/>
                <a:ea typeface="Aptos"/>
                <a:cs typeface="Aptos"/>
              </a:defRPr>
            </a:defPPr>
            <a:lvl1pPr>
              <a:defRPr sz="1950" b="0">
                <a:solidFill>
                  <a:srgbClr val="1B2933"/>
                </a:solidFill>
                <a:latin typeface="Aptos"/>
                <a:ea typeface="Aptos"/>
                <a:cs typeface="Aptos"/>
              </a:defRPr>
            </a:lvl1pPr>
            <a:lvl2pPr>
              <a:defRPr sz="1950" b="0">
                <a:solidFill>
                  <a:srgbClr val="1B2933"/>
                </a:solidFill>
                <a:latin typeface="Aptos"/>
                <a:ea typeface="Aptos"/>
                <a:cs typeface="Aptos"/>
              </a:defRPr>
            </a:lvl2pPr>
            <a:lvl3pPr>
              <a:defRPr sz="1950" b="0">
                <a:solidFill>
                  <a:srgbClr val="1B2933"/>
                </a:solidFill>
                <a:latin typeface="Aptos"/>
                <a:ea typeface="Aptos"/>
                <a:cs typeface="Aptos"/>
              </a:defRPr>
            </a:lvl3pPr>
            <a:lvl4pPr>
              <a:defRPr sz="1950" b="0">
                <a:solidFill>
                  <a:srgbClr val="1B2933"/>
                </a:solidFill>
                <a:latin typeface="Aptos"/>
                <a:ea typeface="Aptos"/>
                <a:cs typeface="Aptos"/>
              </a:defRPr>
            </a:lvl4pPr>
            <a:lvl5pPr>
              <a:defRPr sz="1950" b="0">
                <a:solidFill>
                  <a:srgbClr val="1B2933"/>
                </a:solidFill>
                <a:latin typeface="Aptos"/>
                <a:ea typeface="Aptos"/>
                <a:cs typeface="Aptos"/>
              </a:defRPr>
            </a:lvl5pPr>
            <a:lvl6pPr>
              <a:defRPr sz="1950" b="0">
                <a:solidFill>
                  <a:srgbClr val="1B2933"/>
                </a:solidFill>
                <a:latin typeface="Aptos"/>
                <a:ea typeface="Aptos"/>
                <a:cs typeface="Aptos"/>
              </a:defRPr>
            </a:lvl6pPr>
            <a:lvl7pPr>
              <a:defRPr sz="1950" b="0">
                <a:solidFill>
                  <a:srgbClr val="1B2933"/>
                </a:solidFill>
                <a:latin typeface="Aptos"/>
                <a:ea typeface="Aptos"/>
                <a:cs typeface="Aptos"/>
              </a:defRPr>
            </a:lvl7pPr>
            <a:lvl8pPr>
              <a:defRPr sz="1950" b="0">
                <a:solidFill>
                  <a:srgbClr val="1B2933"/>
                </a:solidFill>
                <a:latin typeface="Aptos"/>
                <a:ea typeface="Aptos"/>
                <a:cs typeface="Aptos"/>
              </a:defRPr>
            </a:lvl8pPr>
            <a:lvl9pPr>
              <a:defRPr sz="1950" b="0">
                <a:solidFill>
                  <a:srgbClr val="1B2933"/>
                </a:solidFill>
                <a:latin typeface="Aptos"/>
                <a:ea typeface="Aptos"/>
                <a:cs typeface="Aptos"/>
              </a:defRPr>
            </a:lvl9pPr>
          </a:lstStyle>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A later discrepancy enters the update once and then gradually fades.</a:t>
            </a:r>
          </a:p>
          <a:p xmlns:a="http://schemas.openxmlformats.org/drawingml/2006/main">
            <a:r>
              <a:t/>
            </a:r>
          </a:p>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The chart shows the remaining influence relative to its size at arrival. Its horizontal axis has equal 10-session steps.</a:t>
            </a:r>
          </a:p>
          <a:p xmlns:a="http://schemas.openxmlformats.org/drawingml/2006/main">
            <a:r>
              <a:t/>
            </a:r>
          </a:p>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Repeated affected dates therefore need not be independent new events.</a:t>
            </a:r>
          </a:p>
        </p:txBody>
      </p:sp>
      <p:graphicFrame>
        <p:nvGraphicFramePr>
          <p:cNvPr id="5" name="Chart">
            <a:extLst xmlns:a="http://schemas.openxmlformats.org/drawingml/2006/main">
              <a:ext uri="{FF2B5EF4-FFF2-40B4-BE49-F238E27FC236}">
                <a16:creationId xmlns:a16="http://schemas.microsoft.com/office/drawing/2014/main" id="{BEBC37BA-3C1A-43FB-A870-E29B2130E3BA}"/>
              </a:ext>
            </a:extLst>
          </p:cNvPr>
          <p:cNvGraphicFramePr/>
          <p:nvPr/>
        </p:nvGraphicFramePr>
        <p:xfrm>
          <a:off xmlns:a="http://schemas.openxmlformats.org/drawingml/2006/main" x="5286375" y="1762125"/>
          <a:ext xmlns:a="http://schemas.openxmlformats.org/drawingml/2006/main" cx="6334125" cy="3857625"/>
        </p:xfrm>
        <a:graphic xmlns:a="http://schemas.openxmlformats.org/drawingml/2006/main">
          <a:graphicData uri="http://schemas.openxmlformats.org/drawingml/2006/chart">
            <c:chart xmlns:r="http://schemas.openxmlformats.org/officeDocument/2006/relationships" xmlns:c="http://schemas.openxmlformats.org/drawingml/2006/chart" r:id="R932faf2401564f1a"/>
          </a:graphicData>
        </a:graphic>
      </p:graphicFrame>
      <p:sp>
        <p:nvSpPr>
          <p:cNvPr id="6" name="">
            <a:extLst xmlns:a="http://schemas.openxmlformats.org/drawingml/2006/main">
              <a:ext uri="{FF2B5EF4-FFF2-40B4-BE49-F238E27FC236}">
                <a16:creationId xmlns:a16="http://schemas.microsoft.com/office/drawing/2014/main" id="{6735930F-DB57-4207-989F-241AB5F2E8F8}"/>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Invented single-discrepancy example under the fixed 94% memory rule.</a:t>
            </a:r>
          </a:p>
        </p:txBody>
      </p:sp>
    </p:spTree>
    <p:extLst>
      <p:ext uri="{BB962C8B-B14F-4D97-AF65-F5344CB8AC3E}">
        <p14:creationId xmlns:p14="http://schemas.microsoft.com/office/powerpoint/2010/main" val="14900062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9C6757D-620D-4C8B-A819-0758CDD06DDD}"/>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3. Results and their interpretation</a:t>
            </a:r>
          </a:p>
        </p:txBody>
      </p:sp>
      <p:sp>
        <p:nvSpPr>
          <p:cNvPr id="3" name="">
            <a:extLst xmlns:a="http://schemas.openxmlformats.org/drawingml/2006/main">
              <a:ext uri="{FF2B5EF4-FFF2-40B4-BE49-F238E27FC236}">
                <a16:creationId xmlns:a16="http://schemas.microsoft.com/office/drawing/2014/main" id="{9FC1A2D1-432A-4D52-83E0-1A64D13D9FAC}"/>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27. The proposed investment amount</a:t>
            </a:r>
          </a:p>
        </p:txBody>
      </p:sp>
      <p:sp>
        <p:nvSpPr>
          <p:cNvPr id="4" name="">
            <a:extLst xmlns:a="http://schemas.openxmlformats.org/drawingml/2006/main">
              <a:ext uri="{FF2B5EF4-FFF2-40B4-BE49-F238E27FC236}">
                <a16:creationId xmlns:a16="http://schemas.microsoft.com/office/drawing/2014/main" id="{9EADF2DB-10AB-4DDB-8665-520F271FAB04}"/>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The rule divides its annual volatility target by its estimated annual volatility. “Position” means the amount invested as a percentage of available capital.</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A target of 10% and an estimated volatility of 20% gives 10/20 = 0.5, or a 50% position.</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A gap from 100% to 95% is 5 percentage points, not a 5% investment return.</a:t>
            </a:r>
          </a:p>
        </p:txBody>
      </p:sp>
      <p:sp>
        <p:nvSpPr>
          <p:cNvPr id="5" name="">
            <a:extLst xmlns:a="http://schemas.openxmlformats.org/drawingml/2006/main">
              <a:ext uri="{FF2B5EF4-FFF2-40B4-BE49-F238E27FC236}">
                <a16:creationId xmlns:a16="http://schemas.microsoft.com/office/drawing/2014/main" id="{66686989-14B8-41AC-B0B3-DE50CE996B7F}"/>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The study compares proposed next-session inputs. It does not calculate strategy profits.</a:t>
            </a:r>
          </a:p>
        </p:txBody>
      </p:sp>
    </p:spTree>
    <p:extLst>
      <p:ext uri="{BB962C8B-B14F-4D97-AF65-F5344CB8AC3E}">
        <p14:creationId xmlns:p14="http://schemas.microsoft.com/office/powerpoint/2010/main" val="13333495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BA7022C-0508-4D73-B997-DC8998796E5D}"/>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3. Results and their interpretation</a:t>
            </a:r>
          </a:p>
        </p:txBody>
      </p:sp>
      <p:sp>
        <p:nvSpPr>
          <p:cNvPr id="3" name="">
            <a:extLst xmlns:a="http://schemas.openxmlformats.org/drawingml/2006/main">
              <a:ext uri="{FF2B5EF4-FFF2-40B4-BE49-F238E27FC236}">
                <a16:creationId xmlns:a16="http://schemas.microsoft.com/office/drawing/2014/main" id="{BC30C2FD-3799-4540-A1A0-CEE8130D9D06}"/>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28. The one-minute difference reaches the risk rule</a:t>
            </a:r>
          </a:p>
        </p:txBody>
      </p:sp>
      <p:sp>
        <p:nvSpPr>
          <p:cNvPr id="4" name="">
            <a:extLst xmlns:a="http://schemas.openxmlformats.org/drawingml/2006/main">
              <a:ext uri="{FF2B5EF4-FFF2-40B4-BE49-F238E27FC236}">
                <a16:creationId xmlns:a16="http://schemas.microsoft.com/office/drawing/2014/main" id="{2C793C0E-743D-4608-A8FF-A6263B6F9EEC}"/>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After warmup, the comparison has 272 evaluation origins. On 47 of them, the proposed positions differ by at least 5 percentage points.</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Those dates form one consecutive episode, from 23 January through 31 March 2014.</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The average absolute position gap is 2.632 percentage points under the original fixed policy.</a:t>
            </a:r>
          </a:p>
        </p:txBody>
      </p:sp>
      <p:sp>
        <p:nvSpPr>
          <p:cNvPr id="5" name="">
            <a:extLst xmlns:a="http://schemas.openxmlformats.org/drawingml/2006/main">
              <a:ext uri="{FF2B5EF4-FFF2-40B4-BE49-F238E27FC236}">
                <a16:creationId xmlns:a16="http://schemas.microsoft.com/office/drawing/2014/main" id="{3345EBFD-F116-469C-9B40-C450365719E0}"/>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An affected origin is not automatically a separate shock or an actual investment loss.</a:t>
            </a:r>
          </a:p>
        </p:txBody>
      </p:sp>
    </p:spTree>
    <p:extLst>
      <p:ext uri="{BB962C8B-B14F-4D97-AF65-F5344CB8AC3E}">
        <p14:creationId xmlns:p14="http://schemas.microsoft.com/office/powerpoint/2010/main" val="94756516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E9A9CFE-4A29-41E9-87CA-7696A8A5EDF8}"/>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3. Results and their interpretation</a:t>
            </a:r>
          </a:p>
        </p:txBody>
      </p:sp>
      <p:sp>
        <p:nvSpPr>
          <p:cNvPr id="3" name="">
            <a:extLst xmlns:a="http://schemas.openxmlformats.org/drawingml/2006/main">
              <a:ext uri="{FF2B5EF4-FFF2-40B4-BE49-F238E27FC236}">
                <a16:creationId xmlns:a16="http://schemas.microsoft.com/office/drawing/2014/main" id="{C7BE211A-B373-4A39-8121-DEA9C8E54A1B}"/>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29. A cap is an upper limit on the position</a:t>
            </a:r>
          </a:p>
        </p:txBody>
      </p:sp>
      <p:sp>
        <p:nvSpPr>
          <p:cNvPr id="4" name="">
            <a:extLst xmlns:a="http://schemas.openxmlformats.org/drawingml/2006/main">
              <a:ext uri="{FF2B5EF4-FFF2-40B4-BE49-F238E27FC236}">
                <a16:creationId xmlns:a16="http://schemas.microsoft.com/office/drawing/2014/main" id="{14A6C708-9E77-4E87-9497-E94F9306A80D}"/>
              </a:ext>
            </a:extLst>
          </p:cNvPr>
          <p:cNvSpPr>
            <a:spLocks xmlns:a="http://schemas.openxmlformats.org/drawingml/2006/main" noGrp="1"/>
          </p:cNvSpPr>
          <p:nvPr/>
        </p:nvSpPr>
        <p:spPr>
          <a:xfrm xmlns:a="http://schemas.openxmlformats.org/drawingml/2006/main">
            <a:off x="590550" y="1866900"/>
            <a:ext cx="4429125"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B2933"/>
                </a:solidFill>
                <a:latin typeface="Aptos"/>
                <a:ea typeface="Aptos"/>
                <a:cs typeface="Aptos"/>
              </a:defRPr>
            </a:defPPr>
            <a:lvl1pPr>
              <a:defRPr sz="1950" b="0">
                <a:solidFill>
                  <a:srgbClr val="1B2933"/>
                </a:solidFill>
                <a:latin typeface="Aptos"/>
                <a:ea typeface="Aptos"/>
                <a:cs typeface="Aptos"/>
              </a:defRPr>
            </a:lvl1pPr>
            <a:lvl2pPr>
              <a:defRPr sz="1950" b="0">
                <a:solidFill>
                  <a:srgbClr val="1B2933"/>
                </a:solidFill>
                <a:latin typeface="Aptos"/>
                <a:ea typeface="Aptos"/>
                <a:cs typeface="Aptos"/>
              </a:defRPr>
            </a:lvl2pPr>
            <a:lvl3pPr>
              <a:defRPr sz="1950" b="0">
                <a:solidFill>
                  <a:srgbClr val="1B2933"/>
                </a:solidFill>
                <a:latin typeface="Aptos"/>
                <a:ea typeface="Aptos"/>
                <a:cs typeface="Aptos"/>
              </a:defRPr>
            </a:lvl3pPr>
            <a:lvl4pPr>
              <a:defRPr sz="1950" b="0">
                <a:solidFill>
                  <a:srgbClr val="1B2933"/>
                </a:solidFill>
                <a:latin typeface="Aptos"/>
                <a:ea typeface="Aptos"/>
                <a:cs typeface="Aptos"/>
              </a:defRPr>
            </a:lvl4pPr>
            <a:lvl5pPr>
              <a:defRPr sz="1950" b="0">
                <a:solidFill>
                  <a:srgbClr val="1B2933"/>
                </a:solidFill>
                <a:latin typeface="Aptos"/>
                <a:ea typeface="Aptos"/>
                <a:cs typeface="Aptos"/>
              </a:defRPr>
            </a:lvl5pPr>
            <a:lvl6pPr>
              <a:defRPr sz="1950" b="0">
                <a:solidFill>
                  <a:srgbClr val="1B2933"/>
                </a:solidFill>
                <a:latin typeface="Aptos"/>
                <a:ea typeface="Aptos"/>
                <a:cs typeface="Aptos"/>
              </a:defRPr>
            </a:lvl6pPr>
            <a:lvl7pPr>
              <a:defRPr sz="1950" b="0">
                <a:solidFill>
                  <a:srgbClr val="1B2933"/>
                </a:solidFill>
                <a:latin typeface="Aptos"/>
                <a:ea typeface="Aptos"/>
                <a:cs typeface="Aptos"/>
              </a:defRPr>
            </a:lvl7pPr>
            <a:lvl8pPr>
              <a:defRPr sz="1950" b="0">
                <a:solidFill>
                  <a:srgbClr val="1B2933"/>
                </a:solidFill>
                <a:latin typeface="Aptos"/>
                <a:ea typeface="Aptos"/>
                <a:cs typeface="Aptos"/>
              </a:defRPr>
            </a:lvl8pPr>
            <a:lvl9pPr>
              <a:defRPr sz="1950" b="0">
                <a:solidFill>
                  <a:srgbClr val="1B2933"/>
                </a:solidFill>
                <a:latin typeface="Aptos"/>
                <a:ea typeface="Aptos"/>
                <a:cs typeface="Aptos"/>
              </a:defRPr>
            </a:lvl9pPr>
          </a:lstStyle>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Consider this invented example: two risk estimates propose positions of 120% and 150%.</a:t>
            </a:r>
          </a:p>
          <a:p xmlns:a="http://schemas.openxmlformats.org/drawingml/2006/main">
            <a:r>
              <a:t/>
            </a:r>
          </a:p>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A common 100% cap reduces both to 100%. The final amounts agree although the estimates behind them differ.</a:t>
            </a:r>
          </a:p>
          <a:p xmlns:a="http://schemas.openxmlformats.org/drawingml/2006/main">
            <a:r>
              <a:t/>
            </a:r>
          </a:p>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“Before cap” means the formula’s proposal. It is not a recommendation to borrow.</a:t>
            </a:r>
          </a:p>
        </p:txBody>
      </p:sp>
      <p:graphicFrame>
        <p:nvGraphicFramePr>
          <p:cNvPr id="5" name="Chart">
            <a:extLst xmlns:a="http://schemas.openxmlformats.org/drawingml/2006/main">
              <a:ext uri="{FF2B5EF4-FFF2-40B4-BE49-F238E27FC236}">
                <a16:creationId xmlns:a16="http://schemas.microsoft.com/office/drawing/2014/main" id="{4497881E-4257-4B40-A80F-234AC23B38D4}"/>
              </a:ext>
            </a:extLst>
          </p:cNvPr>
          <p:cNvGraphicFramePr/>
          <p:nvPr/>
        </p:nvGraphicFramePr>
        <p:xfrm>
          <a:off xmlns:a="http://schemas.openxmlformats.org/drawingml/2006/main" x="5286375" y="1762125"/>
          <a:ext xmlns:a="http://schemas.openxmlformats.org/drawingml/2006/main" cx="6334125" cy="3857625"/>
        </p:xfrm>
        <a:graphic xmlns:a="http://schemas.openxmlformats.org/drawingml/2006/main">
          <a:graphicData uri="http://schemas.openxmlformats.org/drawingml/2006/chart">
            <c:chart xmlns:r="http://schemas.openxmlformats.org/officeDocument/2006/relationships" xmlns:c="http://schemas.openxmlformats.org/drawingml/2006/chart" r:id="R795bc395e4cd422d"/>
          </a:graphicData>
        </a:graphic>
      </p:graphicFrame>
      <p:sp>
        <p:nvSpPr>
          <p:cNvPr id="6" name="">
            <a:extLst xmlns:a="http://schemas.openxmlformats.org/drawingml/2006/main">
              <a:ext uri="{FF2B5EF4-FFF2-40B4-BE49-F238E27FC236}">
                <a16:creationId xmlns:a16="http://schemas.microsoft.com/office/drawing/2014/main" id="{2A3F12E5-1411-4837-BDBB-585FAA4234F8}"/>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Invented amounts. The same upper limit cannot enlarge a position gap.</a:t>
            </a:r>
          </a:p>
        </p:txBody>
      </p:sp>
    </p:spTree>
    <p:extLst>
      <p:ext uri="{BB962C8B-B14F-4D97-AF65-F5344CB8AC3E}">
        <p14:creationId xmlns:p14="http://schemas.microsoft.com/office/powerpoint/2010/main" val="539078719"/>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AA5C9A9-A565-4979-A670-CD59EB1AB0F7}"/>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3. Results and their interpretation</a:t>
            </a:r>
          </a:p>
        </p:txBody>
      </p:sp>
      <p:sp>
        <p:nvSpPr>
          <p:cNvPr id="3" name="">
            <a:extLst xmlns:a="http://schemas.openxmlformats.org/drawingml/2006/main">
              <a:ext uri="{FF2B5EF4-FFF2-40B4-BE49-F238E27FC236}">
                <a16:creationId xmlns:a16="http://schemas.microsoft.com/office/drawing/2014/main" id="{18A32F18-EE76-440D-B88A-76A588CFA526}"/>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30. The five-minute comparison shows cap masking</a:t>
            </a:r>
          </a:p>
        </p:txBody>
      </p:sp>
      <p:sp>
        <p:nvSpPr>
          <p:cNvPr id="4" name="">
            <a:extLst xmlns:a="http://schemas.openxmlformats.org/drawingml/2006/main">
              <a:ext uri="{FF2B5EF4-FFF2-40B4-BE49-F238E27FC236}">
                <a16:creationId xmlns:a16="http://schemas.microsoft.com/office/drawing/2014/main" id="{159D45FD-D980-46BD-BC05-B60399572FB6}"/>
              </a:ext>
            </a:extLst>
          </p:cNvPr>
          <p:cNvSpPr>
            <a:spLocks xmlns:a="http://schemas.openxmlformats.org/drawingml/2006/main" noGrp="1"/>
          </p:cNvSpPr>
          <p:nvPr/>
        </p:nvSpPr>
        <p:spPr>
          <a:xfrm xmlns:a="http://schemas.openxmlformats.org/drawingml/2006/main">
            <a:off x="590550" y="1866900"/>
            <a:ext cx="4429125"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B2933"/>
                </a:solidFill>
                <a:latin typeface="Aptos"/>
                <a:ea typeface="Aptos"/>
                <a:cs typeface="Aptos"/>
              </a:defRPr>
            </a:defPPr>
            <a:lvl1pPr>
              <a:defRPr sz="1950" b="0">
                <a:solidFill>
                  <a:srgbClr val="1B2933"/>
                </a:solidFill>
                <a:latin typeface="Aptos"/>
                <a:ea typeface="Aptos"/>
                <a:cs typeface="Aptos"/>
              </a:defRPr>
            </a:lvl1pPr>
            <a:lvl2pPr>
              <a:defRPr sz="1950" b="0">
                <a:solidFill>
                  <a:srgbClr val="1B2933"/>
                </a:solidFill>
                <a:latin typeface="Aptos"/>
                <a:ea typeface="Aptos"/>
                <a:cs typeface="Aptos"/>
              </a:defRPr>
            </a:lvl2pPr>
            <a:lvl3pPr>
              <a:defRPr sz="1950" b="0">
                <a:solidFill>
                  <a:srgbClr val="1B2933"/>
                </a:solidFill>
                <a:latin typeface="Aptos"/>
                <a:ea typeface="Aptos"/>
                <a:cs typeface="Aptos"/>
              </a:defRPr>
            </a:lvl3pPr>
            <a:lvl4pPr>
              <a:defRPr sz="1950" b="0">
                <a:solidFill>
                  <a:srgbClr val="1B2933"/>
                </a:solidFill>
                <a:latin typeface="Aptos"/>
                <a:ea typeface="Aptos"/>
                <a:cs typeface="Aptos"/>
              </a:defRPr>
            </a:lvl4pPr>
            <a:lvl5pPr>
              <a:defRPr sz="1950" b="0">
                <a:solidFill>
                  <a:srgbClr val="1B2933"/>
                </a:solidFill>
                <a:latin typeface="Aptos"/>
                <a:ea typeface="Aptos"/>
                <a:cs typeface="Aptos"/>
              </a:defRPr>
            </a:lvl5pPr>
            <a:lvl6pPr>
              <a:defRPr sz="1950" b="0">
                <a:solidFill>
                  <a:srgbClr val="1B2933"/>
                </a:solidFill>
                <a:latin typeface="Aptos"/>
                <a:ea typeface="Aptos"/>
                <a:cs typeface="Aptos"/>
              </a:defRPr>
            </a:lvl6pPr>
            <a:lvl7pPr>
              <a:defRPr sz="1950" b="0">
                <a:solidFill>
                  <a:srgbClr val="1B2933"/>
                </a:solidFill>
                <a:latin typeface="Aptos"/>
                <a:ea typeface="Aptos"/>
                <a:cs typeface="Aptos"/>
              </a:defRPr>
            </a:lvl7pPr>
            <a:lvl8pPr>
              <a:defRPr sz="1950" b="0">
                <a:solidFill>
                  <a:srgbClr val="1B2933"/>
                </a:solidFill>
                <a:latin typeface="Aptos"/>
                <a:ea typeface="Aptos"/>
                <a:cs typeface="Aptos"/>
              </a:defRPr>
            </a:lvl8pPr>
            <a:lvl9pPr>
              <a:defRPr sz="1950" b="0">
                <a:solidFill>
                  <a:srgbClr val="1B2933"/>
                </a:solidFill>
                <a:latin typeface="Aptos"/>
                <a:ea typeface="Aptos"/>
                <a:cs typeface="Aptos"/>
              </a:defRPr>
            </a:lvl9pPr>
          </a:lstStyle>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The bars show the mean absolute difference between two proposed positions. Both use the original target and memory rule.</a:t>
            </a:r>
          </a:p>
          <a:p xmlns:a="http://schemas.openxmlformats.org/drawingml/2006/main">
            <a:r>
              <a:t/>
            </a:r>
          </a:p>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Capping reduces that mean difference by 96.95% relative to its uncapped value. This can conceal disagreement in the underlying variance states.</a:t>
            </a:r>
          </a:p>
        </p:txBody>
      </p:sp>
      <p:graphicFrame>
        <p:nvGraphicFramePr>
          <p:cNvPr id="5" name="Chart">
            <a:extLst xmlns:a="http://schemas.openxmlformats.org/drawingml/2006/main">
              <a:ext uri="{FF2B5EF4-FFF2-40B4-BE49-F238E27FC236}">
                <a16:creationId xmlns:a16="http://schemas.microsoft.com/office/drawing/2014/main" id="{6D42A7D8-63A5-4814-8285-8B09453D940D}"/>
              </a:ext>
            </a:extLst>
          </p:cNvPr>
          <p:cNvGraphicFramePr/>
          <p:nvPr/>
        </p:nvGraphicFramePr>
        <p:xfrm>
          <a:off xmlns:a="http://schemas.openxmlformats.org/drawingml/2006/main" x="5286375" y="1762125"/>
          <a:ext xmlns:a="http://schemas.openxmlformats.org/drawingml/2006/main" cx="6334125" cy="3857625"/>
        </p:xfrm>
        <a:graphic xmlns:a="http://schemas.openxmlformats.org/drawingml/2006/main">
          <a:graphicData uri="http://schemas.openxmlformats.org/drawingml/2006/chart">
            <c:chart xmlns:r="http://schemas.openxmlformats.org/officeDocument/2006/relationships" xmlns:c="http://schemas.openxmlformats.org/drawingml/2006/chart" r:id="Rea8d73be86c24353"/>
          </a:graphicData>
        </a:graphic>
      </p:graphicFrame>
      <p:sp>
        <p:nvSpPr>
          <p:cNvPr id="6" name="">
            <a:extLst xmlns:a="http://schemas.openxmlformats.org/drawingml/2006/main">
              <a:ext uri="{FF2B5EF4-FFF2-40B4-BE49-F238E27FC236}">
                <a16:creationId xmlns:a16="http://schemas.microsoft.com/office/drawing/2014/main" id="{9E56AD38-0400-46D9-AC7F-B391C0E94103}"/>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A percentage-point position gap is neither a return difference nor measured true risk.</a:t>
            </a:r>
          </a:p>
        </p:txBody>
      </p:sp>
    </p:spTree>
    <p:extLst>
      <p:ext uri="{BB962C8B-B14F-4D97-AF65-F5344CB8AC3E}">
        <p14:creationId xmlns:p14="http://schemas.microsoft.com/office/powerpoint/2010/main" val="121954217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00AE5C0-35A7-4A5C-8B11-8DB8892AFFBC}"/>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3. Results and their interpretation</a:t>
            </a:r>
          </a:p>
        </p:txBody>
      </p:sp>
      <p:sp>
        <p:nvSpPr>
          <p:cNvPr id="3" name="">
            <a:extLst xmlns:a="http://schemas.openxmlformats.org/drawingml/2006/main">
              <a:ext uri="{FF2B5EF4-FFF2-40B4-BE49-F238E27FC236}">
                <a16:creationId xmlns:a16="http://schemas.microsoft.com/office/drawing/2014/main" id="{49F12FFE-12E8-4C6D-92CE-0E262C6152EB}"/>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31. An uncapped ratio gives another comparison</a:t>
            </a:r>
          </a:p>
        </p:txBody>
      </p:sp>
      <p:sp>
        <p:nvSpPr>
          <p:cNvPr id="4" name="">
            <a:extLst xmlns:a="http://schemas.openxmlformats.org/drawingml/2006/main">
              <a:ext uri="{FF2B5EF4-FFF2-40B4-BE49-F238E27FC236}">
                <a16:creationId xmlns:a16="http://schemas.microsoft.com/office/drawing/2014/main" id="{50204148-B673-469C-9174-C1CBC56898D2}"/>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Divide one uncapped proposed position by the other. The common target and annualization factor cancel. The ratio therefore reflects a relative difference in estimated variance states.</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Across three fixed memory settings, one-minute ratios differ by a factor above 1.1 on 64–77 of 272 origins. Five-minute counts are zero.</a:t>
            </a:r>
          </a:p>
        </p:txBody>
      </p:sp>
      <p:sp>
        <p:nvSpPr>
          <p:cNvPr id="5" name="">
            <a:extLst xmlns:a="http://schemas.openxmlformats.org/drawingml/2006/main">
              <a:ext uri="{FF2B5EF4-FFF2-40B4-BE49-F238E27FC236}">
                <a16:creationId xmlns:a16="http://schemas.microsoft.com/office/drawing/2014/main" id="{AAD8BB7B-0732-401A-BB7E-40C4E122BBB8}"/>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Five-minute relative differences remain smaller here even after checking the cap.</a:t>
            </a:r>
          </a:p>
        </p:txBody>
      </p:sp>
    </p:spTree>
    <p:extLst>
      <p:ext uri="{BB962C8B-B14F-4D97-AF65-F5344CB8AC3E}">
        <p14:creationId xmlns:p14="http://schemas.microsoft.com/office/powerpoint/2010/main" val="878163641"/>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6A468C3-1E2C-4348-9FB4-03D72B50D77C}"/>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3. Results and their interpretation</a:t>
            </a:r>
          </a:p>
        </p:txBody>
      </p:sp>
      <p:sp>
        <p:nvSpPr>
          <p:cNvPr id="3" name="">
            <a:extLst xmlns:a="http://schemas.openxmlformats.org/drawingml/2006/main">
              <a:ext uri="{FF2B5EF4-FFF2-40B4-BE49-F238E27FC236}">
                <a16:creationId xmlns:a16="http://schemas.microsoft.com/office/drawing/2014/main" id="{22D39CD1-5754-4AF3-9403-2E74E052EE38}"/>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32. The policy exercise reports all 27 combinations</a:t>
            </a:r>
          </a:p>
        </p:txBody>
      </p:sp>
      <p:sp>
        <p:nvSpPr>
          <p:cNvPr id="4" name="">
            <a:extLst xmlns:a="http://schemas.openxmlformats.org/drawingml/2006/main">
              <a:ext uri="{FF2B5EF4-FFF2-40B4-BE49-F238E27FC236}">
                <a16:creationId xmlns:a16="http://schemas.microsoft.com/office/drawing/2014/main" id="{5544F5B7-D62E-4E03-A447-7E6D7367CFF4}"/>
              </a:ext>
            </a:extLst>
          </p:cNvPr>
          <p:cNvSpPr>
            <a:spLocks xmlns:a="http://schemas.openxmlformats.org/drawingml/2006/main" noGrp="1"/>
          </p:cNvSpPr>
          <p:nvPr/>
        </p:nvSpPr>
        <p:spPr>
          <a:xfrm xmlns:a="http://schemas.openxmlformats.org/drawingml/2006/main">
            <a:off x="590550" y="1866900"/>
            <a:ext cx="4429125"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B2933"/>
                </a:solidFill>
                <a:latin typeface="Aptos"/>
                <a:ea typeface="Aptos"/>
                <a:cs typeface="Aptos"/>
              </a:defRPr>
            </a:defPPr>
            <a:lvl1pPr>
              <a:defRPr sz="1950" b="0">
                <a:solidFill>
                  <a:srgbClr val="1B2933"/>
                </a:solidFill>
                <a:latin typeface="Aptos"/>
                <a:ea typeface="Aptos"/>
                <a:cs typeface="Aptos"/>
              </a:defRPr>
            </a:lvl1pPr>
            <a:lvl2pPr>
              <a:defRPr sz="1950" b="0">
                <a:solidFill>
                  <a:srgbClr val="1B2933"/>
                </a:solidFill>
                <a:latin typeface="Aptos"/>
                <a:ea typeface="Aptos"/>
                <a:cs typeface="Aptos"/>
              </a:defRPr>
            </a:lvl2pPr>
            <a:lvl3pPr>
              <a:defRPr sz="1950" b="0">
                <a:solidFill>
                  <a:srgbClr val="1B2933"/>
                </a:solidFill>
                <a:latin typeface="Aptos"/>
                <a:ea typeface="Aptos"/>
                <a:cs typeface="Aptos"/>
              </a:defRPr>
            </a:lvl3pPr>
            <a:lvl4pPr>
              <a:defRPr sz="1950" b="0">
                <a:solidFill>
                  <a:srgbClr val="1B2933"/>
                </a:solidFill>
                <a:latin typeface="Aptos"/>
                <a:ea typeface="Aptos"/>
                <a:cs typeface="Aptos"/>
              </a:defRPr>
            </a:lvl4pPr>
            <a:lvl5pPr>
              <a:defRPr sz="1950" b="0">
                <a:solidFill>
                  <a:srgbClr val="1B2933"/>
                </a:solidFill>
                <a:latin typeface="Aptos"/>
                <a:ea typeface="Aptos"/>
                <a:cs typeface="Aptos"/>
              </a:defRPr>
            </a:lvl5pPr>
            <a:lvl6pPr>
              <a:defRPr sz="1950" b="0">
                <a:solidFill>
                  <a:srgbClr val="1B2933"/>
                </a:solidFill>
                <a:latin typeface="Aptos"/>
                <a:ea typeface="Aptos"/>
                <a:cs typeface="Aptos"/>
              </a:defRPr>
            </a:lvl6pPr>
            <a:lvl7pPr>
              <a:defRPr sz="1950" b="0">
                <a:solidFill>
                  <a:srgbClr val="1B2933"/>
                </a:solidFill>
                <a:latin typeface="Aptos"/>
                <a:ea typeface="Aptos"/>
                <a:cs typeface="Aptos"/>
              </a:defRPr>
            </a:lvl7pPr>
            <a:lvl8pPr>
              <a:defRPr sz="1950" b="0">
                <a:solidFill>
                  <a:srgbClr val="1B2933"/>
                </a:solidFill>
                <a:latin typeface="Aptos"/>
                <a:ea typeface="Aptos"/>
                <a:cs typeface="Aptos"/>
              </a:defRPr>
            </a:lvl8pPr>
            <a:lvl9pPr>
              <a:defRPr sz="1950" b="0">
                <a:solidFill>
                  <a:srgbClr val="1B2933"/>
                </a:solidFill>
                <a:latin typeface="Aptos"/>
                <a:ea typeface="Aptos"/>
                <a:cs typeface="Aptos"/>
              </a:defRPr>
            </a:lvl9pPr>
          </a:lstStyle>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A policy here means a specified memory rate, volatility target and position cap. The exercise crosses three choices of each, giving 27 combinations.</a:t>
            </a:r>
          </a:p>
          <a:p xmlns:a="http://schemas.openxmlformats.org/drawingml/2006/main">
            <a:r>
              <a:t/>
            </a:r>
          </a:p>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The chart counts policies with at least ten origins showing a position gap of 5 percentage points. All policies, including zero gaps, remain in the paper.</a:t>
            </a:r>
          </a:p>
        </p:txBody>
      </p:sp>
      <p:graphicFrame>
        <p:nvGraphicFramePr>
          <p:cNvPr id="5" name="Chart">
            <a:extLst xmlns:a="http://schemas.openxmlformats.org/drawingml/2006/main">
              <a:ext uri="{FF2B5EF4-FFF2-40B4-BE49-F238E27FC236}">
                <a16:creationId xmlns:a16="http://schemas.microsoft.com/office/drawing/2014/main" id="{0C5F46C5-AAD9-4683-A8BE-69D005E72271}"/>
              </a:ext>
            </a:extLst>
          </p:cNvPr>
          <p:cNvGraphicFramePr/>
          <p:nvPr/>
        </p:nvGraphicFramePr>
        <p:xfrm>
          <a:off xmlns:a="http://schemas.openxmlformats.org/drawingml/2006/main" x="5286375" y="1762125"/>
          <a:ext xmlns:a="http://schemas.openxmlformats.org/drawingml/2006/main" cx="6334125" cy="3857625"/>
        </p:xfrm>
        <a:graphic xmlns:a="http://schemas.openxmlformats.org/drawingml/2006/main">
          <a:graphicData uri="http://schemas.openxmlformats.org/drawingml/2006/chart">
            <c:chart xmlns:r="http://schemas.openxmlformats.org/officeDocument/2006/relationships" xmlns:c="http://schemas.openxmlformats.org/drawingml/2006/chart" r:id="R14567da0ea9944d8"/>
          </a:graphicData>
        </a:graphic>
      </p:graphicFrame>
      <p:sp>
        <p:nvSpPr>
          <p:cNvPr id="6" name="">
            <a:extLst xmlns:a="http://schemas.openxmlformats.org/drawingml/2006/main">
              <a:ext uri="{FF2B5EF4-FFF2-40B4-BE49-F238E27FC236}">
                <a16:creationId xmlns:a16="http://schemas.microsoft.com/office/drawing/2014/main" id="{4E5E4A6F-E331-4734-B6A5-41992549477C}"/>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This sensitivity follows the original result. It does not select an optimal policy.</a:t>
            </a:r>
          </a:p>
        </p:txBody>
      </p:sp>
    </p:spTree>
    <p:extLst>
      <p:ext uri="{BB962C8B-B14F-4D97-AF65-F5344CB8AC3E}">
        <p14:creationId xmlns:p14="http://schemas.microsoft.com/office/powerpoint/2010/main" val="71417233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177B00A-724C-4B16-BB2A-DEB9089B8FC8}"/>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3. Results and their interpretation</a:t>
            </a:r>
          </a:p>
        </p:txBody>
      </p:sp>
      <p:sp>
        <p:nvSpPr>
          <p:cNvPr id="3" name="">
            <a:extLst xmlns:a="http://schemas.openxmlformats.org/drawingml/2006/main">
              <a:ext uri="{FF2B5EF4-FFF2-40B4-BE49-F238E27FC236}">
                <a16:creationId xmlns:a16="http://schemas.microsoft.com/office/drawing/2014/main" id="{7F58C531-96A6-434E-A558-97A0EBF6B232}"/>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33. The follow-up expands the same historical calendar</a:t>
            </a:r>
          </a:p>
        </p:txBody>
      </p:sp>
      <p:sp>
        <p:nvSpPr>
          <p:cNvPr id="4" name="">
            <a:extLst xmlns:a="http://schemas.openxmlformats.org/drawingml/2006/main">
              <a:ext uri="{FF2B5EF4-FFF2-40B4-BE49-F238E27FC236}">
                <a16:creationId xmlns:a16="http://schemas.microsoft.com/office/drawing/2014/main" id="{51D8F8DA-48DA-4F45-A2FB-6E4A4F27F5F7}"/>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Four additional funds now cover the same 398 trading sessions as SPY, from January 2013 through July 2014. Their trading symbols are QQQ, IWM, EFA and TLT.</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The study contains 1,990 distinct fund-days. The extension adds 1,508 pairs and reuses 84 January pairs already examined.</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The plan preceded the extra download, but followed the SPY finding. It provides broader asset coverage within the same historical period.</a:t>
            </a:r>
          </a:p>
        </p:txBody>
      </p:sp>
      <p:sp>
        <p:nvSpPr>
          <p:cNvPr id="5" name="">
            <a:extLst xmlns:a="http://schemas.openxmlformats.org/drawingml/2006/main">
              <a:ext uri="{FF2B5EF4-FFF2-40B4-BE49-F238E27FC236}">
                <a16:creationId xmlns:a16="http://schemas.microsoft.com/office/drawing/2014/main" id="{29E0BE4D-4D61-44A5-91C6-3F851AB4A9DE}"/>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One fund-day means one fund on one exchange session, compared across both sources.</a:t>
            </a:r>
          </a:p>
        </p:txBody>
      </p:sp>
    </p:spTree>
    <p:extLst>
      <p:ext uri="{BB962C8B-B14F-4D97-AF65-F5344CB8AC3E}">
        <p14:creationId xmlns:p14="http://schemas.microsoft.com/office/powerpoint/2010/main" val="348581907"/>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1A1A39F-383C-43EB-93E5-0E506BB84601}"/>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3. Results and their interpretation</a:t>
            </a:r>
          </a:p>
        </p:txBody>
      </p:sp>
      <p:sp>
        <p:nvSpPr>
          <p:cNvPr id="3" name="">
            <a:extLst xmlns:a="http://schemas.openxmlformats.org/drawingml/2006/main">
              <a:ext uri="{FF2B5EF4-FFF2-40B4-BE49-F238E27FC236}">
                <a16:creationId xmlns:a16="http://schemas.microsoft.com/office/drawing/2014/main" id="{622B76C8-0DA5-4386-87F9-86876E30F3C9}"/>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34. Measurement discrepancies remain across funds</a:t>
            </a:r>
          </a:p>
        </p:txBody>
      </p:sp>
      <p:sp>
        <p:nvSpPr>
          <p:cNvPr id="4" name="">
            <a:extLst xmlns:a="http://schemas.openxmlformats.org/drawingml/2006/main">
              <a:ext uri="{FF2B5EF4-FFF2-40B4-BE49-F238E27FC236}">
                <a16:creationId xmlns:a16="http://schemas.microsoft.com/office/drawing/2014/main" id="{B0B39A74-A4DD-49BC-8368-374405E9FB05}"/>
              </a:ext>
            </a:extLst>
          </p:cNvPr>
          <p:cNvSpPr>
            <a:spLocks xmlns:a="http://schemas.openxmlformats.org/drawingml/2006/main" noGrp="1"/>
          </p:cNvSpPr>
          <p:nvPr/>
        </p:nvSpPr>
        <p:spPr>
          <a:xfrm xmlns:a="http://schemas.openxmlformats.org/drawingml/2006/main">
            <a:off x="590550" y="1809750"/>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B2933"/>
                </a:solidFill>
                <a:latin typeface="Aptos"/>
                <a:ea typeface="Aptos"/>
                <a:cs typeface="Aptos"/>
              </a:defRPr>
            </a:defPPr>
            <a:lvl1pPr>
              <a:defRPr sz="2025" b="0">
                <a:solidFill>
                  <a:srgbClr val="1B2933"/>
                </a:solidFill>
                <a:latin typeface="Aptos"/>
                <a:ea typeface="Aptos"/>
                <a:cs typeface="Aptos"/>
              </a:defRPr>
            </a:lvl1pPr>
            <a:lvl2pPr>
              <a:defRPr sz="2025" b="0">
                <a:solidFill>
                  <a:srgbClr val="1B2933"/>
                </a:solidFill>
                <a:latin typeface="Aptos"/>
                <a:ea typeface="Aptos"/>
                <a:cs typeface="Aptos"/>
              </a:defRPr>
            </a:lvl2pPr>
            <a:lvl3pPr>
              <a:defRPr sz="2025" b="0">
                <a:solidFill>
                  <a:srgbClr val="1B2933"/>
                </a:solidFill>
                <a:latin typeface="Aptos"/>
                <a:ea typeface="Aptos"/>
                <a:cs typeface="Aptos"/>
              </a:defRPr>
            </a:lvl3pPr>
            <a:lvl4pPr>
              <a:defRPr sz="2025" b="0">
                <a:solidFill>
                  <a:srgbClr val="1B2933"/>
                </a:solidFill>
                <a:latin typeface="Aptos"/>
                <a:ea typeface="Aptos"/>
                <a:cs typeface="Aptos"/>
              </a:defRPr>
            </a:lvl4pPr>
            <a:lvl5pPr>
              <a:defRPr sz="2025" b="0">
                <a:solidFill>
                  <a:srgbClr val="1B2933"/>
                </a:solidFill>
                <a:latin typeface="Aptos"/>
                <a:ea typeface="Aptos"/>
                <a:cs typeface="Aptos"/>
              </a:defRPr>
            </a:lvl5pPr>
            <a:lvl6pPr>
              <a:defRPr sz="2025" b="0">
                <a:solidFill>
                  <a:srgbClr val="1B2933"/>
                </a:solidFill>
                <a:latin typeface="Aptos"/>
                <a:ea typeface="Aptos"/>
                <a:cs typeface="Aptos"/>
              </a:defRPr>
            </a:lvl6pPr>
            <a:lvl7pPr>
              <a:defRPr sz="2025" b="0">
                <a:solidFill>
                  <a:srgbClr val="1B2933"/>
                </a:solidFill>
                <a:latin typeface="Aptos"/>
                <a:ea typeface="Aptos"/>
                <a:cs typeface="Aptos"/>
              </a:defRPr>
            </a:lvl7pPr>
            <a:lvl8pPr>
              <a:defRPr sz="2025" b="0">
                <a:solidFill>
                  <a:srgbClr val="1B2933"/>
                </a:solidFill>
                <a:latin typeface="Aptos"/>
                <a:ea typeface="Aptos"/>
                <a:cs typeface="Aptos"/>
              </a:defRPr>
            </a:lvl8pPr>
            <a:lvl9pPr>
              <a:defRPr sz="2025" b="0">
                <a:solidFill>
                  <a:srgbClr val="1B2933"/>
                </a:solidFill>
                <a:latin typeface="Aptos"/>
                <a:ea typeface="Aptos"/>
                <a:cs typeface="Aptos"/>
              </a:defRPr>
            </a:lvl9pPr>
          </a:lstStyle>
          <a:p xmlns:a="http://schemas.openxmlformats.org/drawingml/2006/main">
            <a:pPr>
              <a:defRPr sz="2025" b="0">
                <a:solidFill>
                  <a:srgbClr val="1B2933"/>
                </a:solidFill>
                <a:latin typeface="Aptos"/>
                <a:ea typeface="Aptos"/>
                <a:cs typeface="Aptos"/>
              </a:defRPr>
            </a:pPr>
            <a:r>
              <a:rPr sz="2025" b="0">
                <a:solidFill>
                  <a:srgbClr val="1B2933"/>
                </a:solidFill>
                <a:latin typeface="Aptos"/>
                <a:ea typeface="Aptos"/>
                <a:cs typeface="Aptos"/>
              </a:rPr>
              <a:t>Cells show dates exceeding the fixed difference threshold / dates with a valid source pair. RV uses a factor of 1.1; RQ uses a factor of 2. Both include reciprocal lower limits.</a:t>
            </a:r>
          </a:p>
        </p:txBody>
      </p:sp>
      <p:graphicFrame>
        <p:nvGraphicFramePr>
          <p:cNvPr id="5" name="">
            <a:extLst xmlns:a="http://schemas.openxmlformats.org/drawingml/2006/main">
              <a:ext uri="{FF2B5EF4-FFF2-40B4-BE49-F238E27FC236}">
                <a16:creationId xmlns:a16="http://schemas.microsoft.com/office/drawing/2014/main" id="{6122B716-EB90-42A2-87E1-735771C47F52}"/>
              </a:ext>
            </a:extLst>
          </p:cNvPr>
          <p:cNvGraphicFramePr/>
          <p:nvPr/>
        </p:nvGraphicFramePr>
        <p:xfrm>
          <a:off xmlns:a="http://schemas.openxmlformats.org/drawingml/2006/main" x="590550" y="3048000"/>
          <a:ext xmlns:a="http://schemas.openxmlformats.org/drawingml/2006/main" cx="10953750" cy="2714625"/>
        </p:xfrm>
        <a:graphic xmlns:a="http://schemas.openxmlformats.org/drawingml/2006/main">
          <a:graphicData uri="http://schemas.openxmlformats.org/drawingml/2006/table">
            <a:tbl>
              <a:tblPr/>
              <a:tblGrid>
                <a:gridCol w="2190750"/>
                <a:gridCol w="2190750"/>
                <a:gridCol w="2190750"/>
                <a:gridCol w="2190750"/>
                <a:gridCol w="2190750"/>
              </a:tblGrid>
              <a:tr h="542925">
                <a:tc>
                  <a:txBody>
                    <a:bodyPr/>
                    <a:lstStyle/>
                    <a:p>
                      <a:r>
                        <a:rPr sz="1800" b="1">
                          <a:solidFill>
                            <a:srgbClr val="1B2933"/>
                          </a:solidFill>
                          <a:latin typeface="Aptos"/>
                          <a:ea typeface="Aptos"/>
                          <a:cs typeface="Aptos"/>
                        </a:rPr>
                        <a:t>Fund</a:t>
                      </a:r>
                    </a:p>
                  </a:txBody>
                  <a:tcPr marL="91440" marR="91440" marT="45720" marB="45720">
                    <a:solidFill>
                      <a:srgbClr val="E4EDF4"/>
                    </a:solidFill>
                  </a:tcPr>
                </a:tc>
                <a:tc>
                  <a:txBody>
                    <a:bodyPr/>
                    <a:lstStyle/>
                    <a:p>
                      <a:r>
                        <a:rPr sz="1800" b="1">
                          <a:solidFill>
                            <a:srgbClr val="1B2933"/>
                          </a:solidFill>
                          <a:latin typeface="Aptos"/>
                          <a:ea typeface="Aptos"/>
                          <a:cs typeface="Aptos"/>
                        </a:rPr>
                        <a:t>1-min RV</a:t>
                      </a:r>
                    </a:p>
                  </a:txBody>
                  <a:tcPr marL="91440" marR="91440" marT="45720" marB="45720">
                    <a:solidFill>
                      <a:srgbClr val="E4EDF4"/>
                    </a:solidFill>
                  </a:tcPr>
                </a:tc>
                <a:tc>
                  <a:txBody>
                    <a:bodyPr/>
                    <a:lstStyle/>
                    <a:p>
                      <a:r>
                        <a:rPr sz="1800" b="1">
                          <a:solidFill>
                            <a:srgbClr val="1B2933"/>
                          </a:solidFill>
                          <a:latin typeface="Aptos"/>
                          <a:ea typeface="Aptos"/>
                          <a:cs typeface="Aptos"/>
                        </a:rPr>
                        <a:t>1-min RQ</a:t>
                      </a:r>
                    </a:p>
                  </a:txBody>
                  <a:tcPr marL="91440" marR="91440" marT="45720" marB="45720">
                    <a:solidFill>
                      <a:srgbClr val="E4EDF4"/>
                    </a:solidFill>
                  </a:tcPr>
                </a:tc>
                <a:tc>
                  <a:txBody>
                    <a:bodyPr/>
                    <a:lstStyle/>
                    <a:p>
                      <a:r>
                        <a:rPr sz="1800" b="1">
                          <a:solidFill>
                            <a:srgbClr val="1B2933"/>
                          </a:solidFill>
                          <a:latin typeface="Aptos"/>
                          <a:ea typeface="Aptos"/>
                          <a:cs typeface="Aptos"/>
                        </a:rPr>
                        <a:t>5-min RV</a:t>
                      </a:r>
                    </a:p>
                  </a:txBody>
                  <a:tcPr marL="91440" marR="91440" marT="45720" marB="45720">
                    <a:solidFill>
                      <a:srgbClr val="E4EDF4"/>
                    </a:solidFill>
                  </a:tcPr>
                </a:tc>
                <a:tc>
                  <a:txBody>
                    <a:bodyPr/>
                    <a:lstStyle/>
                    <a:p>
                      <a:r>
                        <a:rPr sz="1800" b="1">
                          <a:solidFill>
                            <a:srgbClr val="1B2933"/>
                          </a:solidFill>
                          <a:latin typeface="Aptos"/>
                          <a:ea typeface="Aptos"/>
                          <a:cs typeface="Aptos"/>
                        </a:rPr>
                        <a:t>5-min RQ</a:t>
                      </a:r>
                    </a:p>
                  </a:txBody>
                  <a:tcPr marL="91440" marR="91440" marT="45720" marB="45720">
                    <a:solidFill>
                      <a:srgbClr val="E4EDF4"/>
                    </a:solidFill>
                  </a:tcPr>
                </a:tc>
              </a:tr>
              <a:tr h="542925">
                <a:tc>
                  <a:txBody>
                    <a:bodyPr/>
                    <a:lstStyle/>
                    <a:p>
                      <a:r>
                        <a:rPr sz="1800" b="0">
                          <a:solidFill>
                            <a:srgbClr val="1B2933"/>
                          </a:solidFill>
                          <a:latin typeface="Aptos"/>
                          <a:ea typeface="Aptos"/>
                          <a:cs typeface="Aptos"/>
                        </a:rPr>
                        <a:t>QQQ</a:t>
                      </a:r>
                    </a:p>
                  </a:txBody>
                  <a:tcPr marL="91440" marR="91440" marT="45720" marB="45720">
                    <a:solidFill>
                      <a:srgbClr val="FFFFFF"/>
                    </a:solidFill>
                  </a:tcPr>
                </a:tc>
                <a:tc>
                  <a:txBody>
                    <a:bodyPr/>
                    <a:lstStyle/>
                    <a:p>
                      <a:r>
                        <a:rPr sz="1800" b="0">
                          <a:solidFill>
                            <a:srgbClr val="1B2933"/>
                          </a:solidFill>
                          <a:latin typeface="Aptos"/>
                          <a:ea typeface="Aptos"/>
                          <a:cs typeface="Aptos"/>
                        </a:rPr>
                        <a:t>46 / 376</a:t>
                      </a:r>
                    </a:p>
                  </a:txBody>
                  <a:tcPr marL="91440" marR="91440" marT="45720" marB="45720">
                    <a:solidFill>
                      <a:srgbClr val="FFFFFF"/>
                    </a:solidFill>
                  </a:tcPr>
                </a:tc>
                <a:tc>
                  <a:txBody>
                    <a:bodyPr/>
                    <a:lstStyle/>
                    <a:p>
                      <a:r>
                        <a:rPr sz="1800" b="0">
                          <a:solidFill>
                            <a:srgbClr val="1B2933"/>
                          </a:solidFill>
                          <a:latin typeface="Aptos"/>
                          <a:ea typeface="Aptos"/>
                          <a:cs typeface="Aptos"/>
                        </a:rPr>
                        <a:t>34 / 376</a:t>
                      </a:r>
                    </a:p>
                  </a:txBody>
                  <a:tcPr marL="91440" marR="91440" marT="45720" marB="45720">
                    <a:solidFill>
                      <a:srgbClr val="FFFFFF"/>
                    </a:solidFill>
                  </a:tcPr>
                </a:tc>
                <a:tc>
                  <a:txBody>
                    <a:bodyPr/>
                    <a:lstStyle/>
                    <a:p>
                      <a:r>
                        <a:rPr sz="1800" b="0">
                          <a:solidFill>
                            <a:srgbClr val="1B2933"/>
                          </a:solidFill>
                          <a:latin typeface="Aptos"/>
                          <a:ea typeface="Aptos"/>
                          <a:cs typeface="Aptos"/>
                        </a:rPr>
                        <a:t>22 / 376</a:t>
                      </a:r>
                    </a:p>
                  </a:txBody>
                  <a:tcPr marL="91440" marR="91440" marT="45720" marB="45720">
                    <a:solidFill>
                      <a:srgbClr val="FFFFFF"/>
                    </a:solidFill>
                  </a:tcPr>
                </a:tc>
                <a:tc>
                  <a:txBody>
                    <a:bodyPr/>
                    <a:lstStyle/>
                    <a:p>
                      <a:r>
                        <a:rPr sz="1800" b="0">
                          <a:solidFill>
                            <a:srgbClr val="1B2933"/>
                          </a:solidFill>
                          <a:latin typeface="Aptos"/>
                          <a:ea typeface="Aptos"/>
                          <a:cs typeface="Aptos"/>
                        </a:rPr>
                        <a:t>13 / 376</a:t>
                      </a:r>
                    </a:p>
                  </a:txBody>
                  <a:tcPr marL="91440" marR="91440" marT="45720" marB="45720">
                    <a:solidFill>
                      <a:srgbClr val="FFFFFF"/>
                    </a:solidFill>
                  </a:tcPr>
                </a:tc>
              </a:tr>
              <a:tr h="542925">
                <a:tc>
                  <a:txBody>
                    <a:bodyPr/>
                    <a:lstStyle/>
                    <a:p>
                      <a:r>
                        <a:rPr sz="1800" b="0">
                          <a:solidFill>
                            <a:srgbClr val="1B2933"/>
                          </a:solidFill>
                          <a:latin typeface="Aptos"/>
                          <a:ea typeface="Aptos"/>
                          <a:cs typeface="Aptos"/>
                        </a:rPr>
                        <a:t>IWM</a:t>
                      </a:r>
                    </a:p>
                  </a:txBody>
                  <a:tcPr marL="91440" marR="91440" marT="45720" marB="45720">
                    <a:solidFill>
                      <a:srgbClr val="F3F6F8"/>
                    </a:solidFill>
                  </a:tcPr>
                </a:tc>
                <a:tc>
                  <a:txBody>
                    <a:bodyPr/>
                    <a:lstStyle/>
                    <a:p>
                      <a:r>
                        <a:rPr sz="1800" b="0">
                          <a:solidFill>
                            <a:srgbClr val="1B2933"/>
                          </a:solidFill>
                          <a:latin typeface="Aptos"/>
                          <a:ea typeface="Aptos"/>
                          <a:cs typeface="Aptos"/>
                        </a:rPr>
                        <a:t>61 / 376</a:t>
                      </a:r>
                    </a:p>
                  </a:txBody>
                  <a:tcPr marL="91440" marR="91440" marT="45720" marB="45720">
                    <a:solidFill>
                      <a:srgbClr val="F3F6F8"/>
                    </a:solidFill>
                  </a:tcPr>
                </a:tc>
                <a:tc>
                  <a:txBody>
                    <a:bodyPr/>
                    <a:lstStyle/>
                    <a:p>
                      <a:r>
                        <a:rPr sz="1800" b="0">
                          <a:solidFill>
                            <a:srgbClr val="1B2933"/>
                          </a:solidFill>
                          <a:latin typeface="Aptos"/>
                          <a:ea typeface="Aptos"/>
                          <a:cs typeface="Aptos"/>
                        </a:rPr>
                        <a:t>48 / 376</a:t>
                      </a:r>
                    </a:p>
                  </a:txBody>
                  <a:tcPr marL="91440" marR="91440" marT="45720" marB="45720">
                    <a:solidFill>
                      <a:srgbClr val="F3F6F8"/>
                    </a:solidFill>
                  </a:tcPr>
                </a:tc>
                <a:tc>
                  <a:txBody>
                    <a:bodyPr/>
                    <a:lstStyle/>
                    <a:p>
                      <a:r>
                        <a:rPr sz="1800" b="0">
                          <a:solidFill>
                            <a:srgbClr val="1B2933"/>
                          </a:solidFill>
                          <a:latin typeface="Aptos"/>
                          <a:ea typeface="Aptos"/>
                          <a:cs typeface="Aptos"/>
                        </a:rPr>
                        <a:t>17 / 376</a:t>
                      </a:r>
                    </a:p>
                  </a:txBody>
                  <a:tcPr marL="91440" marR="91440" marT="45720" marB="45720">
                    <a:solidFill>
                      <a:srgbClr val="F3F6F8"/>
                    </a:solidFill>
                  </a:tcPr>
                </a:tc>
                <a:tc>
                  <a:txBody>
                    <a:bodyPr/>
                    <a:lstStyle/>
                    <a:p>
                      <a:r>
                        <a:rPr sz="1800" b="0">
                          <a:solidFill>
                            <a:srgbClr val="1B2933"/>
                          </a:solidFill>
                          <a:latin typeface="Aptos"/>
                          <a:ea typeface="Aptos"/>
                          <a:cs typeface="Aptos"/>
                        </a:rPr>
                        <a:t>8 / 376</a:t>
                      </a:r>
                    </a:p>
                  </a:txBody>
                  <a:tcPr marL="91440" marR="91440" marT="45720" marB="45720">
                    <a:solidFill>
                      <a:srgbClr val="F3F6F8"/>
                    </a:solidFill>
                  </a:tcPr>
                </a:tc>
              </a:tr>
              <a:tr h="542925">
                <a:tc>
                  <a:txBody>
                    <a:bodyPr/>
                    <a:lstStyle/>
                    <a:p>
                      <a:r>
                        <a:rPr sz="1800" b="0">
                          <a:solidFill>
                            <a:srgbClr val="1B2933"/>
                          </a:solidFill>
                          <a:latin typeface="Aptos"/>
                          <a:ea typeface="Aptos"/>
                          <a:cs typeface="Aptos"/>
                        </a:rPr>
                        <a:t>EFA</a:t>
                      </a:r>
                    </a:p>
                  </a:txBody>
                  <a:tcPr marL="91440" marR="91440" marT="45720" marB="45720">
                    <a:solidFill>
                      <a:srgbClr val="FFFFFF"/>
                    </a:solidFill>
                  </a:tcPr>
                </a:tc>
                <a:tc>
                  <a:txBody>
                    <a:bodyPr/>
                    <a:lstStyle/>
                    <a:p>
                      <a:r>
                        <a:rPr sz="1800" b="0">
                          <a:solidFill>
                            <a:srgbClr val="1B2933"/>
                          </a:solidFill>
                          <a:latin typeface="Aptos"/>
                          <a:ea typeface="Aptos"/>
                          <a:cs typeface="Aptos"/>
                        </a:rPr>
                        <a:t>59 / 376</a:t>
                      </a:r>
                    </a:p>
                  </a:txBody>
                  <a:tcPr marL="91440" marR="91440" marT="45720" marB="45720">
                    <a:solidFill>
                      <a:srgbClr val="FFFFFF"/>
                    </a:solidFill>
                  </a:tcPr>
                </a:tc>
                <a:tc>
                  <a:txBody>
                    <a:bodyPr/>
                    <a:lstStyle/>
                    <a:p>
                      <a:r>
                        <a:rPr sz="1800" b="0">
                          <a:solidFill>
                            <a:srgbClr val="1B2933"/>
                          </a:solidFill>
                          <a:latin typeface="Aptos"/>
                          <a:ea typeface="Aptos"/>
                          <a:cs typeface="Aptos"/>
                        </a:rPr>
                        <a:t>19 / 376</a:t>
                      </a:r>
                    </a:p>
                  </a:txBody>
                  <a:tcPr marL="91440" marR="91440" marT="45720" marB="45720">
                    <a:solidFill>
                      <a:srgbClr val="FFFFFF"/>
                    </a:solidFill>
                  </a:tcPr>
                </a:tc>
                <a:tc>
                  <a:txBody>
                    <a:bodyPr/>
                    <a:lstStyle/>
                    <a:p>
                      <a:r>
                        <a:rPr sz="1800" b="0">
                          <a:solidFill>
                            <a:srgbClr val="1B2933"/>
                          </a:solidFill>
                          <a:latin typeface="Aptos"/>
                          <a:ea typeface="Aptos"/>
                          <a:cs typeface="Aptos"/>
                        </a:rPr>
                        <a:t>35 / 376</a:t>
                      </a:r>
                    </a:p>
                  </a:txBody>
                  <a:tcPr marL="91440" marR="91440" marT="45720" marB="45720">
                    <a:solidFill>
                      <a:srgbClr val="FFFFFF"/>
                    </a:solidFill>
                  </a:tcPr>
                </a:tc>
                <a:tc>
                  <a:txBody>
                    <a:bodyPr/>
                    <a:lstStyle/>
                    <a:p>
                      <a:r>
                        <a:rPr sz="1800" b="0">
                          <a:solidFill>
                            <a:srgbClr val="1B2933"/>
                          </a:solidFill>
                          <a:latin typeface="Aptos"/>
                          <a:ea typeface="Aptos"/>
                          <a:cs typeface="Aptos"/>
                        </a:rPr>
                        <a:t>2 / 376</a:t>
                      </a:r>
                    </a:p>
                  </a:txBody>
                  <a:tcPr marL="91440" marR="91440" marT="45720" marB="45720">
                    <a:solidFill>
                      <a:srgbClr val="FFFFFF"/>
                    </a:solidFill>
                  </a:tcPr>
                </a:tc>
              </a:tr>
              <a:tr h="542925">
                <a:tc>
                  <a:txBody>
                    <a:bodyPr/>
                    <a:lstStyle/>
                    <a:p>
                      <a:r>
                        <a:rPr sz="1800" b="0">
                          <a:solidFill>
                            <a:srgbClr val="1B2933"/>
                          </a:solidFill>
                          <a:latin typeface="Aptos"/>
                          <a:ea typeface="Aptos"/>
                          <a:cs typeface="Aptos"/>
                        </a:rPr>
                        <a:t>TLT</a:t>
                      </a:r>
                    </a:p>
                  </a:txBody>
                  <a:tcPr marL="91440" marR="91440" marT="45720" marB="45720">
                    <a:solidFill>
                      <a:srgbClr val="F3F6F8"/>
                    </a:solidFill>
                  </a:tcPr>
                </a:tc>
                <a:tc>
                  <a:txBody>
                    <a:bodyPr/>
                    <a:lstStyle/>
                    <a:p>
                      <a:r>
                        <a:rPr sz="1800" b="0">
                          <a:solidFill>
                            <a:srgbClr val="1B2933"/>
                          </a:solidFill>
                          <a:latin typeface="Aptos"/>
                          <a:ea typeface="Aptos"/>
                          <a:cs typeface="Aptos"/>
                        </a:rPr>
                        <a:t>32 / 366</a:t>
                      </a:r>
                    </a:p>
                  </a:txBody>
                  <a:tcPr marL="91440" marR="91440" marT="45720" marB="45720">
                    <a:solidFill>
                      <a:srgbClr val="F3F6F8"/>
                    </a:solidFill>
                  </a:tcPr>
                </a:tc>
                <a:tc>
                  <a:txBody>
                    <a:bodyPr/>
                    <a:lstStyle/>
                    <a:p>
                      <a:r>
                        <a:rPr sz="1800" b="0">
                          <a:solidFill>
                            <a:srgbClr val="1B2933"/>
                          </a:solidFill>
                          <a:latin typeface="Aptos"/>
                          <a:ea typeface="Aptos"/>
                          <a:cs typeface="Aptos"/>
                        </a:rPr>
                        <a:t>18 / 366</a:t>
                      </a:r>
                    </a:p>
                  </a:txBody>
                  <a:tcPr marL="91440" marR="91440" marT="45720" marB="45720">
                    <a:solidFill>
                      <a:srgbClr val="F3F6F8"/>
                    </a:solidFill>
                  </a:tcPr>
                </a:tc>
                <a:tc>
                  <a:txBody>
                    <a:bodyPr/>
                    <a:lstStyle/>
                    <a:p>
                      <a:r>
                        <a:rPr sz="1800" b="0">
                          <a:solidFill>
                            <a:srgbClr val="1B2933"/>
                          </a:solidFill>
                          <a:latin typeface="Aptos"/>
                          <a:ea typeface="Aptos"/>
                          <a:cs typeface="Aptos"/>
                        </a:rPr>
                        <a:t>32 / 376</a:t>
                      </a:r>
                    </a:p>
                  </a:txBody>
                  <a:tcPr marL="91440" marR="91440" marT="45720" marB="45720">
                    <a:solidFill>
                      <a:srgbClr val="F3F6F8"/>
                    </a:solidFill>
                  </a:tcPr>
                </a:tc>
                <a:tc>
                  <a:txBody>
                    <a:bodyPr/>
                    <a:lstStyle/>
                    <a:p>
                      <a:r>
                        <a:rPr sz="1800" b="0">
                          <a:solidFill>
                            <a:srgbClr val="1B2933"/>
                          </a:solidFill>
                          <a:latin typeface="Aptos"/>
                          <a:ea typeface="Aptos"/>
                          <a:cs typeface="Aptos"/>
                        </a:rPr>
                        <a:t>3 / 376</a:t>
                      </a:r>
                    </a:p>
                  </a:txBody>
                  <a:tcPr marL="91440" marR="91440" marT="45720" marB="45720">
                    <a:solidFill>
                      <a:srgbClr val="F3F6F8"/>
                    </a:solidFill>
                  </a:tcPr>
                </a:tc>
              </a:tr>
            </a:tbl>
          </a:graphicData>
        </a:graphic>
      </p:graphicFrame>
      <p:sp>
        <p:nvSpPr>
          <p:cNvPr id="6" name="">
            <a:extLst xmlns:a="http://schemas.openxmlformats.org/drawingml/2006/main">
              <a:ext uri="{FF2B5EF4-FFF2-40B4-BE49-F238E27FC236}">
                <a16:creationId xmlns:a16="http://schemas.microsoft.com/office/drawing/2014/main" id="{5B9900E1-29C7-43EC-8C2F-AD9569555D5C}"/>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January 2014 and discovery dates are excluded. TLT has ten missing one-minute pairs.</a:t>
            </a:r>
          </a:p>
        </p:txBody>
      </p:sp>
    </p:spTree>
    <p:extLst>
      <p:ext uri="{BB962C8B-B14F-4D97-AF65-F5344CB8AC3E}">
        <p14:creationId xmlns:p14="http://schemas.microsoft.com/office/powerpoint/2010/main" val="1718832815"/>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E7B0CAF-03B1-4709-B606-2D6A7E44FE84}"/>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3. Results and their interpretation</a:t>
            </a:r>
          </a:p>
        </p:txBody>
      </p:sp>
      <p:sp>
        <p:nvSpPr>
          <p:cNvPr id="3" name="">
            <a:extLst xmlns:a="http://schemas.openxmlformats.org/drawingml/2006/main">
              <a:ext uri="{FF2B5EF4-FFF2-40B4-BE49-F238E27FC236}">
                <a16:creationId xmlns:a16="http://schemas.microsoft.com/office/drawing/2014/main" id="{276E388F-E0F0-4DB2-8B5B-203DD446D514}"/>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35. Five minutes does not remove the QQQ position gap</a:t>
            </a:r>
          </a:p>
        </p:txBody>
      </p:sp>
      <p:sp>
        <p:nvSpPr>
          <p:cNvPr id="4" name="">
            <a:extLst xmlns:a="http://schemas.openxmlformats.org/drawingml/2006/main">
              <a:ext uri="{FF2B5EF4-FFF2-40B4-BE49-F238E27FC236}">
                <a16:creationId xmlns:a16="http://schemas.microsoft.com/office/drawing/2014/main" id="{CCE23945-88A6-4A60-9160-442C57F40E08}"/>
              </a:ext>
            </a:extLst>
          </p:cNvPr>
          <p:cNvSpPr>
            <a:spLocks xmlns:a="http://schemas.openxmlformats.org/drawingml/2006/main" noGrp="1"/>
          </p:cNvSpPr>
          <p:nvPr/>
        </p:nvSpPr>
        <p:spPr>
          <a:xfrm xmlns:a="http://schemas.openxmlformats.org/drawingml/2006/main">
            <a:off x="590550" y="1866900"/>
            <a:ext cx="4429125"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B2933"/>
                </a:solidFill>
                <a:latin typeface="Aptos"/>
                <a:ea typeface="Aptos"/>
                <a:cs typeface="Aptos"/>
              </a:defRPr>
            </a:defPPr>
            <a:lvl1pPr>
              <a:defRPr sz="1950" b="0">
                <a:solidFill>
                  <a:srgbClr val="1B2933"/>
                </a:solidFill>
                <a:latin typeface="Aptos"/>
                <a:ea typeface="Aptos"/>
                <a:cs typeface="Aptos"/>
              </a:defRPr>
            </a:lvl1pPr>
            <a:lvl2pPr>
              <a:defRPr sz="1950" b="0">
                <a:solidFill>
                  <a:srgbClr val="1B2933"/>
                </a:solidFill>
                <a:latin typeface="Aptos"/>
                <a:ea typeface="Aptos"/>
                <a:cs typeface="Aptos"/>
              </a:defRPr>
            </a:lvl2pPr>
            <a:lvl3pPr>
              <a:defRPr sz="1950" b="0">
                <a:solidFill>
                  <a:srgbClr val="1B2933"/>
                </a:solidFill>
                <a:latin typeface="Aptos"/>
                <a:ea typeface="Aptos"/>
                <a:cs typeface="Aptos"/>
              </a:defRPr>
            </a:lvl3pPr>
            <a:lvl4pPr>
              <a:defRPr sz="1950" b="0">
                <a:solidFill>
                  <a:srgbClr val="1B2933"/>
                </a:solidFill>
                <a:latin typeface="Aptos"/>
                <a:ea typeface="Aptos"/>
                <a:cs typeface="Aptos"/>
              </a:defRPr>
            </a:lvl4pPr>
            <a:lvl5pPr>
              <a:defRPr sz="1950" b="0">
                <a:solidFill>
                  <a:srgbClr val="1B2933"/>
                </a:solidFill>
                <a:latin typeface="Aptos"/>
                <a:ea typeface="Aptos"/>
                <a:cs typeface="Aptos"/>
              </a:defRPr>
            </a:lvl5pPr>
            <a:lvl6pPr>
              <a:defRPr sz="1950" b="0">
                <a:solidFill>
                  <a:srgbClr val="1B2933"/>
                </a:solidFill>
                <a:latin typeface="Aptos"/>
                <a:ea typeface="Aptos"/>
                <a:cs typeface="Aptos"/>
              </a:defRPr>
            </a:lvl6pPr>
            <a:lvl7pPr>
              <a:defRPr sz="1950" b="0">
                <a:solidFill>
                  <a:srgbClr val="1B2933"/>
                </a:solidFill>
                <a:latin typeface="Aptos"/>
                <a:ea typeface="Aptos"/>
                <a:cs typeface="Aptos"/>
              </a:defRPr>
            </a:lvl7pPr>
            <a:lvl8pPr>
              <a:defRPr sz="1950" b="0">
                <a:solidFill>
                  <a:srgbClr val="1B2933"/>
                </a:solidFill>
                <a:latin typeface="Aptos"/>
                <a:ea typeface="Aptos"/>
                <a:cs typeface="Aptos"/>
              </a:defRPr>
            </a:lvl8pPr>
            <a:lvl9pPr>
              <a:defRPr sz="1950" b="0">
                <a:solidFill>
                  <a:srgbClr val="1B2933"/>
                </a:solidFill>
                <a:latin typeface="Aptos"/>
                <a:ea typeface="Aptos"/>
                <a:cs typeface="Aptos"/>
              </a:defRPr>
            </a:lvl9pPr>
          </a:lstStyle>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The chart counts evaluation origins where source choice changes the capped position by at least 5 percentage points.</a:t>
            </a:r>
          </a:p>
          <a:p xmlns:a="http://schemas.openxmlformats.org/drawingml/2006/main">
            <a:r>
              <a:t/>
            </a:r>
          </a:p>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Each fund has 272 origins after the same warmup. QQQ has 50; SPY has 0.</a:t>
            </a:r>
          </a:p>
          <a:p xmlns:a="http://schemas.openxmlformats.org/drawingml/2006/main">
            <a:r>
              <a:t/>
            </a:r>
          </a:p>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An origin is a date when the rule proposes the next position. Consecutive origins can reflect the same persistent difference.</a:t>
            </a:r>
          </a:p>
        </p:txBody>
      </p:sp>
      <p:graphicFrame>
        <p:nvGraphicFramePr>
          <p:cNvPr id="5" name="Chart">
            <a:extLst xmlns:a="http://schemas.openxmlformats.org/drawingml/2006/main">
              <a:ext uri="{FF2B5EF4-FFF2-40B4-BE49-F238E27FC236}">
                <a16:creationId xmlns:a16="http://schemas.microsoft.com/office/drawing/2014/main" id="{C2CFBFE6-7862-453C-89FB-D5B781C1720D}"/>
              </a:ext>
            </a:extLst>
          </p:cNvPr>
          <p:cNvGraphicFramePr/>
          <p:nvPr/>
        </p:nvGraphicFramePr>
        <p:xfrm>
          <a:off xmlns:a="http://schemas.openxmlformats.org/drawingml/2006/main" x="5286375" y="1762125"/>
          <a:ext xmlns:a="http://schemas.openxmlformats.org/drawingml/2006/main" cx="6334125" cy="3857625"/>
        </p:xfrm>
        <a:graphic xmlns:a="http://schemas.openxmlformats.org/drawingml/2006/main">
          <a:graphicData uri="http://schemas.openxmlformats.org/drawingml/2006/chart">
            <c:chart xmlns:r="http://schemas.openxmlformats.org/officeDocument/2006/relationships" xmlns:c="http://schemas.openxmlformats.org/drawingml/2006/chart" r:id="Rdfc1492b222a4fd0"/>
          </a:graphicData>
        </a:graphic>
      </p:graphicFrame>
      <p:sp>
        <p:nvSpPr>
          <p:cNvPr id="6" name="">
            <a:extLst xmlns:a="http://schemas.openxmlformats.org/drawingml/2006/main">
              <a:ext uri="{FF2B5EF4-FFF2-40B4-BE49-F238E27FC236}">
                <a16:creationId xmlns:a16="http://schemas.microsoft.com/office/drawing/2014/main" id="{D72E5A59-6A73-4807-BF13-F5F39190B0B3}"/>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All five funds use five-minute RV and the original fixed risk rule. These are proposed positions.</a:t>
            </a:r>
          </a:p>
        </p:txBody>
      </p:sp>
    </p:spTree>
    <p:extLst>
      <p:ext uri="{BB962C8B-B14F-4D97-AF65-F5344CB8AC3E}">
        <p14:creationId xmlns:p14="http://schemas.microsoft.com/office/powerpoint/2010/main" val="798588857"/>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C860599-56D4-4F9F-A7BD-AC5C49141A08}"/>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3. Results and their interpretation</a:t>
            </a:r>
          </a:p>
        </p:txBody>
      </p:sp>
      <p:sp>
        <p:nvSpPr>
          <p:cNvPr id="3" name="">
            <a:extLst xmlns:a="http://schemas.openxmlformats.org/drawingml/2006/main">
              <a:ext uri="{FF2B5EF4-FFF2-40B4-BE49-F238E27FC236}">
                <a16:creationId xmlns:a16="http://schemas.microsoft.com/office/drawing/2014/main" id="{A0333AF4-F6B3-4A75-B340-EA551A107703}"/>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36. Average capped gaps differ across funds</a:t>
            </a:r>
          </a:p>
        </p:txBody>
      </p:sp>
      <p:sp>
        <p:nvSpPr>
          <p:cNvPr id="4" name="">
            <a:extLst xmlns:a="http://schemas.openxmlformats.org/drawingml/2006/main">
              <a:ext uri="{FF2B5EF4-FFF2-40B4-BE49-F238E27FC236}">
                <a16:creationId xmlns:a16="http://schemas.microsoft.com/office/drawing/2014/main" id="{5A131056-2C3B-4A51-942A-D1A159075D0F}"/>
              </a:ext>
            </a:extLst>
          </p:cNvPr>
          <p:cNvSpPr>
            <a:spLocks xmlns:a="http://schemas.openxmlformats.org/drawingml/2006/main" noGrp="1"/>
          </p:cNvSpPr>
          <p:nvPr/>
        </p:nvSpPr>
        <p:spPr>
          <a:xfrm xmlns:a="http://schemas.openxmlformats.org/drawingml/2006/main">
            <a:off x="590550" y="180975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B2933"/>
                </a:solidFill>
                <a:latin typeface="Aptos"/>
                <a:ea typeface="Aptos"/>
                <a:cs typeface="Aptos"/>
              </a:defRPr>
            </a:defPPr>
            <a:lvl1pPr>
              <a:defRPr sz="2025" b="0">
                <a:solidFill>
                  <a:srgbClr val="1B2933"/>
                </a:solidFill>
                <a:latin typeface="Aptos"/>
                <a:ea typeface="Aptos"/>
                <a:cs typeface="Aptos"/>
              </a:defRPr>
            </a:lvl1pPr>
            <a:lvl2pPr>
              <a:defRPr sz="2025" b="0">
                <a:solidFill>
                  <a:srgbClr val="1B2933"/>
                </a:solidFill>
                <a:latin typeface="Aptos"/>
                <a:ea typeface="Aptos"/>
                <a:cs typeface="Aptos"/>
              </a:defRPr>
            </a:lvl2pPr>
            <a:lvl3pPr>
              <a:defRPr sz="2025" b="0">
                <a:solidFill>
                  <a:srgbClr val="1B2933"/>
                </a:solidFill>
                <a:latin typeface="Aptos"/>
                <a:ea typeface="Aptos"/>
                <a:cs typeface="Aptos"/>
              </a:defRPr>
            </a:lvl3pPr>
            <a:lvl4pPr>
              <a:defRPr sz="2025" b="0">
                <a:solidFill>
                  <a:srgbClr val="1B2933"/>
                </a:solidFill>
                <a:latin typeface="Aptos"/>
                <a:ea typeface="Aptos"/>
                <a:cs typeface="Aptos"/>
              </a:defRPr>
            </a:lvl4pPr>
            <a:lvl5pPr>
              <a:defRPr sz="2025" b="0">
                <a:solidFill>
                  <a:srgbClr val="1B2933"/>
                </a:solidFill>
                <a:latin typeface="Aptos"/>
                <a:ea typeface="Aptos"/>
                <a:cs typeface="Aptos"/>
              </a:defRPr>
            </a:lvl5pPr>
            <a:lvl6pPr>
              <a:defRPr sz="2025" b="0">
                <a:solidFill>
                  <a:srgbClr val="1B2933"/>
                </a:solidFill>
                <a:latin typeface="Aptos"/>
                <a:ea typeface="Aptos"/>
                <a:cs typeface="Aptos"/>
              </a:defRPr>
            </a:lvl6pPr>
            <a:lvl7pPr>
              <a:defRPr sz="2025" b="0">
                <a:solidFill>
                  <a:srgbClr val="1B2933"/>
                </a:solidFill>
                <a:latin typeface="Aptos"/>
                <a:ea typeface="Aptos"/>
                <a:cs typeface="Aptos"/>
              </a:defRPr>
            </a:lvl7pPr>
            <a:lvl8pPr>
              <a:defRPr sz="2025" b="0">
                <a:solidFill>
                  <a:srgbClr val="1B2933"/>
                </a:solidFill>
                <a:latin typeface="Aptos"/>
                <a:ea typeface="Aptos"/>
                <a:cs typeface="Aptos"/>
              </a:defRPr>
            </a:lvl8pPr>
            <a:lvl9pPr>
              <a:defRPr sz="2025" b="0">
                <a:solidFill>
                  <a:srgbClr val="1B2933"/>
                </a:solidFill>
                <a:latin typeface="Aptos"/>
                <a:ea typeface="Aptos"/>
                <a:cs typeface="Aptos"/>
              </a:defRPr>
            </a:lvl9pPr>
          </a:lstStyle>
          <a:p xmlns:a="http://schemas.openxmlformats.org/drawingml/2006/main">
            <a:pPr>
              <a:defRPr sz="2025" b="0">
                <a:solidFill>
                  <a:srgbClr val="1B2933"/>
                </a:solidFill>
                <a:latin typeface="Aptos"/>
                <a:ea typeface="Aptos"/>
                <a:cs typeface="Aptos"/>
              </a:defRPr>
            </a:pPr>
            <a:r>
              <a:rPr sz="2025" b="0">
                <a:solidFill>
                  <a:srgbClr val="1B2933"/>
                </a:solidFill>
                <a:latin typeface="Aptos"/>
                <a:ea typeface="Aptos"/>
                <a:cs typeface="Aptos"/>
              </a:rPr>
              <a:t>Mean absolute source difference in the proposed position, using the same fixed rule and full calendar. pp means percentage points.</a:t>
            </a:r>
          </a:p>
        </p:txBody>
      </p:sp>
      <p:graphicFrame>
        <p:nvGraphicFramePr>
          <p:cNvPr id="5" name="">
            <a:extLst xmlns:a="http://schemas.openxmlformats.org/drawingml/2006/main">
              <a:ext uri="{FF2B5EF4-FFF2-40B4-BE49-F238E27FC236}">
                <a16:creationId xmlns:a16="http://schemas.microsoft.com/office/drawing/2014/main" id="{D4A59DBB-532C-4628-A2E9-63A5C8C5C8FA}"/>
              </a:ext>
            </a:extLst>
          </p:cNvPr>
          <p:cNvGraphicFramePr/>
          <p:nvPr/>
        </p:nvGraphicFramePr>
        <p:xfrm>
          <a:off xmlns:a="http://schemas.openxmlformats.org/drawingml/2006/main" x="590550" y="2828925"/>
          <a:ext xmlns:a="http://schemas.openxmlformats.org/drawingml/2006/main" cx="10953750" cy="3171825"/>
        </p:xfrm>
        <a:graphic xmlns:a="http://schemas.openxmlformats.org/drawingml/2006/main">
          <a:graphicData uri="http://schemas.openxmlformats.org/drawingml/2006/table">
            <a:tbl>
              <a:tblPr/>
              <a:tblGrid>
                <a:gridCol w="3651250"/>
                <a:gridCol w="3651250"/>
                <a:gridCol w="3651250"/>
              </a:tblGrid>
              <a:tr h="528638">
                <a:tc>
                  <a:txBody>
                    <a:bodyPr/>
                    <a:lstStyle/>
                    <a:p>
                      <a:r>
                        <a:rPr sz="1800" b="1">
                          <a:solidFill>
                            <a:srgbClr val="1B2933"/>
                          </a:solidFill>
                          <a:latin typeface="Aptos"/>
                          <a:ea typeface="Aptos"/>
                          <a:cs typeface="Aptos"/>
                        </a:rPr>
                        <a:t>Fund</a:t>
                      </a:r>
                    </a:p>
                  </a:txBody>
                  <a:tcPr marL="91440" marR="91440" marT="45720" marB="45720">
                    <a:solidFill>
                      <a:srgbClr val="E4EDF4"/>
                    </a:solidFill>
                  </a:tcPr>
                </a:tc>
                <a:tc>
                  <a:txBody>
                    <a:bodyPr/>
                    <a:lstStyle/>
                    <a:p>
                      <a:r>
                        <a:rPr sz="1800" b="1">
                          <a:solidFill>
                            <a:srgbClr val="1B2933"/>
                          </a:solidFill>
                          <a:latin typeface="Aptos"/>
                          <a:ea typeface="Aptos"/>
                          <a:cs typeface="Aptos"/>
                        </a:rPr>
                        <a:t>1-min mean gap, pp</a:t>
                      </a:r>
                    </a:p>
                  </a:txBody>
                  <a:tcPr marL="91440" marR="91440" marT="45720" marB="45720">
                    <a:solidFill>
                      <a:srgbClr val="E4EDF4"/>
                    </a:solidFill>
                  </a:tcPr>
                </a:tc>
                <a:tc>
                  <a:txBody>
                    <a:bodyPr/>
                    <a:lstStyle/>
                    <a:p>
                      <a:r>
                        <a:rPr sz="1800" b="1">
                          <a:solidFill>
                            <a:srgbClr val="1B2933"/>
                          </a:solidFill>
                          <a:latin typeface="Aptos"/>
                          <a:ea typeface="Aptos"/>
                          <a:cs typeface="Aptos"/>
                        </a:rPr>
                        <a:t>5-min mean gap, pp</a:t>
                      </a:r>
                    </a:p>
                  </a:txBody>
                  <a:tcPr marL="91440" marR="91440" marT="45720" marB="45720">
                    <a:solidFill>
                      <a:srgbClr val="E4EDF4"/>
                    </a:solidFill>
                  </a:tcPr>
                </a:tc>
              </a:tr>
              <a:tr h="528638">
                <a:tc>
                  <a:txBody>
                    <a:bodyPr/>
                    <a:lstStyle/>
                    <a:p>
                      <a:r>
                        <a:rPr sz="1800" b="0">
                          <a:solidFill>
                            <a:srgbClr val="1B2933"/>
                          </a:solidFill>
                          <a:latin typeface="Aptos"/>
                          <a:ea typeface="Aptos"/>
                          <a:cs typeface="Aptos"/>
                        </a:rPr>
                        <a:t>SPY</a:t>
                      </a:r>
                    </a:p>
                  </a:txBody>
                  <a:tcPr marL="91440" marR="91440" marT="45720" marB="45720">
                    <a:solidFill>
                      <a:srgbClr val="FFFFFF"/>
                    </a:solidFill>
                  </a:tcPr>
                </a:tc>
                <a:tc>
                  <a:txBody>
                    <a:bodyPr/>
                    <a:lstStyle/>
                    <a:p>
                      <a:r>
                        <a:rPr sz="1800" b="0">
                          <a:solidFill>
                            <a:srgbClr val="1B2933"/>
                          </a:solidFill>
                          <a:latin typeface="Aptos"/>
                          <a:ea typeface="Aptos"/>
                          <a:cs typeface="Aptos"/>
                        </a:rPr>
                        <a:t>2.632</a:t>
                      </a:r>
                    </a:p>
                  </a:txBody>
                  <a:tcPr marL="91440" marR="91440" marT="45720" marB="45720">
                    <a:solidFill>
                      <a:srgbClr val="FFFFFF"/>
                    </a:solidFill>
                  </a:tcPr>
                </a:tc>
                <a:tc>
                  <a:txBody>
                    <a:bodyPr/>
                    <a:lstStyle/>
                    <a:p>
                      <a:r>
                        <a:rPr sz="1800" b="0">
                          <a:solidFill>
                            <a:srgbClr val="1B2933"/>
                          </a:solidFill>
                          <a:latin typeface="Aptos"/>
                          <a:ea typeface="Aptos"/>
                          <a:cs typeface="Aptos"/>
                        </a:rPr>
                        <a:t>0.032</a:t>
                      </a:r>
                    </a:p>
                  </a:txBody>
                  <a:tcPr marL="91440" marR="91440" marT="45720" marB="45720">
                    <a:solidFill>
                      <a:srgbClr val="FFFFFF"/>
                    </a:solidFill>
                  </a:tcPr>
                </a:tc>
              </a:tr>
              <a:tr h="528638">
                <a:tc>
                  <a:txBody>
                    <a:bodyPr/>
                    <a:lstStyle/>
                    <a:p>
                      <a:r>
                        <a:rPr sz="1800" b="0">
                          <a:solidFill>
                            <a:srgbClr val="1B2933"/>
                          </a:solidFill>
                          <a:latin typeface="Aptos"/>
                          <a:ea typeface="Aptos"/>
                          <a:cs typeface="Aptos"/>
                        </a:rPr>
                        <a:t>QQQ</a:t>
                      </a:r>
                    </a:p>
                  </a:txBody>
                  <a:tcPr marL="91440" marR="91440" marT="45720" marB="45720">
                    <a:solidFill>
                      <a:srgbClr val="F3F6F8"/>
                    </a:solidFill>
                  </a:tcPr>
                </a:tc>
                <a:tc>
                  <a:txBody>
                    <a:bodyPr/>
                    <a:lstStyle/>
                    <a:p>
                      <a:r>
                        <a:rPr sz="1800" b="0">
                          <a:solidFill>
                            <a:srgbClr val="1B2933"/>
                          </a:solidFill>
                          <a:latin typeface="Aptos"/>
                          <a:ea typeface="Aptos"/>
                          <a:cs typeface="Aptos"/>
                        </a:rPr>
                        <a:t>5.8531</a:t>
                      </a:r>
                    </a:p>
                  </a:txBody>
                  <a:tcPr marL="91440" marR="91440" marT="45720" marB="45720">
                    <a:solidFill>
                      <a:srgbClr val="F3F6F8"/>
                    </a:solidFill>
                  </a:tcPr>
                </a:tc>
                <a:tc>
                  <a:txBody>
                    <a:bodyPr/>
                    <a:lstStyle/>
                    <a:p>
                      <a:r>
                        <a:rPr sz="1800" b="0">
                          <a:solidFill>
                            <a:srgbClr val="1B2933"/>
                          </a:solidFill>
                          <a:latin typeface="Aptos"/>
                          <a:ea typeface="Aptos"/>
                          <a:cs typeface="Aptos"/>
                        </a:rPr>
                        <a:t>1.8268</a:t>
                      </a:r>
                    </a:p>
                  </a:txBody>
                  <a:tcPr marL="91440" marR="91440" marT="45720" marB="45720">
                    <a:solidFill>
                      <a:srgbClr val="F3F6F8"/>
                    </a:solidFill>
                  </a:tcPr>
                </a:tc>
              </a:tr>
              <a:tr h="528638">
                <a:tc>
                  <a:txBody>
                    <a:bodyPr/>
                    <a:lstStyle/>
                    <a:p>
                      <a:r>
                        <a:rPr sz="1800" b="0">
                          <a:solidFill>
                            <a:srgbClr val="1B2933"/>
                          </a:solidFill>
                          <a:latin typeface="Aptos"/>
                          <a:ea typeface="Aptos"/>
                          <a:cs typeface="Aptos"/>
                        </a:rPr>
                        <a:t>IWM</a:t>
                      </a:r>
                    </a:p>
                  </a:txBody>
                  <a:tcPr marL="91440" marR="91440" marT="45720" marB="45720">
                    <a:solidFill>
                      <a:srgbClr val="FFFFFF"/>
                    </a:solidFill>
                  </a:tcPr>
                </a:tc>
                <a:tc>
                  <a:txBody>
                    <a:bodyPr/>
                    <a:lstStyle/>
                    <a:p>
                      <a:r>
                        <a:rPr sz="1800" b="0">
                          <a:solidFill>
                            <a:srgbClr val="1B2933"/>
                          </a:solidFill>
                          <a:latin typeface="Aptos"/>
                          <a:ea typeface="Aptos"/>
                          <a:cs typeface="Aptos"/>
                        </a:rPr>
                        <a:t>7.7539</a:t>
                      </a:r>
                    </a:p>
                  </a:txBody>
                  <a:tcPr marL="91440" marR="91440" marT="45720" marB="45720">
                    <a:solidFill>
                      <a:srgbClr val="FFFFFF"/>
                    </a:solidFill>
                  </a:tcPr>
                </a:tc>
                <a:tc>
                  <a:txBody>
                    <a:bodyPr/>
                    <a:lstStyle/>
                    <a:p>
                      <a:r>
                        <a:rPr sz="1800" b="0">
                          <a:solidFill>
                            <a:srgbClr val="1B2933"/>
                          </a:solidFill>
                          <a:latin typeface="Aptos"/>
                          <a:ea typeface="Aptos"/>
                          <a:cs typeface="Aptos"/>
                        </a:rPr>
                        <a:t>1.2386</a:t>
                      </a:r>
                    </a:p>
                  </a:txBody>
                  <a:tcPr marL="91440" marR="91440" marT="45720" marB="45720">
                    <a:solidFill>
                      <a:srgbClr val="FFFFFF"/>
                    </a:solidFill>
                  </a:tcPr>
                </a:tc>
              </a:tr>
              <a:tr h="528638">
                <a:tc>
                  <a:txBody>
                    <a:bodyPr/>
                    <a:lstStyle/>
                    <a:p>
                      <a:r>
                        <a:rPr sz="1800" b="0">
                          <a:solidFill>
                            <a:srgbClr val="1B2933"/>
                          </a:solidFill>
                          <a:latin typeface="Aptos"/>
                          <a:ea typeface="Aptos"/>
                          <a:cs typeface="Aptos"/>
                        </a:rPr>
                        <a:t>EFA</a:t>
                      </a:r>
                    </a:p>
                  </a:txBody>
                  <a:tcPr marL="91440" marR="91440" marT="45720" marB="45720">
                    <a:solidFill>
                      <a:srgbClr val="F3F6F8"/>
                    </a:solidFill>
                  </a:tcPr>
                </a:tc>
                <a:tc>
                  <a:txBody>
                    <a:bodyPr/>
                    <a:lstStyle/>
                    <a:p>
                      <a:r>
                        <a:rPr sz="1800" b="0">
                          <a:solidFill>
                            <a:srgbClr val="1B2933"/>
                          </a:solidFill>
                          <a:latin typeface="Aptos"/>
                          <a:ea typeface="Aptos"/>
                          <a:cs typeface="Aptos"/>
                        </a:rPr>
                        <a:t>0.0109</a:t>
                      </a:r>
                    </a:p>
                  </a:txBody>
                  <a:tcPr marL="91440" marR="91440" marT="45720" marB="45720">
                    <a:solidFill>
                      <a:srgbClr val="F3F6F8"/>
                    </a:solidFill>
                  </a:tcPr>
                </a:tc>
                <a:tc>
                  <a:txBody>
                    <a:bodyPr/>
                    <a:lstStyle/>
                    <a:p>
                      <a:r>
                        <a:rPr sz="1800" b="0">
                          <a:solidFill>
                            <a:srgbClr val="1B2933"/>
                          </a:solidFill>
                          <a:latin typeface="Aptos"/>
                          <a:ea typeface="Aptos"/>
                          <a:cs typeface="Aptos"/>
                        </a:rPr>
                        <a:t>0.0101</a:t>
                      </a:r>
                    </a:p>
                  </a:txBody>
                  <a:tcPr marL="91440" marR="91440" marT="45720" marB="45720">
                    <a:solidFill>
                      <a:srgbClr val="F3F6F8"/>
                    </a:solidFill>
                  </a:tcPr>
                </a:tc>
              </a:tr>
              <a:tr h="528638">
                <a:tc>
                  <a:txBody>
                    <a:bodyPr/>
                    <a:lstStyle/>
                    <a:p>
                      <a:r>
                        <a:rPr sz="1800" b="0">
                          <a:solidFill>
                            <a:srgbClr val="1B2933"/>
                          </a:solidFill>
                          <a:latin typeface="Aptos"/>
                          <a:ea typeface="Aptos"/>
                          <a:cs typeface="Aptos"/>
                        </a:rPr>
                        <a:t>TLT</a:t>
                      </a:r>
                    </a:p>
                  </a:txBody>
                  <a:tcPr marL="91440" marR="91440" marT="45720" marB="45720">
                    <a:solidFill>
                      <a:srgbClr val="FFFFFF"/>
                    </a:solidFill>
                  </a:tcPr>
                </a:tc>
                <a:tc>
                  <a:txBody>
                    <a:bodyPr/>
                    <a:lstStyle/>
                    <a:p>
                      <a:r>
                        <a:rPr sz="1800" b="0">
                          <a:solidFill>
                            <a:srgbClr val="1B2933"/>
                          </a:solidFill>
                          <a:latin typeface="Aptos"/>
                          <a:ea typeface="Aptos"/>
                          <a:cs typeface="Aptos"/>
                        </a:rPr>
                        <a:t>withheld</a:t>
                      </a:r>
                    </a:p>
                  </a:txBody>
                  <a:tcPr marL="91440" marR="91440" marT="45720" marB="45720">
                    <a:solidFill>
                      <a:srgbClr val="FFFFFF"/>
                    </a:solidFill>
                  </a:tcPr>
                </a:tc>
                <a:tc>
                  <a:txBody>
                    <a:bodyPr/>
                    <a:lstStyle/>
                    <a:p>
                      <a:r>
                        <a:rPr sz="1800" b="0">
                          <a:solidFill>
                            <a:srgbClr val="1B2933"/>
                          </a:solidFill>
                          <a:latin typeface="Aptos"/>
                          <a:ea typeface="Aptos"/>
                          <a:cs typeface="Aptos"/>
                        </a:rPr>
                        <a:t>0.0157</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8F11310C-6360-444A-9A91-A8802440101A}"/>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“Withheld” preserves an incomplete TLT history; it does not mean a zero difference.</a:t>
            </a:r>
          </a:p>
        </p:txBody>
      </p:sp>
    </p:spTree>
    <p:extLst>
      <p:ext uri="{BB962C8B-B14F-4D97-AF65-F5344CB8AC3E}">
        <p14:creationId xmlns:p14="http://schemas.microsoft.com/office/powerpoint/2010/main" val="1780816198"/>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8E1C036-5E1B-4E00-8E8D-E0C6B7224930}"/>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3. Results and their interpretation</a:t>
            </a:r>
          </a:p>
        </p:txBody>
      </p:sp>
      <p:sp>
        <p:nvSpPr>
          <p:cNvPr id="3" name="">
            <a:extLst xmlns:a="http://schemas.openxmlformats.org/drawingml/2006/main">
              <a:ext uri="{FF2B5EF4-FFF2-40B4-BE49-F238E27FC236}">
                <a16:creationId xmlns:a16="http://schemas.microsoft.com/office/drawing/2014/main" id="{90722A7E-CB66-44A6-BA54-99FFEC165AA9}"/>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37. EFA shows cap masking even at one minute</a:t>
            </a:r>
          </a:p>
        </p:txBody>
      </p:sp>
      <p:sp>
        <p:nvSpPr>
          <p:cNvPr id="4" name="">
            <a:extLst xmlns:a="http://schemas.openxmlformats.org/drawingml/2006/main">
              <a:ext uri="{FF2B5EF4-FFF2-40B4-BE49-F238E27FC236}">
                <a16:creationId xmlns:a16="http://schemas.microsoft.com/office/drawing/2014/main" id="{145077FD-4A8B-4384-9CD2-0B1C802EEACE}"/>
              </a:ext>
            </a:extLst>
          </p:cNvPr>
          <p:cNvSpPr>
            <a:spLocks xmlns:a="http://schemas.openxmlformats.org/drawingml/2006/main" noGrp="1"/>
          </p:cNvSpPr>
          <p:nvPr/>
        </p:nvSpPr>
        <p:spPr>
          <a:xfrm xmlns:a="http://schemas.openxmlformats.org/drawingml/2006/main">
            <a:off x="590550" y="1866900"/>
            <a:ext cx="4429125"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B2933"/>
                </a:solidFill>
                <a:latin typeface="Aptos"/>
                <a:ea typeface="Aptos"/>
                <a:cs typeface="Aptos"/>
              </a:defRPr>
            </a:defPPr>
            <a:lvl1pPr>
              <a:defRPr sz="1950" b="0">
                <a:solidFill>
                  <a:srgbClr val="1B2933"/>
                </a:solidFill>
                <a:latin typeface="Aptos"/>
                <a:ea typeface="Aptos"/>
                <a:cs typeface="Aptos"/>
              </a:defRPr>
            </a:lvl1pPr>
            <a:lvl2pPr>
              <a:defRPr sz="1950" b="0">
                <a:solidFill>
                  <a:srgbClr val="1B2933"/>
                </a:solidFill>
                <a:latin typeface="Aptos"/>
                <a:ea typeface="Aptos"/>
                <a:cs typeface="Aptos"/>
              </a:defRPr>
            </a:lvl2pPr>
            <a:lvl3pPr>
              <a:defRPr sz="1950" b="0">
                <a:solidFill>
                  <a:srgbClr val="1B2933"/>
                </a:solidFill>
                <a:latin typeface="Aptos"/>
                <a:ea typeface="Aptos"/>
                <a:cs typeface="Aptos"/>
              </a:defRPr>
            </a:lvl3pPr>
            <a:lvl4pPr>
              <a:defRPr sz="1950" b="0">
                <a:solidFill>
                  <a:srgbClr val="1B2933"/>
                </a:solidFill>
                <a:latin typeface="Aptos"/>
                <a:ea typeface="Aptos"/>
                <a:cs typeface="Aptos"/>
              </a:defRPr>
            </a:lvl4pPr>
            <a:lvl5pPr>
              <a:defRPr sz="1950" b="0">
                <a:solidFill>
                  <a:srgbClr val="1B2933"/>
                </a:solidFill>
                <a:latin typeface="Aptos"/>
                <a:ea typeface="Aptos"/>
                <a:cs typeface="Aptos"/>
              </a:defRPr>
            </a:lvl5pPr>
            <a:lvl6pPr>
              <a:defRPr sz="1950" b="0">
                <a:solidFill>
                  <a:srgbClr val="1B2933"/>
                </a:solidFill>
                <a:latin typeface="Aptos"/>
                <a:ea typeface="Aptos"/>
                <a:cs typeface="Aptos"/>
              </a:defRPr>
            </a:lvl6pPr>
            <a:lvl7pPr>
              <a:defRPr sz="1950" b="0">
                <a:solidFill>
                  <a:srgbClr val="1B2933"/>
                </a:solidFill>
                <a:latin typeface="Aptos"/>
                <a:ea typeface="Aptos"/>
                <a:cs typeface="Aptos"/>
              </a:defRPr>
            </a:lvl7pPr>
            <a:lvl8pPr>
              <a:defRPr sz="1950" b="0">
                <a:solidFill>
                  <a:srgbClr val="1B2933"/>
                </a:solidFill>
                <a:latin typeface="Aptos"/>
                <a:ea typeface="Aptos"/>
                <a:cs typeface="Aptos"/>
              </a:defRPr>
            </a:lvl8pPr>
            <a:lvl9pPr>
              <a:defRPr sz="1950" b="0">
                <a:solidFill>
                  <a:srgbClr val="1B2933"/>
                </a:solidFill>
                <a:latin typeface="Aptos"/>
                <a:ea typeface="Aptos"/>
                <a:cs typeface="Aptos"/>
              </a:defRPr>
            </a:lvl9pPr>
          </a:lstStyle>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EFA’s mean absolute position gap falls from 3.2885 percentage points before the cap to 0.0109 after it.</a:t>
            </a:r>
          </a:p>
          <a:p xmlns:a="http://schemas.openxmlformats.org/drawingml/2006/main">
            <a:r>
              <a:t/>
            </a:r>
          </a:p>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That is 99.67% attenuation.</a:t>
            </a:r>
          </a:p>
          <a:p xmlns:a="http://schemas.openxmlformats.org/drawingml/2006/main">
            <a:r>
              <a:t/>
            </a:r>
          </a:p>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A small final gap can therefore coexist with a materially larger disagreement before the common limit.</a:t>
            </a:r>
          </a:p>
        </p:txBody>
      </p:sp>
      <p:graphicFrame>
        <p:nvGraphicFramePr>
          <p:cNvPr id="5" name="Chart">
            <a:extLst xmlns:a="http://schemas.openxmlformats.org/drawingml/2006/main">
              <a:ext uri="{FF2B5EF4-FFF2-40B4-BE49-F238E27FC236}">
                <a16:creationId xmlns:a16="http://schemas.microsoft.com/office/drawing/2014/main" id="{FA965AC2-8C1E-4B90-82A3-71DAF87C065E}"/>
              </a:ext>
            </a:extLst>
          </p:cNvPr>
          <p:cNvGraphicFramePr/>
          <p:nvPr/>
        </p:nvGraphicFramePr>
        <p:xfrm>
          <a:off xmlns:a="http://schemas.openxmlformats.org/drawingml/2006/main" x="5286375" y="1762125"/>
          <a:ext xmlns:a="http://schemas.openxmlformats.org/drawingml/2006/main" cx="6334125" cy="3857625"/>
        </p:xfrm>
        <a:graphic xmlns:a="http://schemas.openxmlformats.org/drawingml/2006/main">
          <a:graphicData uri="http://schemas.openxmlformats.org/drawingml/2006/chart">
            <c:chart xmlns:r="http://schemas.openxmlformats.org/officeDocument/2006/relationships" xmlns:c="http://schemas.openxmlformats.org/drawingml/2006/chart" r:id="R037d9967d5a74479"/>
          </a:graphicData>
        </a:graphic>
      </p:graphicFrame>
      <p:sp>
        <p:nvSpPr>
          <p:cNvPr id="6" name="">
            <a:extLst xmlns:a="http://schemas.openxmlformats.org/drawingml/2006/main">
              <a:ext uri="{FF2B5EF4-FFF2-40B4-BE49-F238E27FC236}">
                <a16:creationId xmlns:a16="http://schemas.microsoft.com/office/drawing/2014/main" id="{91DEBCAE-89A3-4319-9ED5-FA9C8DBAEEBF}"/>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Same one-minute inputs and rule; only the cap changes. The gap is not a return difference.</a:t>
            </a:r>
          </a:p>
        </p:txBody>
      </p:sp>
    </p:spTree>
    <p:extLst>
      <p:ext uri="{BB962C8B-B14F-4D97-AF65-F5344CB8AC3E}">
        <p14:creationId xmlns:p14="http://schemas.microsoft.com/office/powerpoint/2010/main" val="401833380"/>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AFAD564-1F9F-4B78-9AC9-115B26BA7FB0}"/>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3. Results and their interpretation</a:t>
            </a:r>
          </a:p>
        </p:txBody>
      </p:sp>
      <p:sp>
        <p:nvSpPr>
          <p:cNvPr id="3" name="">
            <a:extLst xmlns:a="http://schemas.openxmlformats.org/drawingml/2006/main">
              <a:ext uri="{FF2B5EF4-FFF2-40B4-BE49-F238E27FC236}">
                <a16:creationId xmlns:a16="http://schemas.microsoft.com/office/drawing/2014/main" id="{6DEF5B9B-7487-4132-9253-E1AB6D4BE7AB}"/>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38. The SPY condition mechanism does not explain every fund</a:t>
            </a:r>
          </a:p>
        </p:txBody>
      </p:sp>
      <p:sp>
        <p:nvSpPr>
          <p:cNvPr id="4" name="">
            <a:extLst xmlns:a="http://schemas.openxmlformats.org/drawingml/2006/main">
              <a:ext uri="{FF2B5EF4-FFF2-40B4-BE49-F238E27FC236}">
                <a16:creationId xmlns:a16="http://schemas.microsoft.com/office/drawing/2014/main" id="{C3F2915B-5584-4A45-8272-DFBAC109FC3C}"/>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Restoring modern category-B information removes much of SPY’s original one-minute discrepancy.</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For QQQ, the same restoration leaves 46 material RV dates. Using all modern conditions with legacy time leaves 4.</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This narrows the source-information explanation, while showing that a single category repair does not work uniformly.</a:t>
            </a:r>
          </a:p>
        </p:txBody>
      </p:sp>
      <p:sp>
        <p:nvSpPr>
          <p:cNvPr id="5" name="">
            <a:extLst xmlns:a="http://schemas.openxmlformats.org/drawingml/2006/main">
              <a:ext uri="{FF2B5EF4-FFF2-40B4-BE49-F238E27FC236}">
                <a16:creationId xmlns:a16="http://schemas.microsoft.com/office/drawing/2014/main" id="{0427D674-8A47-4E82-BBEB-764CAF972E86}"/>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Category B has different documented meanings across reporting tapes. Restoration is a diagnostic.</a:t>
            </a:r>
          </a:p>
        </p:txBody>
      </p:sp>
    </p:spTree>
    <p:extLst>
      <p:ext uri="{BB962C8B-B14F-4D97-AF65-F5344CB8AC3E}">
        <p14:creationId xmlns:p14="http://schemas.microsoft.com/office/powerpoint/2010/main" val="201917411"/>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0D90620-AB3B-44C9-91A7-1943F2A4B3C0}"/>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3. Results and their interpretation</a:t>
            </a:r>
          </a:p>
        </p:txBody>
      </p:sp>
      <p:sp>
        <p:nvSpPr>
          <p:cNvPr id="3" name="">
            <a:extLst xmlns:a="http://schemas.openxmlformats.org/drawingml/2006/main">
              <a:ext uri="{FF2B5EF4-FFF2-40B4-BE49-F238E27FC236}">
                <a16:creationId xmlns:a16="http://schemas.microsoft.com/office/drawing/2014/main" id="{A2DA42D0-4586-48C1-8E4F-CDE42E90AB51}"/>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39. The calendar stays fixed when observations are missing</a:t>
            </a:r>
          </a:p>
        </p:txBody>
      </p:sp>
      <p:sp>
        <p:nvSpPr>
          <p:cNvPr id="4" name="">
            <a:extLst xmlns:a="http://schemas.openxmlformats.org/drawingml/2006/main">
              <a:ext uri="{FF2B5EF4-FFF2-40B4-BE49-F238E27FC236}">
                <a16:creationId xmlns:a16="http://schemas.microsoft.com/office/drawing/2014/main" id="{41E3B646-972E-419C-8F61-D60435CAEB67}"/>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TLT has 10 missing one-minute source pairs. Dropping those days would make the next observed day look like the next trading day.</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That would change the risk rule’s memory and the meaning of a lag. The study instead withholds the incomplete one-minute risk comparison.</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Descriptive slope calculations retain the calendar and report how many valid lag endpoints remain.</a:t>
            </a:r>
          </a:p>
        </p:txBody>
      </p:sp>
      <p:sp>
        <p:nvSpPr>
          <p:cNvPr id="5" name="">
            <a:extLst xmlns:a="http://schemas.openxmlformats.org/drawingml/2006/main">
              <a:ext uri="{FF2B5EF4-FFF2-40B4-BE49-F238E27FC236}">
                <a16:creationId xmlns:a16="http://schemas.microsoft.com/office/drawing/2014/main" id="{94C9905D-971B-4A07-9405-B9D0083C1FE3}"/>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An unavailable result carries information about the pipeline’s limits.</a:t>
            </a:r>
          </a:p>
        </p:txBody>
      </p:sp>
    </p:spTree>
    <p:extLst>
      <p:ext uri="{BB962C8B-B14F-4D97-AF65-F5344CB8AC3E}">
        <p14:creationId xmlns:p14="http://schemas.microsoft.com/office/powerpoint/2010/main" val="1676238319"/>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4FD6B91-EFCF-4F50-AA63-7BF0B18C3279}"/>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4. Verification and conclusions</a:t>
            </a:r>
          </a:p>
        </p:txBody>
      </p:sp>
      <p:sp>
        <p:nvSpPr>
          <p:cNvPr id="3" name="">
            <a:extLst xmlns:a="http://schemas.openxmlformats.org/drawingml/2006/main">
              <a:ext uri="{FF2B5EF4-FFF2-40B4-BE49-F238E27FC236}">
                <a16:creationId xmlns:a16="http://schemas.microsoft.com/office/drawing/2014/main" id="{875DCE74-2D23-4D9F-9145-D4F3086FFF12}"/>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40. Uncertainty must respect related days</a:t>
            </a:r>
          </a:p>
        </p:txBody>
      </p:sp>
      <p:sp>
        <p:nvSpPr>
          <p:cNvPr id="4" name="">
            <a:extLst xmlns:a="http://schemas.openxmlformats.org/drawingml/2006/main">
              <a:ext uri="{FF2B5EF4-FFF2-40B4-BE49-F238E27FC236}">
                <a16:creationId xmlns:a16="http://schemas.microsoft.com/office/drawing/2014/main" id="{EA3D19EE-AEDA-4C45-838A-96118BBA9E78}"/>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Adjacent days can share market conditions and a persistent source effect. Treating every date as independent can overstate the amount of evidence.</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The paper resamples blocks of dates, keeping each source pair together. It recalculates the discrepancy fraction for each resample.</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These intervals assume that the overall behavior is reasonably stable and that dependence weakens over time in this historical window.</a:t>
            </a:r>
          </a:p>
        </p:txBody>
      </p:sp>
      <p:sp>
        <p:nvSpPr>
          <p:cNvPr id="5" name="">
            <a:extLst xmlns:a="http://schemas.openxmlformats.org/drawingml/2006/main">
              <a:ext uri="{FF2B5EF4-FFF2-40B4-BE49-F238E27FC236}">
                <a16:creationId xmlns:a16="http://schemas.microsoft.com/office/drawing/2014/main" id="{5ECEB422-512A-4D6F-8720-7911873DF51B}"/>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A confidence interval cannot create new independent episodes or fix a source-regime change.</a:t>
            </a:r>
          </a:p>
        </p:txBody>
      </p:sp>
    </p:spTree>
    <p:extLst>
      <p:ext uri="{BB962C8B-B14F-4D97-AF65-F5344CB8AC3E}">
        <p14:creationId xmlns:p14="http://schemas.microsoft.com/office/powerpoint/2010/main" val="1948814134"/>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1B74EFF-1E71-4FE7-AEB6-C7D533785505}"/>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4. Verification and conclusions</a:t>
            </a:r>
          </a:p>
        </p:txBody>
      </p:sp>
      <p:sp>
        <p:nvSpPr>
          <p:cNvPr id="3" name="">
            <a:extLst xmlns:a="http://schemas.openxmlformats.org/drawingml/2006/main">
              <a:ext uri="{FF2B5EF4-FFF2-40B4-BE49-F238E27FC236}">
                <a16:creationId xmlns:a16="http://schemas.microsoft.com/office/drawing/2014/main" id="{AEEBA04B-58C0-462A-9070-08B95390B37F}"/>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41. Different checks address different mistakes</a:t>
            </a:r>
          </a:p>
        </p:txBody>
      </p:sp>
      <p:sp>
        <p:nvSpPr>
          <p:cNvPr id="4" name="">
            <a:extLst xmlns:a="http://schemas.openxmlformats.org/drawingml/2006/main">
              <a:ext uri="{FF2B5EF4-FFF2-40B4-BE49-F238E27FC236}">
                <a16:creationId xmlns:a16="http://schemas.microsoft.com/office/drawing/2014/main" id="{1A5713ED-5CA6-4506-AEEE-396137A5A70B}"/>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Input checks compare recorded rows and file hashes. Calendar checks verify session lengths independently.</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A second implementation recalculates daily measurements. Separate code checks risk updates through a direct formula. Deliberately altered outputs must trigger failures.</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A further audit connects the paper’s printed numbers to their source outputs.</a:t>
            </a:r>
          </a:p>
        </p:txBody>
      </p:sp>
      <p:sp>
        <p:nvSpPr>
          <p:cNvPr id="5" name="">
            <a:extLst xmlns:a="http://schemas.openxmlformats.org/drawingml/2006/main">
              <a:ext uri="{FF2B5EF4-FFF2-40B4-BE49-F238E27FC236}">
                <a16:creationId xmlns:a16="http://schemas.microsoft.com/office/drawing/2014/main" id="{2C258DF1-FC23-4152-8532-81B6B1683D13}"/>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These are computational checks. Independent human review remains a separate task.</a:t>
            </a:r>
          </a:p>
        </p:txBody>
      </p:sp>
    </p:spTree>
    <p:extLst>
      <p:ext uri="{BB962C8B-B14F-4D97-AF65-F5344CB8AC3E}">
        <p14:creationId xmlns:p14="http://schemas.microsoft.com/office/powerpoint/2010/main" val="822660685"/>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22C9A3E-6D2B-454D-ABDB-8A6CFB7D87F2}"/>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4. Verification and conclusions</a:t>
            </a:r>
          </a:p>
        </p:txBody>
      </p:sp>
      <p:sp>
        <p:nvSpPr>
          <p:cNvPr id="3" name="">
            <a:extLst xmlns:a="http://schemas.openxmlformats.org/drawingml/2006/main">
              <a:ext uri="{FF2B5EF4-FFF2-40B4-BE49-F238E27FC236}">
                <a16:creationId xmlns:a16="http://schemas.microsoft.com/office/drawing/2014/main" id="{505DDD4E-2E61-4C41-8D60-F0D5F677AEDF}"/>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42. The limits of the current evidence</a:t>
            </a:r>
          </a:p>
        </p:txBody>
      </p:sp>
      <p:sp>
        <p:nvSpPr>
          <p:cNvPr id="4" name="">
            <a:extLst xmlns:a="http://schemas.openxmlformats.org/drawingml/2006/main">
              <a:ext uri="{FF2B5EF4-FFF2-40B4-BE49-F238E27FC236}">
                <a16:creationId xmlns:a16="http://schemas.microsoft.com/office/drawing/2014/main" id="{0286CB48-F37A-4B5C-BFC6-91DB283BB66E}"/>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The expanded study covers five funds over one historical source-overlap period. More assets do not provide a new market regime.</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The filter is deliberately strict and the opening price sometimes uses a flagged approximation. Neither source gives verified true volatility.</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Related days and post-result follow-ups limit generalization. Validation from 2017–2019 and the final period from 2020 remain closed.</a:t>
            </a:r>
          </a:p>
        </p:txBody>
      </p:sp>
      <p:sp>
        <p:nvSpPr>
          <p:cNvPr id="5" name="">
            <a:extLst xmlns:a="http://schemas.openxmlformats.org/drawingml/2006/main">
              <a:ext uri="{FF2B5EF4-FFF2-40B4-BE49-F238E27FC236}">
                <a16:creationId xmlns:a16="http://schemas.microsoft.com/office/drawing/2014/main" id="{498668A4-E9C7-47F0-AA0D-DF9AAB2A2F2F}"/>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The original longer forecast contest remains deferred. This paper completes a narrower case study.</a:t>
            </a:r>
          </a:p>
        </p:txBody>
      </p:sp>
    </p:spTree>
    <p:extLst>
      <p:ext uri="{BB962C8B-B14F-4D97-AF65-F5344CB8AC3E}">
        <p14:creationId xmlns:p14="http://schemas.microsoft.com/office/powerpoint/2010/main" val="1091008007"/>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99959FC-5996-4AAC-9235-1A615F144456}"/>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4. Verification and conclusions</a:t>
            </a:r>
          </a:p>
        </p:txBody>
      </p:sp>
      <p:sp>
        <p:nvSpPr>
          <p:cNvPr id="3" name="">
            <a:extLst xmlns:a="http://schemas.openxmlformats.org/drawingml/2006/main">
              <a:ext uri="{FF2B5EF4-FFF2-40B4-BE49-F238E27FC236}">
                <a16:creationId xmlns:a16="http://schemas.microsoft.com/office/drawing/2014/main" id="{BC302DE0-5206-42A8-A723-515F878EF42E}"/>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43. What this study contributes</a:t>
            </a:r>
          </a:p>
        </p:txBody>
      </p:sp>
      <p:sp>
        <p:nvSpPr>
          <p:cNvPr id="4" name="">
            <a:extLst xmlns:a="http://schemas.openxmlformats.org/drawingml/2006/main">
              <a:ext uri="{FF2B5EF4-FFF2-40B4-BE49-F238E27FC236}">
                <a16:creationId xmlns:a16="http://schemas.microsoft.com/office/drawing/2014/main" id="{78E7405D-E422-4870-8832-CE86B6E5FD4E}"/>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Earlier research already establishes measurement-induced apparent roughness and historical TAQ source differences.</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This study documents a particular controlled source-information mechanism and follows it into a risk input. It then shows how a common cap can conceal state disagreement.</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Its contribution is a reproducible, qualified case study and a practical checking method.</a:t>
            </a:r>
          </a:p>
        </p:txBody>
      </p:sp>
      <p:sp>
        <p:nvSpPr>
          <p:cNvPr id="5" name="">
            <a:extLst xmlns:a="http://schemas.openxmlformats.org/drawingml/2006/main">
              <a:ext uri="{FF2B5EF4-FFF2-40B4-BE49-F238E27FC236}">
                <a16:creationId xmlns:a16="http://schemas.microsoft.com/office/drawing/2014/main" id="{A7304642-4FB6-4456-856A-376FDF12BAB5}"/>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The paper distinguishes dataset-specific evidence from broader claims of originality.</a:t>
            </a:r>
          </a:p>
        </p:txBody>
      </p:sp>
    </p:spTree>
    <p:extLst>
      <p:ext uri="{BB962C8B-B14F-4D97-AF65-F5344CB8AC3E}">
        <p14:creationId xmlns:p14="http://schemas.microsoft.com/office/powerpoint/2010/main" val="1055209629"/>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56778CA-3957-4A6A-B1E8-E860FC1C60CB}"/>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4. Verification and conclusions</a:t>
            </a:r>
          </a:p>
        </p:txBody>
      </p:sp>
      <p:sp>
        <p:nvSpPr>
          <p:cNvPr id="3" name="">
            <a:extLst xmlns:a="http://schemas.openxmlformats.org/drawingml/2006/main">
              <a:ext uri="{FF2B5EF4-FFF2-40B4-BE49-F238E27FC236}">
                <a16:creationId xmlns:a16="http://schemas.microsoft.com/office/drawing/2014/main" id="{988ED767-5797-4578-BEC7-A966E515A262}"/>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44. The conclusion</a:t>
            </a:r>
          </a:p>
        </p:txBody>
      </p:sp>
      <p:sp>
        <p:nvSpPr>
          <p:cNvPr id="4" name="">
            <a:extLst xmlns:a="http://schemas.openxmlformats.org/drawingml/2006/main">
              <a:ext uri="{FF2B5EF4-FFF2-40B4-BE49-F238E27FC236}">
                <a16:creationId xmlns:a16="http://schemas.microsoft.com/office/drawing/2014/main" id="{59E4537D-8979-4F3F-92FE-AC64C53FFD84}"/>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An audit should check source information, the volatility measurement, the uncapped risk state and the capped investment input separately.</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Broader asset coverage qualifies the SPY result: five-minute sampling leaves a substantial QQQ position discrepancy, while the cap conceals most of EFA’s one-minute gap.</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The practical lesson is to check each step and retain the full comparison, including missing results.</a:t>
            </a:r>
          </a:p>
        </p:txBody>
      </p:sp>
      <p:sp>
        <p:nvSpPr>
          <p:cNvPr id="5" name="">
            <a:extLst xmlns:a="http://schemas.openxmlformats.org/drawingml/2006/main">
              <a:ext uri="{FF2B5EF4-FFF2-40B4-BE49-F238E27FC236}">
                <a16:creationId xmlns:a16="http://schemas.microsoft.com/office/drawing/2014/main" id="{9D348CA5-7F4E-42AA-B39D-A012A4EBBFB4}"/>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The current paper is a complete computational draft for human review.</a:t>
            </a:r>
          </a:p>
        </p:txBody>
      </p:sp>
    </p:spTree>
    <p:extLst>
      <p:ext uri="{BB962C8B-B14F-4D97-AF65-F5344CB8AC3E}">
        <p14:creationId xmlns:p14="http://schemas.microsoft.com/office/powerpoint/2010/main" val="809305503"/>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C1DD992-5996-48F9-8043-92F010F2F089}"/>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Optional mathematical appendix</a:t>
            </a:r>
          </a:p>
        </p:txBody>
      </p:sp>
      <p:sp>
        <p:nvSpPr>
          <p:cNvPr id="3" name="">
            <a:extLst xmlns:a="http://schemas.openxmlformats.org/drawingml/2006/main">
              <a:ext uri="{FF2B5EF4-FFF2-40B4-BE49-F238E27FC236}">
                <a16:creationId xmlns:a16="http://schemas.microsoft.com/office/drawing/2014/main" id="{7DDB06F1-7974-4A83-BC8F-49F5B498BFE3}"/>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45. A. Gaussian moments explain the RV/RQ formulas</a:t>
            </a:r>
          </a:p>
        </p:txBody>
      </p:sp>
      <p:sp>
        <p:nvSpPr>
          <p:cNvPr id="4" name="">
            <a:extLst xmlns:a="http://schemas.openxmlformats.org/drawingml/2006/main">
              <a:ext uri="{FF2B5EF4-FFF2-40B4-BE49-F238E27FC236}">
                <a16:creationId xmlns:a16="http://schemas.microsoft.com/office/drawing/2014/main" id="{12755385-0D61-45AB-A8E3-8140EFBFBAF5}"/>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A log return is ln(new price / old price), where ln means the natural logarithm.</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Assume interval return rᵢ = √aᵢ Zᵢ, where aᵢ is its variance and Zᵢ has a standard normal distribution. In this illustrative model, increments are independent conditional on the variance path.</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E[Zᵢ²] = 1 and E[Zᵢ⁴] = 3 imply:</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E[RV] = Σaᵢ and E[RQ] = M Σaᵢ².</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That explains the normalization RQ = (M/3)Σrᵢ⁴.</a:t>
            </a:r>
          </a:p>
        </p:txBody>
      </p:sp>
      <p:sp>
        <p:nvSpPr>
          <p:cNvPr id="5" name="">
            <a:extLst xmlns:a="http://schemas.openxmlformats.org/drawingml/2006/main">
              <a:ext uri="{FF2B5EF4-FFF2-40B4-BE49-F238E27FC236}">
                <a16:creationId xmlns:a16="http://schemas.microsoft.com/office/drawing/2014/main" id="{E7C59458-8533-4BB0-A49B-ED7A8A8839DA}"/>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E means expectation, Σ means sum, and M is the actual interval count.</a:t>
            </a:r>
          </a:p>
        </p:txBody>
      </p:sp>
    </p:spTree>
    <p:extLst>
      <p:ext uri="{BB962C8B-B14F-4D97-AF65-F5344CB8AC3E}">
        <p14:creationId xmlns:p14="http://schemas.microsoft.com/office/powerpoint/2010/main" val="884231796"/>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47401B0-4984-4883-8704-BA2CD588DD79}"/>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Optional mathematical appendix</a:t>
            </a:r>
          </a:p>
        </p:txBody>
      </p:sp>
      <p:sp>
        <p:nvSpPr>
          <p:cNvPr id="3" name="">
            <a:extLst xmlns:a="http://schemas.openxmlformats.org/drawingml/2006/main">
              <a:ext uri="{FF2B5EF4-FFF2-40B4-BE49-F238E27FC236}">
                <a16:creationId xmlns:a16="http://schemas.microsoft.com/office/drawing/2014/main" id="{946A88CE-18EB-42E4-89EB-2C1D21E345E1}"/>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46. B. A daily error floor changes a slope</a:t>
            </a:r>
          </a:p>
        </p:txBody>
      </p:sp>
      <p:sp>
        <p:nvSpPr>
          <p:cNvPr id="4" name="">
            <a:extLst xmlns:a="http://schemas.openxmlformats.org/drawingml/2006/main">
              <a:ext uri="{FF2B5EF4-FFF2-40B4-BE49-F238E27FC236}">
                <a16:creationId xmlns:a16="http://schemas.microsoft.com/office/drawing/2014/main" id="{9C7747BD-D953-4ABF-9743-F286307D3CBD}"/>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Write Yₜ = Xₜ + eₜ. X is hidden log variance, Y is its observed proxy and e is an independent measurement error with variance q.</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For two distinct days, the expected squared change is:</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Vᵧ(k) = Vₓ(k) + 2q.</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The added term comes from error at both endpoints. It can make short-gap changes large relative to long-gap changes.</a:t>
            </a:r>
          </a:p>
        </p:txBody>
      </p:sp>
      <p:sp>
        <p:nvSpPr>
          <p:cNvPr id="5" name="">
            <a:extLst xmlns:a="http://schemas.openxmlformats.org/drawingml/2006/main">
              <a:ext uri="{FF2B5EF4-FFF2-40B4-BE49-F238E27FC236}">
                <a16:creationId xmlns:a16="http://schemas.microsoft.com/office/drawing/2014/main" id="{FA02A9CF-8592-4074-AA6A-3DAC329011CB}"/>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The formula assumes iid centered errors independent of X. The paper also treats correlated errors.</a:t>
            </a:r>
          </a:p>
        </p:txBody>
      </p:sp>
    </p:spTree>
    <p:extLst>
      <p:ext uri="{BB962C8B-B14F-4D97-AF65-F5344CB8AC3E}">
        <p14:creationId xmlns:p14="http://schemas.microsoft.com/office/powerpoint/2010/main" val="508160053"/>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7BCF182-6BA0-4D53-9805-B8BA1FF842FE}"/>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Optional mathematical appendix</a:t>
            </a:r>
          </a:p>
        </p:txBody>
      </p:sp>
      <p:sp>
        <p:nvSpPr>
          <p:cNvPr id="3" name="">
            <a:extLst xmlns:a="http://schemas.openxmlformats.org/drawingml/2006/main">
              <a:ext uri="{FF2B5EF4-FFF2-40B4-BE49-F238E27FC236}">
                <a16:creationId xmlns:a16="http://schemas.microsoft.com/office/drawing/2014/main" id="{7ADBB588-B025-4C56-BEEF-8E7A428A4725}"/>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47. C. Why the cap can conceal a state difference</a:t>
            </a:r>
          </a:p>
        </p:txBody>
      </p:sp>
      <p:sp>
        <p:nvSpPr>
          <p:cNvPr id="4" name="">
            <a:extLst xmlns:a="http://schemas.openxmlformats.org/drawingml/2006/main">
              <a:ext uri="{FF2B5EF4-FFF2-40B4-BE49-F238E27FC236}">
                <a16:creationId xmlns:a16="http://schemas.microsoft.com/office/drawing/2014/main" id="{D364C89B-6DDB-4165-A9B9-B6BFD950F53A}"/>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Let s be estimated daily variance, A the annualization factor, v the volatility target and c the position cap.</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The uncapped amount is u = v/√(As). The final amount is w = min(c,u), meaning the smaller of c and u.</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If both proposals exceed c, both final amounts equal c even when their variance states differ.</a:t>
            </a:r>
          </a:p>
        </p:txBody>
      </p:sp>
      <p:sp>
        <p:nvSpPr>
          <p:cNvPr id="5" name="">
            <a:extLst xmlns:a="http://schemas.openxmlformats.org/drawingml/2006/main">
              <a:ext uri="{FF2B5EF4-FFF2-40B4-BE49-F238E27FC236}">
                <a16:creationId xmlns:a16="http://schemas.microsoft.com/office/drawing/2014/main" id="{8F17C050-7438-4681-BA25-9FC2DFEDBE88}"/>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The ratio uᴸ/uᴹ = √(sᴹ/sᴸ) removes the common target and annualization factor.</a:t>
            </a:r>
          </a:p>
        </p:txBody>
      </p:sp>
    </p:spTree>
    <p:extLst>
      <p:ext uri="{BB962C8B-B14F-4D97-AF65-F5344CB8AC3E}">
        <p14:creationId xmlns:p14="http://schemas.microsoft.com/office/powerpoint/2010/main" val="1996682683"/>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FE0E33A-A96E-44E6-8224-EB7C02DB4843}"/>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4. Verification and conclusions</a:t>
            </a:r>
          </a:p>
        </p:txBody>
      </p:sp>
      <p:sp>
        <p:nvSpPr>
          <p:cNvPr id="3" name="">
            <a:extLst xmlns:a="http://schemas.openxmlformats.org/drawingml/2006/main">
              <a:ext uri="{FF2B5EF4-FFF2-40B4-BE49-F238E27FC236}">
                <a16:creationId xmlns:a16="http://schemas.microsoft.com/office/drawing/2014/main" id="{C2960C99-31A3-4E67-96EC-240DBD5F5166}"/>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48. How to read the paper after this lecture</a:t>
            </a:r>
          </a:p>
        </p:txBody>
      </p:sp>
      <p:sp>
        <p:nvSpPr>
          <p:cNvPr id="4" name="">
            <a:extLst xmlns:a="http://schemas.openxmlformats.org/drawingml/2006/main">
              <a:ext uri="{FF2B5EF4-FFF2-40B4-BE49-F238E27FC236}">
                <a16:creationId xmlns:a16="http://schemas.microsoft.com/office/drawing/2014/main" id="{88D81331-4B52-4FDF-9B55-EE930A586B55}"/>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Sections 1–2 explain the question and data design. Section 3 defines the measurements and risk rule.</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Sections 4–6 contain simulation and historical findings, including the four-fund follow-up. Sections 7–9 give limits, verification and conclusions.</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Appendices A–C give checks and SPY tables. D derives the mathematics, E explains reproduction, and F gives the complete follow-up counts and slope context.</a:t>
            </a:r>
          </a:p>
        </p:txBody>
      </p:sp>
      <p:sp>
        <p:nvSpPr>
          <p:cNvPr id="5" name="">
            <a:extLst xmlns:a="http://schemas.openxmlformats.org/drawingml/2006/main">
              <a:ext uri="{FF2B5EF4-FFF2-40B4-BE49-F238E27FC236}">
                <a16:creationId xmlns:a16="http://schemas.microsoft.com/office/drawing/2014/main" id="{7A007006-22F7-489A-8193-E188C7EABF18}"/>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The repository supplies code and synthetic examples. Licensed observations remain excluded.</a:t>
            </a:r>
          </a:p>
        </p:txBody>
      </p:sp>
    </p:spTree>
    <p:extLst>
      <p:ext uri="{BB962C8B-B14F-4D97-AF65-F5344CB8AC3E}">
        <p14:creationId xmlns:p14="http://schemas.microsoft.com/office/powerpoint/2010/main" val="1725766942"/>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A4E8145-5125-4A1B-8AAB-4D40CFE7CD54}"/>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4. Verification and conclusions</a:t>
            </a:r>
          </a:p>
        </p:txBody>
      </p:sp>
      <p:sp>
        <p:nvSpPr>
          <p:cNvPr id="3" name="">
            <a:extLst xmlns:a="http://schemas.openxmlformats.org/drawingml/2006/main">
              <a:ext uri="{FF2B5EF4-FFF2-40B4-BE49-F238E27FC236}">
                <a16:creationId xmlns:a16="http://schemas.microsoft.com/office/drawing/2014/main" id="{6AD1EE9A-C2F8-4524-9E00-B24DF88CA57D}"/>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49. Sources behind the study</a:t>
            </a:r>
          </a:p>
        </p:txBody>
      </p:sp>
      <p:sp>
        <p:nvSpPr>
          <p:cNvPr id="4" name="">
            <a:extLst xmlns:a="http://schemas.openxmlformats.org/drawingml/2006/main">
              <a:ext uri="{FF2B5EF4-FFF2-40B4-BE49-F238E27FC236}">
                <a16:creationId xmlns:a16="http://schemas.microsoft.com/office/drawing/2014/main" id="{1BB6A85C-54A6-40C3-A269-A3509FC38007}"/>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The paper cites rough-volatility research, measurement-error research and historical source comparisons.</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Its bibliography gives ten inspected primary references, exact versions and links. The slide notes identify the relevant paper sections and source runs.</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Repository: github.com/MartinValachy/RoughVolatilityResearch</a:t>
            </a:r>
          </a:p>
        </p:txBody>
      </p:sp>
      <p:sp>
        <p:nvSpPr>
          <p:cNvPr id="5" name="">
            <a:extLst xmlns:a="http://schemas.openxmlformats.org/drawingml/2006/main">
              <a:ext uri="{FF2B5EF4-FFF2-40B4-BE49-F238E27FC236}">
                <a16:creationId xmlns:a16="http://schemas.microsoft.com/office/drawing/2014/main" id="{796FD4A9-2EEA-4D87-8F69-5359CCC18415}"/>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AI assistance and open human review are disclosed in the paper.</a:t>
            </a:r>
          </a:p>
        </p:txBody>
      </p:sp>
    </p:spTree>
    <p:extLst>
      <p:ext uri="{BB962C8B-B14F-4D97-AF65-F5344CB8AC3E}">
        <p14:creationId xmlns:p14="http://schemas.microsoft.com/office/powerpoint/2010/main" val="18561858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2026-10-22T17:58:09.4750000Z</dcterms:created>
  <dcterms:modified xsi:type="dcterms:W3CDTF">2026-10-22T17:58:09.4750000Z</dcterms:modified>
</coreProperties>
</file>